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711A-CD70-7B61-C89A-BCA52B982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8665C-EF17-DBBC-37CE-99D1C987F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CE60F-061E-1554-912A-B60C326C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AEAA-9943-BB27-52FB-27ED17F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FE0CF-6760-B8AD-C284-41B57D2F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55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1352-A1D0-F84C-027B-864C3F16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BDB6D-59A8-6314-D8CF-2553021BB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72856-44CC-13AF-962E-EAD436F5F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CC94C-4C07-1D54-7AFD-E3026F9A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BE350-5282-331A-8E54-2D5EA562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909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E0F7-7EA9-982A-B8A6-A41FED8F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1E5C3-41AA-E73A-3AA6-F04976177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2CCC5-D4AB-70BF-4952-5C0E68135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E75F6-EE26-072C-6947-F1BBC1E5A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06CB0-E63F-8CDB-5AE0-D5B7DDD9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6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16699-C529-3EF4-EFC5-21019E45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C512-D9F6-DC0B-0680-6E2943477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447A5-C159-A660-8008-9B0C7DE8E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D30CE-A3B4-E406-B14D-492E191E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B70C0-94D7-9933-5A1D-091E3E1B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244DC-504E-A600-8C6C-208B38A0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93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002F-5B6E-1730-4B4B-4C4EF8E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76AAB-489F-40B9-88F2-4E15D3CF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46DEA-66CA-9438-8181-A9E29041A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0AB36-835F-2EE2-A584-8C85DC19A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DD27C-5828-C13D-C08C-79F6FC696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67D76-908A-BE3D-324D-BAD592387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97BACE-1AFB-7829-1EAD-F2E6D3F3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2AC26-03B3-564E-E09E-20EF1D56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2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E8AC-55DB-1B30-C1ED-AECDE077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2B853-DE03-88E8-A4B8-485BC7C6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1BFCA-483F-E840-763E-472DA0EA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5AC24E-6D6E-C587-D23B-14F5C02F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35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15098-7150-5454-1436-F1325EBC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C47662-E542-4C73-C71F-15283A69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91263-6511-CA43-03DA-373D393E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23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4DDE-724E-E843-0214-68F45D3BC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2E8AD-E8AA-B536-2436-B1CC93AD1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23036-3067-4492-3DE0-F2257B42D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54DB4-4ED9-2371-3202-29AF3B02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608DA-4943-2872-92E9-FCDEB2D2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9B202-9010-510E-ED1D-DD99D233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98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BC96-6239-0FC6-F65E-5CF211A30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94E3F-D4EB-579C-72D2-0DB96264D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AC6FF-0371-0D5C-85B5-925CED66D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D7BCD-75D1-B3FF-9358-A8C8A186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750DC-5E13-574E-27F6-E95160BC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2BF10-75FA-A13D-66B4-128D7C874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08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6F00-282D-3A2A-2AEB-2CBE147D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E7A36-2CA7-77DF-08E4-DA02F08CA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DDEFA-F03D-FD6D-46B4-393525F2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1C262-5815-1C28-1B90-94E58AEA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8DBB0-A9F1-C2E1-9FCF-5B96B8871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76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4C71EF-8E2C-C2E7-1367-0619C90DC3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0A5A5-C5C6-50B4-BC92-977908F20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E6849-54E9-52FA-3E9D-C1A3BD7E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AFA4D-A5F1-04B0-A335-ED7F9A02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EBA4A-B13D-9281-6671-6CE51E9A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810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25A6D1-A3B7-B32C-DF6F-D826E36E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7AA99-5DDF-37BC-0C7A-BE3786044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7E23-7E6E-DDBB-08A3-E44678D34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53754-165A-4E2B-B7BE-B361F23FDB0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BCB02-4011-337F-0BF1-46604533F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F8FBC-338A-1F02-FBE6-0702B5414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D8638-C486-4895-9843-AB1A89CD6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0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2024-C4A1-709C-CF8D-FAF02D700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297" y="2138624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CloudWatch and SNS Service</a:t>
            </a:r>
          </a:p>
        </p:txBody>
      </p:sp>
    </p:spTree>
    <p:extLst>
      <p:ext uri="{BB962C8B-B14F-4D97-AF65-F5344CB8AC3E}">
        <p14:creationId xmlns:p14="http://schemas.microsoft.com/office/powerpoint/2010/main" val="1587790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A9E9-5A23-6EAA-B76E-168F5A2A3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84" y="735291"/>
            <a:ext cx="11265031" cy="4656842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CloudWatch Core Architecture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managed monitoring and observability service for DevOps, IT, and platform engineers.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telemetry data via AWS API endpoints or the unified CloudWatch Agent.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Components: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Time-series data points.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Highly scalable log aggregation and indexing.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Events/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stream of system state changes.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Evaluators watching metric thresholds.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598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A9F9-0A7F-FF4B-0CFA-7227AF121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B8B6-9D9D-6AFD-B2C2-69DE45B93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84" y="735291"/>
            <a:ext cx="11265031" cy="4656842"/>
          </a:xfrm>
        </p:spPr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Dive: CloudWatch Metrics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Time-series data points identified by a name, a namespace, and dimensions.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Mechanics: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Containers for metrics (e.g., AWS/EC2).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Key-value pairs uniquely identifying a metric (e.g.,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InstanceId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=i-12345).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resolution (1-minute periods) vs. High resolution (1-second periods).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points are retained progressively from 15 days (1-sec) to 15 months (1-hour).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754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FB302-A9A6-5DA4-4A56-E468BBDF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73EF4-A4B4-9500-17F6-B6204921E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84" y="386499"/>
            <a:ext cx="11265031" cy="5005634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CloudWatch Alarms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Mechanics: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M out of  N data points in a given period.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States: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OK, ALARM, INSUFFICIENT_DATA.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Thresholds: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(Metric &gt; Threshold).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Uses Machine Learning to analyze historical data.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Generates a statistical band of expected behavior (e.g., Max , Min, Average..)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Triggers when metrics breach upper or lower expected bounds.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020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C58C-5FC3-5475-5E6C-CAC73E6F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D006-303E-51DB-455D-CFFC8A512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216" y="782425"/>
            <a:ext cx="11593398" cy="5005634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SNS Architecture &amp; Foundations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fully managed, highly available Pub/Sub messaging service.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Entities: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Producers/Publishers: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sources that emit messages to a Topic.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Named logical access points and communication channels.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Consumers/Subscribers: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Clients that listen for messages on a Topic.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Messages are synchronously replicated across multiple Availability Zones (AZs).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20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5721C-E550-F36B-BA7A-9F8423AF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80C9-0E59-534D-C5AD-A87B5426F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216" y="782425"/>
            <a:ext cx="11593398" cy="5005634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/>
              <a:t>SNS Topic Types Compared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D9559F-9752-621C-3902-D9FE30884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465234"/>
              </p:ext>
            </p:extLst>
          </p:nvPr>
        </p:nvGraphicFramePr>
        <p:xfrm>
          <a:off x="1871745" y="1954577"/>
          <a:ext cx="89313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237">
                  <a:extLst>
                    <a:ext uri="{9D8B030D-6E8A-4147-A177-3AD203B41FA5}">
                      <a16:colId xmlns:a16="http://schemas.microsoft.com/office/drawing/2014/main" val="1576193568"/>
                    </a:ext>
                  </a:extLst>
                </a:gridCol>
                <a:gridCol w="3449398">
                  <a:extLst>
                    <a:ext uri="{9D8B030D-6E8A-4147-A177-3AD203B41FA5}">
                      <a16:colId xmlns:a16="http://schemas.microsoft.com/office/drawing/2014/main" val="3122074149"/>
                    </a:ext>
                  </a:extLst>
                </a:gridCol>
                <a:gridCol w="3436737">
                  <a:extLst>
                    <a:ext uri="{9D8B030D-6E8A-4147-A177-3AD203B41FA5}">
                      <a16:colId xmlns:a16="http://schemas.microsoft.com/office/drawing/2014/main" val="1106069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Standard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FIFO 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94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Delivery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Best-effort ordering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First-In-First-Out (Strict)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9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Deduplication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None (At-least-once delivery)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Exactly-once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41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Nearly unlimited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 to 300 or 3,000 </a:t>
                      </a:r>
                      <a:r>
                        <a:rPr lang="en-US" dirty="0" err="1"/>
                        <a:t>msgs</a:t>
                      </a:r>
                      <a:r>
                        <a:rPr lang="en-US" dirty="0"/>
                        <a:t>/sec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60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dashboards,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Financial transactions, inventory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01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82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BD6AF-EF5B-7FE1-1862-85922A33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F5FE-F247-68EA-A164-EAD2E4A15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46" y="358219"/>
            <a:ext cx="11593398" cy="6570483"/>
          </a:xfrm>
        </p:spPr>
        <p:txBody>
          <a:bodyPr>
            <a:normAutofit fontScale="90000"/>
          </a:bodyPr>
          <a:lstStyle/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r>
              <a:rPr lang="en-IN" sz="2400" b="1" dirty="0"/>
              <a:t>Advanced SNS Mechanics</a:t>
            </a:r>
            <a:br>
              <a:rPr lang="en-IN" sz="2400" b="1" dirty="0"/>
            </a:br>
            <a:br>
              <a:rPr lang="en-IN" sz="2400" b="1" dirty="0"/>
            </a:br>
            <a:r>
              <a:rPr lang="en-IN" sz="2400" b="1" dirty="0"/>
              <a:t>Message Filtering:</a:t>
            </a:r>
            <a:br>
              <a:rPr lang="en-IN" sz="2400" b="1" dirty="0"/>
            </a:br>
            <a:br>
              <a:rPr lang="en-IN" sz="2400" b="1" dirty="0"/>
            </a:br>
            <a:r>
              <a:rPr lang="en-IN" sz="2400" b="1" dirty="0"/>
              <a:t>	</a:t>
            </a:r>
            <a:r>
              <a:rPr lang="en-IN" sz="2400" dirty="0"/>
              <a:t>Subscribers assign a JSON filter policy to their subscription.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	SNS evaluates policy attributes before routing.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	Prevents subscriber applications from processing irrelevant payload data.</a:t>
            </a:r>
            <a:br>
              <a:rPr lang="en-IN" sz="2400" dirty="0"/>
            </a:br>
            <a:br>
              <a:rPr lang="en-IN" sz="2400" dirty="0"/>
            </a:br>
            <a:r>
              <a:rPr lang="en-IN" sz="2400" b="1" dirty="0"/>
              <a:t>Dead Letter Queues (DLQs):</a:t>
            </a:r>
            <a:br>
              <a:rPr lang="en-IN" sz="2400" b="1" dirty="0"/>
            </a:br>
            <a:br>
              <a:rPr lang="en-IN" sz="2400" dirty="0"/>
            </a:br>
            <a:r>
              <a:rPr lang="en-IN" sz="2400" dirty="0"/>
              <a:t>	Uses Amazon SQS to capture undeliverable messages.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	Prevents message loss during network partitions or downstream target crashes.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926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C9589-18F6-8CDC-37F2-70C956A5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CD1C-A01D-D7D1-CA76-3C8EA81A4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46" y="94269"/>
            <a:ext cx="11593398" cy="6834434"/>
          </a:xfrm>
        </p:spPr>
        <p:txBody>
          <a:bodyPr>
            <a:noAutofit/>
          </a:bodyPr>
          <a:lstStyle/>
          <a:p>
            <a:pPr algn="l"/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Cloudwatch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SNS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Orchestration Flow: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EC2 Instance memory usage hits 92%.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CloudWatch Agent sends high-resolution metric to AWS/EC2.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CloudWatch Alarm evaluates state change over a 3-minute window.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 moves to ALARM state, executing an action target.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 invokes the Amazon SNS Publish API payload.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Fan-Out: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SNS parallelly routes the JSON alert payload to: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AWS Lambda (to execute an auto-remediation script).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SQS Queue (for IT ticketing system injection).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HTTPS Endpoint (Webhook into Slack/PagerDuty).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SMS/Email (to alert on-call DevOps Engineer)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5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713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CloudWatch and SNS Service</vt:lpstr>
      <vt:lpstr>AWS CloudWatch Core Architecture  Definition: A managed monitoring and observability service for DevOps, IT, and platform engineers.  Data Ingestion: Collects telemetry data via AWS API endpoints or the unified CloudWatch Agent.  Core Components:  Metrics: Time-series data points.  Logs: Highly scalable log aggregation and indexing.  Events/EventBridge: Real-time stream of system state changes.  Alarms: Evaluators watching metric thresholds. </vt:lpstr>
      <vt:lpstr>Deep Dive: CloudWatch Metrics  Data Structure: Time-series data points identified by a name, a namespace, and dimensions.  Key Mechanics:   Namespaces: Containers for metrics (e.g., AWS/EC2).   Dimensions: Key-value pairs uniquely identifying a metric (e.g., InstanceId=i-12345).   Resolution: Standard resolution (1-minute periods) vs. High resolution (1-second periods).   Retention: Data points are retained progressively from 15 days (1-sec) to 15 months (1-hour). </vt:lpstr>
      <vt:lpstr>CloudWatch Alarms  Evaluation Mechanics: Evaluates M out of  N data points in a given period.  Alarm States: OK, ALARM, INSUFFICIENT_DATA.  Static Thresholds: (Metric &gt; Threshold).  Anomaly Detection:   Uses Machine Learning to analyze historical data.   Generates a statistical band of expected behavior (e.g., Max , Min, Average..)   Triggers when metrics breach upper or lower expected bounds. </vt:lpstr>
      <vt:lpstr>AWS SNS Architecture &amp; Foundations  Definition: A fully managed, highly available Pub/Sub messaging service.  Logical Entities:   Producers/Publishers: Event sources that emit messages to a Topic.   Topics: Named logical access points and communication channels.   Consumers/Subscribers: Clients that listen for messages on a Topic.   Reliability: Messages are synchronously replicated across multiple Availability Zones (AZs). </vt:lpstr>
      <vt:lpstr>SNS Topic Types Compared             </vt:lpstr>
      <vt:lpstr>                                 Advanced SNS Mechanics  Message Filtering:   Subscribers assign a JSON filter policy to their subscription.   SNS evaluates policy attributes before routing.   Prevents subscriber applications from processing irrelevant payload data.  Dead Letter Queues (DLQs):   Uses Amazon SQS to capture undeliverable messages.   Prevents message loss during network partitions or downstream target crashes.   </vt:lpstr>
      <vt:lpstr>               Use Case: Cloudwatch and SNS  Step-by-Step Orchestration Flow:  Emit: EC2 Instance memory usage hits 92%.  Collect: CloudWatch Agent sends high-resolution metric to AWS/EC2.  Evaluate: CloudWatch Alarm evaluates state change over a 3-minute window.  Trigger: Alarm moves to ALARM state, executing an action target.  Publish: Alarm invokes the Amazon SNS Publish API payload.  Fan-Out: SNS parallelly routes the JSON alert payload to:    AWS Lambda (to execute an auto-remediation script).    SQS Queue (for IT ticketing system injection).    HTTPS Endpoint (Webhook into Slack/PagerDuty).    SMS/Email (to alert on-call DevOps Engineer)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Rana</dc:creator>
  <cp:lastModifiedBy>Sandeep Rana</cp:lastModifiedBy>
  <cp:revision>2</cp:revision>
  <dcterms:created xsi:type="dcterms:W3CDTF">2026-05-13T11:00:18Z</dcterms:created>
  <dcterms:modified xsi:type="dcterms:W3CDTF">2026-05-14T08:57:14Z</dcterms:modified>
</cp:coreProperties>
</file>