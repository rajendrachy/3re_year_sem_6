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slideLayout" Target="../slideLayouts/slideLayout1.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A2332"/>
          </a:solidFill>
          <a:ln/>
        </p:spPr>
      </p:sp>
      <p:sp>
        <p:nvSpPr>
          <p:cNvPr id="3" name="Shape 1"/>
          <p:cNvSpPr/>
          <p:nvPr/>
        </p:nvSpPr>
        <p:spPr>
          <a:xfrm>
            <a:off x="3840480" y="0"/>
            <a:ext cx="73152" cy="5143500"/>
          </a:xfrm>
          <a:prstGeom prst="rect">
            <a:avLst/>
          </a:prstGeom>
          <a:solidFill>
            <a:srgbClr val="FF9900"/>
          </a:solidFill>
          <a:ln/>
        </p:spPr>
      </p:sp>
      <p:pic>
        <p:nvPicPr>
          <p:cNvPr id="4" name="Image 0" descr="preencoded.png">    </p:cNvPr>
          <p:cNvPicPr>
            <a:picLocks noChangeAspect="1"/>
          </p:cNvPicPr>
          <p:nvPr/>
        </p:nvPicPr>
        <p:blipFill>
          <a:blip r:embed="rId1"/>
          <a:stretch>
            <a:fillRect/>
          </a:stretch>
        </p:blipFill>
        <p:spPr>
          <a:xfrm>
            <a:off x="548640" y="457200"/>
            <a:ext cx="1828800" cy="1828800"/>
          </a:xfrm>
          <a:prstGeom prst="rect">
            <a:avLst/>
          </a:prstGeom>
        </p:spPr>
      </p:pic>
      <p:sp>
        <p:nvSpPr>
          <p:cNvPr id="5" name="Shape 2"/>
          <p:cNvSpPr/>
          <p:nvPr/>
        </p:nvSpPr>
        <p:spPr>
          <a:xfrm>
            <a:off x="4572000" y="548640"/>
            <a:ext cx="1645920" cy="1371600"/>
          </a:xfrm>
          <a:prstGeom prst="roundRect">
            <a:avLst>
              <a:gd name="adj" fmla="val 8000"/>
            </a:avLst>
          </a:prstGeom>
          <a:solidFill>
            <a:srgbClr val="2A3F55">
              <a:alpha val="80000"/>
            </a:srgbClr>
          </a:solidFill>
          <a:ln/>
        </p:spPr>
      </p:sp>
      <p:pic>
        <p:nvPicPr>
          <p:cNvPr id="6" name="Image 1" descr="preencoded.png">    </p:cNvPr>
          <p:cNvPicPr>
            <a:picLocks noChangeAspect="1"/>
          </p:cNvPicPr>
          <p:nvPr/>
        </p:nvPicPr>
        <p:blipFill>
          <a:blip r:embed="rId2"/>
          <a:stretch>
            <a:fillRect/>
          </a:stretch>
        </p:blipFill>
        <p:spPr>
          <a:xfrm>
            <a:off x="5166360" y="713232"/>
            <a:ext cx="457200" cy="457200"/>
          </a:xfrm>
          <a:prstGeom prst="rect">
            <a:avLst/>
          </a:prstGeom>
        </p:spPr>
      </p:pic>
      <p:sp>
        <p:nvSpPr>
          <p:cNvPr id="7" name="Text 3"/>
          <p:cNvSpPr/>
          <p:nvPr/>
        </p:nvSpPr>
        <p:spPr>
          <a:xfrm>
            <a:off x="4572000" y="1325880"/>
            <a:ext cx="1645920" cy="365760"/>
          </a:xfrm>
          <a:prstGeom prst="rect">
            <a:avLst/>
          </a:prstGeom>
          <a:noFill/>
          <a:ln/>
        </p:spPr>
        <p:txBody>
          <a:bodyPr wrap="square"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Compute</a:t>
            </a:r>
            <a:endParaRPr lang="en-US" sz="1100" dirty="0"/>
          </a:p>
        </p:txBody>
      </p:sp>
      <p:sp>
        <p:nvSpPr>
          <p:cNvPr id="8" name="Shape 4"/>
          <p:cNvSpPr/>
          <p:nvPr/>
        </p:nvSpPr>
        <p:spPr>
          <a:xfrm>
            <a:off x="6675120" y="548640"/>
            <a:ext cx="1645920" cy="1371600"/>
          </a:xfrm>
          <a:prstGeom prst="roundRect">
            <a:avLst>
              <a:gd name="adj" fmla="val 8000"/>
            </a:avLst>
          </a:prstGeom>
          <a:solidFill>
            <a:srgbClr val="2A3F55">
              <a:alpha val="80000"/>
            </a:srgbClr>
          </a:solidFill>
          <a:ln/>
        </p:spPr>
      </p:sp>
      <p:pic>
        <p:nvPicPr>
          <p:cNvPr id="9" name="Image 2" descr="preencoded.png">    </p:cNvPr>
          <p:cNvPicPr>
            <a:picLocks noChangeAspect="1"/>
          </p:cNvPicPr>
          <p:nvPr/>
        </p:nvPicPr>
        <p:blipFill>
          <a:blip r:embed="rId3"/>
          <a:stretch>
            <a:fillRect/>
          </a:stretch>
        </p:blipFill>
        <p:spPr>
          <a:xfrm>
            <a:off x="7269480" y="713232"/>
            <a:ext cx="457200" cy="457200"/>
          </a:xfrm>
          <a:prstGeom prst="rect">
            <a:avLst/>
          </a:prstGeom>
        </p:spPr>
      </p:pic>
      <p:sp>
        <p:nvSpPr>
          <p:cNvPr id="10" name="Text 5"/>
          <p:cNvSpPr/>
          <p:nvPr/>
        </p:nvSpPr>
        <p:spPr>
          <a:xfrm>
            <a:off x="6675120" y="1325880"/>
            <a:ext cx="1645920" cy="365760"/>
          </a:xfrm>
          <a:prstGeom prst="rect">
            <a:avLst/>
          </a:prstGeom>
          <a:noFill/>
          <a:ln/>
        </p:spPr>
        <p:txBody>
          <a:bodyPr wrap="square"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Secure</a:t>
            </a:r>
            <a:endParaRPr lang="en-US" sz="1100" dirty="0"/>
          </a:p>
        </p:txBody>
      </p:sp>
      <p:sp>
        <p:nvSpPr>
          <p:cNvPr id="11" name="Shape 6"/>
          <p:cNvSpPr/>
          <p:nvPr/>
        </p:nvSpPr>
        <p:spPr>
          <a:xfrm>
            <a:off x="4572000" y="2286000"/>
            <a:ext cx="1645920" cy="1371600"/>
          </a:xfrm>
          <a:prstGeom prst="roundRect">
            <a:avLst>
              <a:gd name="adj" fmla="val 8000"/>
            </a:avLst>
          </a:prstGeom>
          <a:solidFill>
            <a:srgbClr val="2A3F55">
              <a:alpha val="80000"/>
            </a:srgbClr>
          </a:solidFill>
          <a:ln/>
        </p:spPr>
      </p:sp>
      <p:pic>
        <p:nvPicPr>
          <p:cNvPr id="12" name="Image 3" descr="preencoded.png">    </p:cNvPr>
          <p:cNvPicPr>
            <a:picLocks noChangeAspect="1"/>
          </p:cNvPicPr>
          <p:nvPr/>
        </p:nvPicPr>
        <p:blipFill>
          <a:blip r:embed="rId4"/>
          <a:stretch>
            <a:fillRect/>
          </a:stretch>
        </p:blipFill>
        <p:spPr>
          <a:xfrm>
            <a:off x="5166360" y="2450592"/>
            <a:ext cx="457200" cy="457200"/>
          </a:xfrm>
          <a:prstGeom prst="rect">
            <a:avLst/>
          </a:prstGeom>
        </p:spPr>
      </p:pic>
      <p:sp>
        <p:nvSpPr>
          <p:cNvPr id="13" name="Text 7"/>
          <p:cNvSpPr/>
          <p:nvPr/>
        </p:nvSpPr>
        <p:spPr>
          <a:xfrm>
            <a:off x="4572000" y="3063240"/>
            <a:ext cx="1645920" cy="365760"/>
          </a:xfrm>
          <a:prstGeom prst="rect">
            <a:avLst/>
          </a:prstGeom>
          <a:noFill/>
          <a:ln/>
        </p:spPr>
        <p:txBody>
          <a:bodyPr wrap="square"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Scalable</a:t>
            </a:r>
            <a:endParaRPr lang="en-US" sz="1100" dirty="0"/>
          </a:p>
        </p:txBody>
      </p:sp>
      <p:sp>
        <p:nvSpPr>
          <p:cNvPr id="14" name="Shape 8"/>
          <p:cNvSpPr/>
          <p:nvPr/>
        </p:nvSpPr>
        <p:spPr>
          <a:xfrm>
            <a:off x="6675120" y="2286000"/>
            <a:ext cx="1645920" cy="1371600"/>
          </a:xfrm>
          <a:prstGeom prst="roundRect">
            <a:avLst>
              <a:gd name="adj" fmla="val 8000"/>
            </a:avLst>
          </a:prstGeom>
          <a:solidFill>
            <a:srgbClr val="2A3F55">
              <a:alpha val="80000"/>
            </a:srgbClr>
          </a:solidFill>
          <a:ln/>
        </p:spPr>
      </p:sp>
      <p:pic>
        <p:nvPicPr>
          <p:cNvPr id="15" name="Image 4" descr="preencoded.png">    </p:cNvPr>
          <p:cNvPicPr>
            <a:picLocks noChangeAspect="1"/>
          </p:cNvPicPr>
          <p:nvPr/>
        </p:nvPicPr>
        <p:blipFill>
          <a:blip r:embed="rId5"/>
          <a:stretch>
            <a:fillRect/>
          </a:stretch>
        </p:blipFill>
        <p:spPr>
          <a:xfrm>
            <a:off x="7269480" y="2450592"/>
            <a:ext cx="457200" cy="457200"/>
          </a:xfrm>
          <a:prstGeom prst="rect">
            <a:avLst/>
          </a:prstGeom>
        </p:spPr>
      </p:pic>
      <p:sp>
        <p:nvSpPr>
          <p:cNvPr id="16" name="Text 9"/>
          <p:cNvSpPr/>
          <p:nvPr/>
        </p:nvSpPr>
        <p:spPr>
          <a:xfrm>
            <a:off x="6675120" y="3063240"/>
            <a:ext cx="1645920" cy="365760"/>
          </a:xfrm>
          <a:prstGeom prst="rect">
            <a:avLst/>
          </a:prstGeom>
          <a:noFill/>
          <a:ln/>
        </p:spPr>
        <p:txBody>
          <a:bodyPr wrap="square"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Monitor</a:t>
            </a:r>
            <a:endParaRPr lang="en-US" sz="1100" dirty="0"/>
          </a:p>
        </p:txBody>
      </p:sp>
      <p:sp>
        <p:nvSpPr>
          <p:cNvPr id="17" name="Text 10"/>
          <p:cNvSpPr/>
          <p:nvPr/>
        </p:nvSpPr>
        <p:spPr>
          <a:xfrm>
            <a:off x="365760" y="2560320"/>
            <a:ext cx="3291840" cy="640080"/>
          </a:xfrm>
          <a:prstGeom prst="rect">
            <a:avLst/>
          </a:prstGeom>
          <a:noFill/>
          <a:ln/>
        </p:spPr>
        <p:txBody>
          <a:bodyPr wrap="square" rtlCol="0" anchor="ctr"/>
          <a:lstStyle/>
          <a:p>
            <a:pPr algn="ctr" indent="0" marL="0">
              <a:buNone/>
            </a:pPr>
            <a:r>
              <a:rPr lang="en-US" sz="3200" b="1" dirty="0">
                <a:solidFill>
                  <a:srgbClr val="FF9900"/>
                </a:solidFill>
                <a:latin typeface="Calibri" pitchFamily="34" charset="0"/>
                <a:ea typeface="Calibri" pitchFamily="34" charset="-122"/>
                <a:cs typeface="Calibri" pitchFamily="34" charset="-120"/>
              </a:rPr>
              <a:t>Amazon EC2</a:t>
            </a:r>
            <a:endParaRPr lang="en-US" sz="3200" dirty="0"/>
          </a:p>
        </p:txBody>
      </p:sp>
      <p:sp>
        <p:nvSpPr>
          <p:cNvPr id="18" name="Text 11"/>
          <p:cNvSpPr/>
          <p:nvPr/>
        </p:nvSpPr>
        <p:spPr>
          <a:xfrm>
            <a:off x="365760" y="3154680"/>
            <a:ext cx="329184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Elastic Compute Cloud</a:t>
            </a:r>
            <a:endParaRPr lang="en-US" sz="1600" dirty="0"/>
          </a:p>
        </p:txBody>
      </p:sp>
      <p:sp>
        <p:nvSpPr>
          <p:cNvPr id="19" name="Text 12"/>
          <p:cNvSpPr/>
          <p:nvPr/>
        </p:nvSpPr>
        <p:spPr>
          <a:xfrm>
            <a:off x="365760" y="3566160"/>
            <a:ext cx="3291840" cy="365760"/>
          </a:xfrm>
          <a:prstGeom prst="rect">
            <a:avLst/>
          </a:prstGeom>
          <a:noFill/>
          <a:ln/>
        </p:spPr>
        <p:txBody>
          <a:bodyPr wrap="square" rtlCol="0" anchor="ctr"/>
          <a:lstStyle/>
          <a:p>
            <a:pPr algn="ctr" indent="0" marL="0">
              <a:buNone/>
            </a:pPr>
            <a:r>
              <a:rPr lang="en-US" sz="1300" i="1" dirty="0">
                <a:solidFill>
                  <a:srgbClr val="8A9BB0"/>
                </a:solidFill>
                <a:latin typeface="Calibri" pitchFamily="34" charset="0"/>
                <a:ea typeface="Calibri" pitchFamily="34" charset="-122"/>
                <a:cs typeface="Calibri" pitchFamily="34" charset="-120"/>
              </a:rPr>
              <a:t>Complete Training Guide</a:t>
            </a:r>
            <a:endParaRPr lang="en-US" sz="1300" dirty="0"/>
          </a:p>
        </p:txBody>
      </p:sp>
      <p:sp>
        <p:nvSpPr>
          <p:cNvPr id="20" name="Shape 13"/>
          <p:cNvSpPr/>
          <p:nvPr/>
        </p:nvSpPr>
        <p:spPr>
          <a:xfrm>
            <a:off x="0" y="4754880"/>
            <a:ext cx="9144000" cy="388620"/>
          </a:xfrm>
          <a:prstGeom prst="rect">
            <a:avLst/>
          </a:prstGeom>
          <a:solidFill>
            <a:srgbClr val="FF9900"/>
          </a:solidFill>
          <a:ln/>
        </p:spPr>
      </p:sp>
      <p:sp>
        <p:nvSpPr>
          <p:cNvPr id="21" name="Text 14"/>
          <p:cNvSpPr/>
          <p:nvPr/>
        </p:nvSpPr>
        <p:spPr>
          <a:xfrm>
            <a:off x="274320" y="4773168"/>
            <a:ext cx="8595360" cy="347472"/>
          </a:xfrm>
          <a:prstGeom prst="rect">
            <a:avLst/>
          </a:prstGeom>
          <a:noFill/>
          <a:ln/>
        </p:spPr>
        <p:txBody>
          <a:bodyPr wrap="square" rtlCol="0" anchor="ctr"/>
          <a:lstStyle/>
          <a:p>
            <a:pPr algn="ctr" indent="0" marL="0">
              <a:buNone/>
            </a:pPr>
            <a:r>
              <a:rPr lang="en-US" sz="1200" b="1" dirty="0">
                <a:solidFill>
                  <a:srgbClr val="232F3E"/>
                </a:solidFill>
                <a:latin typeface="Calibri" pitchFamily="34" charset="0"/>
                <a:ea typeface="Calibri" pitchFamily="34" charset="-122"/>
                <a:cs typeface="Calibri" pitchFamily="34" charset="-120"/>
              </a:rPr>
              <a:t>Amazon Web Services  |  Elastic Compute Cloud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32F3E"/>
          </a:solidFill>
          <a:ln/>
        </p:spPr>
      </p:sp>
      <p:pic>
        <p:nvPicPr>
          <p:cNvPr id="3" name="Image 0" descr="preencoded.png">    </p:cNvPr>
          <p:cNvPicPr>
            <a:picLocks noChangeAspect="1"/>
          </p:cNvPicPr>
          <p:nvPr/>
        </p:nvPicPr>
        <p:blipFill>
          <a:blip r:embed="rId1"/>
          <a:stretch>
            <a:fillRect/>
          </a:stretch>
        </p:blipFill>
        <p:spPr>
          <a:xfrm>
            <a:off x="182880" y="91440"/>
            <a:ext cx="685800" cy="685800"/>
          </a:xfrm>
          <a:prstGeom prst="rect">
            <a:avLst/>
          </a:prstGeom>
        </p:spPr>
      </p:pic>
      <p:sp>
        <p:nvSpPr>
          <p:cNvPr id="4" name="Text 1"/>
          <p:cNvSpPr/>
          <p:nvPr/>
        </p:nvSpPr>
        <p:spPr>
          <a:xfrm>
            <a:off x="1005840" y="91440"/>
            <a:ext cx="777240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5" name="Shape 2"/>
          <p:cNvSpPr/>
          <p:nvPr/>
        </p:nvSpPr>
        <p:spPr>
          <a:xfrm>
            <a:off x="274320" y="109728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6" name="Shape 3"/>
          <p:cNvSpPr/>
          <p:nvPr/>
        </p:nvSpPr>
        <p:spPr>
          <a:xfrm>
            <a:off x="274320" y="1097280"/>
            <a:ext cx="54864" cy="804672"/>
          </a:xfrm>
          <a:prstGeom prst="rect">
            <a:avLst/>
          </a:prstGeom>
          <a:solidFill>
            <a:srgbClr val="FF9900"/>
          </a:solidFill>
          <a:ln/>
        </p:spPr>
      </p:sp>
      <p:sp>
        <p:nvSpPr>
          <p:cNvPr id="7" name="Text 4"/>
          <p:cNvSpPr/>
          <p:nvPr/>
        </p:nvSpPr>
        <p:spPr>
          <a:xfrm>
            <a:off x="411480" y="117043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01</a:t>
            </a:r>
            <a:endParaRPr lang="en-US" sz="2200" dirty="0"/>
          </a:p>
        </p:txBody>
      </p:sp>
      <p:pic>
        <p:nvPicPr>
          <p:cNvPr id="8" name="Image 1" descr="preencoded.png">    </p:cNvPr>
          <p:cNvPicPr>
            <a:picLocks noChangeAspect="1"/>
          </p:cNvPicPr>
          <p:nvPr/>
        </p:nvPicPr>
        <p:blipFill>
          <a:blip r:embed="rId2"/>
          <a:stretch>
            <a:fillRect/>
          </a:stretch>
        </p:blipFill>
        <p:spPr>
          <a:xfrm>
            <a:off x="932688" y="1271016"/>
            <a:ext cx="365760" cy="365760"/>
          </a:xfrm>
          <a:prstGeom prst="rect">
            <a:avLst/>
          </a:prstGeom>
        </p:spPr>
      </p:pic>
      <p:sp>
        <p:nvSpPr>
          <p:cNvPr id="9" name="Text 5"/>
          <p:cNvSpPr/>
          <p:nvPr/>
        </p:nvSpPr>
        <p:spPr>
          <a:xfrm>
            <a:off x="1371600" y="117043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Introduction to EC2</a:t>
            </a:r>
            <a:endParaRPr lang="en-US" sz="1300" dirty="0"/>
          </a:p>
        </p:txBody>
      </p:sp>
      <p:sp>
        <p:nvSpPr>
          <p:cNvPr id="10" name="Text 6"/>
          <p:cNvSpPr/>
          <p:nvPr/>
        </p:nvSpPr>
        <p:spPr>
          <a:xfrm>
            <a:off x="1371600" y="149961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What is EC2, key features and benefits</a:t>
            </a:r>
            <a:endParaRPr lang="en-US" sz="1000" dirty="0"/>
          </a:p>
        </p:txBody>
      </p:sp>
      <p:sp>
        <p:nvSpPr>
          <p:cNvPr id="11" name="Shape 7"/>
          <p:cNvSpPr/>
          <p:nvPr/>
        </p:nvSpPr>
        <p:spPr>
          <a:xfrm>
            <a:off x="274320" y="205740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2" name="Shape 8"/>
          <p:cNvSpPr/>
          <p:nvPr/>
        </p:nvSpPr>
        <p:spPr>
          <a:xfrm>
            <a:off x="274320" y="2057400"/>
            <a:ext cx="54864" cy="804672"/>
          </a:xfrm>
          <a:prstGeom prst="rect">
            <a:avLst/>
          </a:prstGeom>
          <a:solidFill>
            <a:srgbClr val="FF9900"/>
          </a:solidFill>
          <a:ln/>
        </p:spPr>
      </p:sp>
      <p:sp>
        <p:nvSpPr>
          <p:cNvPr id="13" name="Text 9"/>
          <p:cNvSpPr/>
          <p:nvPr/>
        </p:nvSpPr>
        <p:spPr>
          <a:xfrm>
            <a:off x="411480" y="213055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02</a:t>
            </a:r>
            <a:endParaRPr lang="en-US" sz="2200" dirty="0"/>
          </a:p>
        </p:txBody>
      </p:sp>
      <p:pic>
        <p:nvPicPr>
          <p:cNvPr id="14" name="Image 2" descr="preencoded.png">    </p:cNvPr>
          <p:cNvPicPr>
            <a:picLocks noChangeAspect="1"/>
          </p:cNvPicPr>
          <p:nvPr/>
        </p:nvPicPr>
        <p:blipFill>
          <a:blip r:embed="rId3"/>
          <a:stretch>
            <a:fillRect/>
          </a:stretch>
        </p:blipFill>
        <p:spPr>
          <a:xfrm>
            <a:off x="932688" y="2231136"/>
            <a:ext cx="365760" cy="365760"/>
          </a:xfrm>
          <a:prstGeom prst="rect">
            <a:avLst/>
          </a:prstGeom>
        </p:spPr>
      </p:pic>
      <p:sp>
        <p:nvSpPr>
          <p:cNvPr id="15" name="Text 10"/>
          <p:cNvSpPr/>
          <p:nvPr/>
        </p:nvSpPr>
        <p:spPr>
          <a:xfrm>
            <a:off x="1371600" y="213055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Core Terminologies</a:t>
            </a:r>
            <a:endParaRPr lang="en-US" sz="1300" dirty="0"/>
          </a:p>
        </p:txBody>
      </p:sp>
      <p:sp>
        <p:nvSpPr>
          <p:cNvPr id="16" name="Text 11"/>
          <p:cNvSpPr/>
          <p:nvPr/>
        </p:nvSpPr>
        <p:spPr>
          <a:xfrm>
            <a:off x="1371600" y="245973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Instance, AMI, KeyPair, SG, VPC, EBS, Elastic IP</a:t>
            </a:r>
            <a:endParaRPr lang="en-US" sz="1000" dirty="0"/>
          </a:p>
        </p:txBody>
      </p:sp>
      <p:sp>
        <p:nvSpPr>
          <p:cNvPr id="17" name="Shape 12"/>
          <p:cNvSpPr/>
          <p:nvPr/>
        </p:nvSpPr>
        <p:spPr>
          <a:xfrm>
            <a:off x="274320" y="301752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8" name="Shape 13"/>
          <p:cNvSpPr/>
          <p:nvPr/>
        </p:nvSpPr>
        <p:spPr>
          <a:xfrm>
            <a:off x="274320" y="3017520"/>
            <a:ext cx="54864" cy="804672"/>
          </a:xfrm>
          <a:prstGeom prst="rect">
            <a:avLst/>
          </a:prstGeom>
          <a:solidFill>
            <a:srgbClr val="FF9900"/>
          </a:solidFill>
          <a:ln/>
        </p:spPr>
      </p:sp>
      <p:sp>
        <p:nvSpPr>
          <p:cNvPr id="19" name="Text 14"/>
          <p:cNvSpPr/>
          <p:nvPr/>
        </p:nvSpPr>
        <p:spPr>
          <a:xfrm>
            <a:off x="411480" y="309067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03</a:t>
            </a:r>
            <a:endParaRPr lang="en-US" sz="2200" dirty="0"/>
          </a:p>
        </p:txBody>
      </p:sp>
      <p:pic>
        <p:nvPicPr>
          <p:cNvPr id="20" name="Image 3" descr="preencoded.png">    </p:cNvPr>
          <p:cNvPicPr>
            <a:picLocks noChangeAspect="1"/>
          </p:cNvPicPr>
          <p:nvPr/>
        </p:nvPicPr>
        <p:blipFill>
          <a:blip r:embed="rId4"/>
          <a:stretch>
            <a:fillRect/>
          </a:stretch>
        </p:blipFill>
        <p:spPr>
          <a:xfrm>
            <a:off x="932688" y="3191256"/>
            <a:ext cx="365760" cy="365760"/>
          </a:xfrm>
          <a:prstGeom prst="rect">
            <a:avLst/>
          </a:prstGeom>
        </p:spPr>
      </p:pic>
      <p:sp>
        <p:nvSpPr>
          <p:cNvPr id="21" name="Text 15"/>
          <p:cNvSpPr/>
          <p:nvPr/>
        </p:nvSpPr>
        <p:spPr>
          <a:xfrm>
            <a:off x="1371600" y="309067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Instance Types</a:t>
            </a:r>
            <a:endParaRPr lang="en-US" sz="1300" dirty="0"/>
          </a:p>
        </p:txBody>
      </p:sp>
      <p:sp>
        <p:nvSpPr>
          <p:cNvPr id="22" name="Text 16"/>
          <p:cNvSpPr/>
          <p:nvPr/>
        </p:nvSpPr>
        <p:spPr>
          <a:xfrm>
            <a:off x="1371600" y="341985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General, Compute, Memory, Storage, GPU instances</a:t>
            </a:r>
            <a:endParaRPr lang="en-US" sz="1000" dirty="0"/>
          </a:p>
        </p:txBody>
      </p:sp>
      <p:sp>
        <p:nvSpPr>
          <p:cNvPr id="23" name="Shape 17"/>
          <p:cNvSpPr/>
          <p:nvPr/>
        </p:nvSpPr>
        <p:spPr>
          <a:xfrm>
            <a:off x="274320" y="397764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4" name="Shape 18"/>
          <p:cNvSpPr/>
          <p:nvPr/>
        </p:nvSpPr>
        <p:spPr>
          <a:xfrm>
            <a:off x="274320" y="3977640"/>
            <a:ext cx="54864" cy="804672"/>
          </a:xfrm>
          <a:prstGeom prst="rect">
            <a:avLst/>
          </a:prstGeom>
          <a:solidFill>
            <a:srgbClr val="FF9900"/>
          </a:solidFill>
          <a:ln/>
        </p:spPr>
      </p:sp>
      <p:sp>
        <p:nvSpPr>
          <p:cNvPr id="25" name="Text 19"/>
          <p:cNvSpPr/>
          <p:nvPr/>
        </p:nvSpPr>
        <p:spPr>
          <a:xfrm>
            <a:off x="411480" y="405079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04</a:t>
            </a:r>
            <a:endParaRPr lang="en-US" sz="2200" dirty="0"/>
          </a:p>
        </p:txBody>
      </p:sp>
      <p:pic>
        <p:nvPicPr>
          <p:cNvPr id="26" name="Image 4" descr="preencoded.png">    </p:cNvPr>
          <p:cNvPicPr>
            <a:picLocks noChangeAspect="1"/>
          </p:cNvPicPr>
          <p:nvPr/>
        </p:nvPicPr>
        <p:blipFill>
          <a:blip r:embed="rId5"/>
          <a:stretch>
            <a:fillRect/>
          </a:stretch>
        </p:blipFill>
        <p:spPr>
          <a:xfrm>
            <a:off x="932688" y="4151376"/>
            <a:ext cx="365760" cy="365760"/>
          </a:xfrm>
          <a:prstGeom prst="rect">
            <a:avLst/>
          </a:prstGeom>
        </p:spPr>
      </p:pic>
      <p:sp>
        <p:nvSpPr>
          <p:cNvPr id="27" name="Text 20"/>
          <p:cNvSpPr/>
          <p:nvPr/>
        </p:nvSpPr>
        <p:spPr>
          <a:xfrm>
            <a:off x="1371600" y="405079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EC2 Pricing Models</a:t>
            </a:r>
            <a:endParaRPr lang="en-US" sz="1300" dirty="0"/>
          </a:p>
        </p:txBody>
      </p:sp>
      <p:sp>
        <p:nvSpPr>
          <p:cNvPr id="28" name="Text 21"/>
          <p:cNvSpPr/>
          <p:nvPr/>
        </p:nvSpPr>
        <p:spPr>
          <a:xfrm>
            <a:off x="1371600" y="437997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On-Demand, Reserved, Spot, Dedicated</a:t>
            </a:r>
            <a:endParaRPr lang="en-US" sz="1000" dirty="0"/>
          </a:p>
        </p:txBody>
      </p:sp>
      <p:sp>
        <p:nvSpPr>
          <p:cNvPr id="29" name="Shape 22"/>
          <p:cNvSpPr/>
          <p:nvPr/>
        </p:nvSpPr>
        <p:spPr>
          <a:xfrm>
            <a:off x="4754880" y="109728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0" name="Shape 23"/>
          <p:cNvSpPr/>
          <p:nvPr/>
        </p:nvSpPr>
        <p:spPr>
          <a:xfrm>
            <a:off x="4754880" y="1097280"/>
            <a:ext cx="54864" cy="804672"/>
          </a:xfrm>
          <a:prstGeom prst="rect">
            <a:avLst/>
          </a:prstGeom>
          <a:solidFill>
            <a:srgbClr val="FF9900"/>
          </a:solidFill>
          <a:ln/>
        </p:spPr>
      </p:sp>
      <p:sp>
        <p:nvSpPr>
          <p:cNvPr id="31" name="Text 24"/>
          <p:cNvSpPr/>
          <p:nvPr/>
        </p:nvSpPr>
        <p:spPr>
          <a:xfrm>
            <a:off x="4892040" y="117043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05</a:t>
            </a:r>
            <a:endParaRPr lang="en-US" sz="2200" dirty="0"/>
          </a:p>
        </p:txBody>
      </p:sp>
      <p:pic>
        <p:nvPicPr>
          <p:cNvPr id="32" name="Image 5" descr="preencoded.png">    </p:cNvPr>
          <p:cNvPicPr>
            <a:picLocks noChangeAspect="1"/>
          </p:cNvPicPr>
          <p:nvPr/>
        </p:nvPicPr>
        <p:blipFill>
          <a:blip r:embed="rId6"/>
          <a:stretch>
            <a:fillRect/>
          </a:stretch>
        </p:blipFill>
        <p:spPr>
          <a:xfrm>
            <a:off x="5413248" y="1271016"/>
            <a:ext cx="365760" cy="365760"/>
          </a:xfrm>
          <a:prstGeom prst="rect">
            <a:avLst/>
          </a:prstGeom>
        </p:spPr>
      </p:pic>
      <p:sp>
        <p:nvSpPr>
          <p:cNvPr id="33" name="Text 25"/>
          <p:cNvSpPr/>
          <p:nvPr/>
        </p:nvSpPr>
        <p:spPr>
          <a:xfrm>
            <a:off x="5852160" y="117043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LAB: Linux Instance + SSH</a:t>
            </a:r>
            <a:endParaRPr lang="en-US" sz="1300" dirty="0"/>
          </a:p>
        </p:txBody>
      </p:sp>
      <p:sp>
        <p:nvSpPr>
          <p:cNvPr id="34" name="Text 26"/>
          <p:cNvSpPr/>
          <p:nvPr/>
        </p:nvSpPr>
        <p:spPr>
          <a:xfrm>
            <a:off x="5852160" y="149961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Launch &amp; connect to Linux EC2 via SSH</a:t>
            </a:r>
            <a:endParaRPr lang="en-US" sz="1000" dirty="0"/>
          </a:p>
        </p:txBody>
      </p:sp>
      <p:sp>
        <p:nvSpPr>
          <p:cNvPr id="35" name="Shape 27"/>
          <p:cNvSpPr/>
          <p:nvPr/>
        </p:nvSpPr>
        <p:spPr>
          <a:xfrm>
            <a:off x="4754880" y="205740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6" name="Shape 28"/>
          <p:cNvSpPr/>
          <p:nvPr/>
        </p:nvSpPr>
        <p:spPr>
          <a:xfrm>
            <a:off x="4754880" y="2057400"/>
            <a:ext cx="54864" cy="804672"/>
          </a:xfrm>
          <a:prstGeom prst="rect">
            <a:avLst/>
          </a:prstGeom>
          <a:solidFill>
            <a:srgbClr val="FF9900"/>
          </a:solidFill>
          <a:ln/>
        </p:spPr>
      </p:sp>
      <p:sp>
        <p:nvSpPr>
          <p:cNvPr id="37" name="Text 29"/>
          <p:cNvSpPr/>
          <p:nvPr/>
        </p:nvSpPr>
        <p:spPr>
          <a:xfrm>
            <a:off x="4892040" y="213055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06</a:t>
            </a:r>
            <a:endParaRPr lang="en-US" sz="2200" dirty="0"/>
          </a:p>
        </p:txBody>
      </p:sp>
      <p:pic>
        <p:nvPicPr>
          <p:cNvPr id="38" name="Image 6" descr="preencoded.png">    </p:cNvPr>
          <p:cNvPicPr>
            <a:picLocks noChangeAspect="1"/>
          </p:cNvPicPr>
          <p:nvPr/>
        </p:nvPicPr>
        <p:blipFill>
          <a:blip r:embed="rId7"/>
          <a:stretch>
            <a:fillRect/>
          </a:stretch>
        </p:blipFill>
        <p:spPr>
          <a:xfrm>
            <a:off x="5413248" y="2231136"/>
            <a:ext cx="365760" cy="365760"/>
          </a:xfrm>
          <a:prstGeom prst="rect">
            <a:avLst/>
          </a:prstGeom>
        </p:spPr>
      </p:pic>
      <p:sp>
        <p:nvSpPr>
          <p:cNvPr id="39" name="Text 30"/>
          <p:cNvSpPr/>
          <p:nvPr/>
        </p:nvSpPr>
        <p:spPr>
          <a:xfrm>
            <a:off x="5852160" y="213055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LAB: Windows Instance + RDP</a:t>
            </a:r>
            <a:endParaRPr lang="en-US" sz="1300" dirty="0"/>
          </a:p>
        </p:txBody>
      </p:sp>
      <p:sp>
        <p:nvSpPr>
          <p:cNvPr id="40" name="Text 31"/>
          <p:cNvSpPr/>
          <p:nvPr/>
        </p:nvSpPr>
        <p:spPr>
          <a:xfrm>
            <a:off x="5852160" y="245973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Launch &amp; connect to Windows EC2 via RDP</a:t>
            </a:r>
            <a:endParaRPr lang="en-US" sz="1000" dirty="0"/>
          </a:p>
        </p:txBody>
      </p:sp>
      <p:sp>
        <p:nvSpPr>
          <p:cNvPr id="41" name="Shape 32"/>
          <p:cNvSpPr/>
          <p:nvPr/>
        </p:nvSpPr>
        <p:spPr>
          <a:xfrm>
            <a:off x="4754880" y="3017520"/>
            <a:ext cx="4206240"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42" name="Shape 33"/>
          <p:cNvSpPr/>
          <p:nvPr/>
        </p:nvSpPr>
        <p:spPr>
          <a:xfrm>
            <a:off x="4754880" y="3017520"/>
            <a:ext cx="54864" cy="804672"/>
          </a:xfrm>
          <a:prstGeom prst="rect">
            <a:avLst/>
          </a:prstGeom>
          <a:solidFill>
            <a:srgbClr val="FF9900"/>
          </a:solidFill>
          <a:ln/>
        </p:spPr>
      </p:sp>
      <p:sp>
        <p:nvSpPr>
          <p:cNvPr id="43" name="Text 34"/>
          <p:cNvSpPr/>
          <p:nvPr/>
        </p:nvSpPr>
        <p:spPr>
          <a:xfrm>
            <a:off x="4892040" y="3090672"/>
            <a:ext cx="502920" cy="658368"/>
          </a:xfrm>
          <a:prstGeom prst="rect">
            <a:avLst/>
          </a:prstGeom>
          <a:noFill/>
          <a:ln/>
        </p:spPr>
        <p:txBody>
          <a:bodyPr wrap="square" rtlCol="0" anchor="ctr"/>
          <a:lstStyle/>
          <a:p>
            <a:pPr algn="ctr" indent="0" marL="0">
              <a:buNone/>
            </a:pPr>
            <a:r>
              <a:rPr lang="en-US" sz="2200" b="1" dirty="0">
                <a:solidFill>
                  <a:srgbClr val="FF9900"/>
                </a:solidFill>
                <a:latin typeface="Calibri" pitchFamily="34" charset="0"/>
                <a:ea typeface="Calibri" pitchFamily="34" charset="-122"/>
                <a:cs typeface="Calibri" pitchFamily="34" charset="-120"/>
              </a:rPr>
              <a:t>07</a:t>
            </a:r>
            <a:endParaRPr lang="en-US" sz="2200" dirty="0"/>
          </a:p>
        </p:txBody>
      </p:sp>
      <p:pic>
        <p:nvPicPr>
          <p:cNvPr id="44" name="Image 7" descr="preencoded.png">    </p:cNvPr>
          <p:cNvPicPr>
            <a:picLocks noChangeAspect="1"/>
          </p:cNvPicPr>
          <p:nvPr/>
        </p:nvPicPr>
        <p:blipFill>
          <a:blip r:embed="rId8"/>
          <a:stretch>
            <a:fillRect/>
          </a:stretch>
        </p:blipFill>
        <p:spPr>
          <a:xfrm>
            <a:off x="5413248" y="3191256"/>
            <a:ext cx="365760" cy="365760"/>
          </a:xfrm>
          <a:prstGeom prst="rect">
            <a:avLst/>
          </a:prstGeom>
        </p:spPr>
      </p:pic>
      <p:sp>
        <p:nvSpPr>
          <p:cNvPr id="45" name="Text 35"/>
          <p:cNvSpPr/>
          <p:nvPr/>
        </p:nvSpPr>
        <p:spPr>
          <a:xfrm>
            <a:off x="5852160" y="3090672"/>
            <a:ext cx="3017520" cy="347472"/>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LAB: Auto Scaling + Load Balancer</a:t>
            </a:r>
            <a:endParaRPr lang="en-US" sz="1300" dirty="0"/>
          </a:p>
        </p:txBody>
      </p:sp>
      <p:sp>
        <p:nvSpPr>
          <p:cNvPr id="46" name="Text 36"/>
          <p:cNvSpPr/>
          <p:nvPr/>
        </p:nvSpPr>
        <p:spPr>
          <a:xfrm>
            <a:off x="5852160" y="3419856"/>
            <a:ext cx="3017520" cy="320040"/>
          </a:xfrm>
          <a:prstGeom prst="rect">
            <a:avLst/>
          </a:prstGeom>
          <a:noFill/>
          <a:ln/>
        </p:spPr>
        <p:txBody>
          <a:bodyPr wrap="square" rtlCol="0" anchor="ctr"/>
          <a:lstStyle/>
          <a:p>
            <a:pPr indent="0" marL="0">
              <a:buNone/>
            </a:pPr>
            <a:r>
              <a:rPr lang="en-US" sz="1000" dirty="0">
                <a:solidFill>
                  <a:srgbClr val="8A9BB0"/>
                </a:solidFill>
                <a:latin typeface="Calibri" pitchFamily="34" charset="0"/>
                <a:ea typeface="Calibri" pitchFamily="34" charset="-122"/>
                <a:cs typeface="Calibri" pitchFamily="34" charset="-120"/>
              </a:rPr>
              <a:t>Configure ASG and ELB for high availability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32F3E"/>
          </a:solidFill>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 to Amazon EC2</a:t>
            </a:r>
            <a:endParaRPr lang="en-US" sz="2600" dirty="0"/>
          </a:p>
        </p:txBody>
      </p:sp>
      <p:sp>
        <p:nvSpPr>
          <p:cNvPr id="4" name="Shape 2"/>
          <p:cNvSpPr/>
          <p:nvPr/>
        </p:nvSpPr>
        <p:spPr>
          <a:xfrm>
            <a:off x="274320" y="1005840"/>
            <a:ext cx="8595360" cy="914400"/>
          </a:xfrm>
          <a:prstGeom prst="rect">
            <a:avLst/>
          </a:prstGeom>
          <a:solidFill>
            <a:srgbClr val="FFF4E6"/>
          </a:solidFill>
          <a:ln/>
          <a:effectLst>
            <a:outerShdw sx="100000" sy="100000" kx="0" ky="0" algn="bl" rotWithShape="0" blurRad="101600" dist="38100" dir="8100000">
              <a:srgbClr val="000000">
                <a:alpha val="12000"/>
              </a:srgbClr>
            </a:outerShdw>
          </a:effectLst>
        </p:spPr>
      </p:sp>
      <p:sp>
        <p:nvSpPr>
          <p:cNvPr id="5" name="Shape 3"/>
          <p:cNvSpPr/>
          <p:nvPr/>
        </p:nvSpPr>
        <p:spPr>
          <a:xfrm>
            <a:off x="274320" y="1005840"/>
            <a:ext cx="64008" cy="914400"/>
          </a:xfrm>
          <a:prstGeom prst="rect">
            <a:avLst/>
          </a:prstGeom>
          <a:solidFill>
            <a:srgbClr val="FF9900"/>
          </a:solidFill>
          <a:ln/>
        </p:spPr>
      </p:sp>
      <p:pic>
        <p:nvPicPr>
          <p:cNvPr id="6" name="Image 0" descr="preencoded.png">    </p:cNvPr>
          <p:cNvPicPr>
            <a:picLocks noChangeAspect="1"/>
          </p:cNvPicPr>
          <p:nvPr/>
        </p:nvPicPr>
        <p:blipFill>
          <a:blip r:embed="rId1"/>
          <a:stretch>
            <a:fillRect/>
          </a:stretch>
        </p:blipFill>
        <p:spPr>
          <a:xfrm>
            <a:off x="457200" y="1097280"/>
            <a:ext cx="640080" cy="640080"/>
          </a:xfrm>
          <a:prstGeom prst="rect">
            <a:avLst/>
          </a:prstGeom>
        </p:spPr>
      </p:pic>
      <p:sp>
        <p:nvSpPr>
          <p:cNvPr id="7" name="Text 4"/>
          <p:cNvSpPr/>
          <p:nvPr/>
        </p:nvSpPr>
        <p:spPr>
          <a:xfrm>
            <a:off x="1234440" y="1051560"/>
            <a:ext cx="7498080" cy="365760"/>
          </a:xfrm>
          <a:prstGeom prst="rect">
            <a:avLst/>
          </a:prstGeom>
          <a:noFill/>
          <a:ln/>
        </p:spPr>
        <p:txBody>
          <a:bodyPr wrap="square" rtlCol="0" anchor="ctr"/>
          <a:lstStyle/>
          <a:p>
            <a:pPr indent="0" marL="0">
              <a:buNone/>
            </a:pPr>
            <a:r>
              <a:rPr lang="en-US" sz="1400" b="1" dirty="0">
                <a:solidFill>
                  <a:srgbClr val="232F3E"/>
                </a:solidFill>
                <a:latin typeface="Calibri" pitchFamily="34" charset="0"/>
                <a:ea typeface="Calibri" pitchFamily="34" charset="-122"/>
                <a:cs typeface="Calibri" pitchFamily="34" charset="-120"/>
              </a:rPr>
              <a:t>Amazon Elastic Compute Cloud (EC2)</a:t>
            </a:r>
            <a:endParaRPr lang="en-US" sz="1400" dirty="0"/>
          </a:p>
        </p:txBody>
      </p:sp>
      <p:sp>
        <p:nvSpPr>
          <p:cNvPr id="8" name="Text 5"/>
          <p:cNvSpPr/>
          <p:nvPr/>
        </p:nvSpPr>
        <p:spPr>
          <a:xfrm>
            <a:off x="1234440" y="1389888"/>
            <a:ext cx="7498080" cy="45720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provides scalable computing capacity in the AWS Cloud. It eliminates the need to invest in hardware upfront, enabling faster development and deployment of applications. You can use EC2 to launch as many virtual servers as you need, configure security and networking, and manage storage.</a:t>
            </a:r>
            <a:endParaRPr lang="en-US" sz="1100" dirty="0"/>
          </a:p>
        </p:txBody>
      </p:sp>
      <p:sp>
        <p:nvSpPr>
          <p:cNvPr id="9" name="Shape 6"/>
          <p:cNvSpPr/>
          <p:nvPr/>
        </p:nvSpPr>
        <p:spPr>
          <a:xfrm>
            <a:off x="274320" y="202996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0" name="Shape 7"/>
          <p:cNvSpPr/>
          <p:nvPr/>
        </p:nvSpPr>
        <p:spPr>
          <a:xfrm>
            <a:off x="274320" y="2029968"/>
            <a:ext cx="2743200" cy="347472"/>
          </a:xfrm>
          <a:prstGeom prst="rect">
            <a:avLst/>
          </a:prstGeom>
          <a:solidFill>
            <a:srgbClr val="FF9900"/>
          </a:solidFill>
          <a:ln/>
        </p:spPr>
      </p:sp>
      <p:pic>
        <p:nvPicPr>
          <p:cNvPr id="11" name="Image 1" descr="preencoded.png">    </p:cNvPr>
          <p:cNvPicPr>
            <a:picLocks noChangeAspect="1"/>
          </p:cNvPicPr>
          <p:nvPr/>
        </p:nvPicPr>
        <p:blipFill>
          <a:blip r:embed="rId2"/>
          <a:stretch>
            <a:fillRect/>
          </a:stretch>
        </p:blipFill>
        <p:spPr>
          <a:xfrm>
            <a:off x="365760" y="2066544"/>
            <a:ext cx="274320" cy="274320"/>
          </a:xfrm>
          <a:prstGeom prst="rect">
            <a:avLst/>
          </a:prstGeom>
        </p:spPr>
      </p:pic>
      <p:sp>
        <p:nvSpPr>
          <p:cNvPr id="12" name="Text 8"/>
          <p:cNvSpPr/>
          <p:nvPr/>
        </p:nvSpPr>
        <p:spPr>
          <a:xfrm>
            <a:off x="731520" y="206654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Elastic &amp; Scalable</a:t>
            </a:r>
            <a:endParaRPr lang="en-US" sz="1200" dirty="0"/>
          </a:p>
        </p:txBody>
      </p:sp>
      <p:sp>
        <p:nvSpPr>
          <p:cNvPr id="13" name="Text 9"/>
          <p:cNvSpPr/>
          <p:nvPr/>
        </p:nvSpPr>
        <p:spPr>
          <a:xfrm>
            <a:off x="365760" y="244144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Scale up or down within minutes. Auto Scaling adjusts capacity automatically.</a:t>
            </a:r>
            <a:endParaRPr lang="en-US" sz="1050" dirty="0"/>
          </a:p>
        </p:txBody>
      </p:sp>
      <p:sp>
        <p:nvSpPr>
          <p:cNvPr id="14" name="Shape 10"/>
          <p:cNvSpPr/>
          <p:nvPr/>
        </p:nvSpPr>
        <p:spPr>
          <a:xfrm>
            <a:off x="3182112" y="202996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5" name="Shape 11"/>
          <p:cNvSpPr/>
          <p:nvPr/>
        </p:nvSpPr>
        <p:spPr>
          <a:xfrm>
            <a:off x="3182112" y="2029968"/>
            <a:ext cx="2743200" cy="347472"/>
          </a:xfrm>
          <a:prstGeom prst="rect">
            <a:avLst/>
          </a:prstGeom>
          <a:solidFill>
            <a:srgbClr val="1A73E8"/>
          </a:solidFill>
          <a:ln/>
        </p:spPr>
      </p:sp>
      <p:pic>
        <p:nvPicPr>
          <p:cNvPr id="16" name="Image 2" descr="preencoded.png">    </p:cNvPr>
          <p:cNvPicPr>
            <a:picLocks noChangeAspect="1"/>
          </p:cNvPicPr>
          <p:nvPr/>
        </p:nvPicPr>
        <p:blipFill>
          <a:blip r:embed="rId3"/>
          <a:stretch>
            <a:fillRect/>
          </a:stretch>
        </p:blipFill>
        <p:spPr>
          <a:xfrm>
            <a:off x="3273552" y="2066544"/>
            <a:ext cx="274320" cy="274320"/>
          </a:xfrm>
          <a:prstGeom prst="rect">
            <a:avLst/>
          </a:prstGeom>
        </p:spPr>
      </p:pic>
      <p:sp>
        <p:nvSpPr>
          <p:cNvPr id="17" name="Text 12"/>
          <p:cNvSpPr/>
          <p:nvPr/>
        </p:nvSpPr>
        <p:spPr>
          <a:xfrm>
            <a:off x="3639312" y="206654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Secure</a:t>
            </a:r>
            <a:endParaRPr lang="en-US" sz="1200" dirty="0"/>
          </a:p>
        </p:txBody>
      </p:sp>
      <p:sp>
        <p:nvSpPr>
          <p:cNvPr id="18" name="Text 13"/>
          <p:cNvSpPr/>
          <p:nvPr/>
        </p:nvSpPr>
        <p:spPr>
          <a:xfrm>
            <a:off x="3273552" y="244144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Integrated with VPC, Security Groups, IAM, and KMS encryption.</a:t>
            </a:r>
            <a:endParaRPr lang="en-US" sz="1050" dirty="0"/>
          </a:p>
        </p:txBody>
      </p:sp>
      <p:sp>
        <p:nvSpPr>
          <p:cNvPr id="19" name="Shape 14"/>
          <p:cNvSpPr/>
          <p:nvPr/>
        </p:nvSpPr>
        <p:spPr>
          <a:xfrm>
            <a:off x="6089904" y="202996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0" name="Shape 15"/>
          <p:cNvSpPr/>
          <p:nvPr/>
        </p:nvSpPr>
        <p:spPr>
          <a:xfrm>
            <a:off x="6089904" y="2029968"/>
            <a:ext cx="2743200" cy="347472"/>
          </a:xfrm>
          <a:prstGeom prst="rect">
            <a:avLst/>
          </a:prstGeom>
          <a:solidFill>
            <a:srgbClr val="22C55E"/>
          </a:solidFill>
          <a:ln/>
        </p:spPr>
      </p:sp>
      <p:pic>
        <p:nvPicPr>
          <p:cNvPr id="21" name="Image 3" descr="preencoded.png">    </p:cNvPr>
          <p:cNvPicPr>
            <a:picLocks noChangeAspect="1"/>
          </p:cNvPicPr>
          <p:nvPr/>
        </p:nvPicPr>
        <p:blipFill>
          <a:blip r:embed="rId4"/>
          <a:stretch>
            <a:fillRect/>
          </a:stretch>
        </p:blipFill>
        <p:spPr>
          <a:xfrm>
            <a:off x="6181344" y="2066544"/>
            <a:ext cx="274320" cy="274320"/>
          </a:xfrm>
          <a:prstGeom prst="rect">
            <a:avLst/>
          </a:prstGeom>
        </p:spPr>
      </p:pic>
      <p:sp>
        <p:nvSpPr>
          <p:cNvPr id="22" name="Text 16"/>
          <p:cNvSpPr/>
          <p:nvPr/>
        </p:nvSpPr>
        <p:spPr>
          <a:xfrm>
            <a:off x="6547104" y="206654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Flexible Pricing</a:t>
            </a:r>
            <a:endParaRPr lang="en-US" sz="1200" dirty="0"/>
          </a:p>
        </p:txBody>
      </p:sp>
      <p:sp>
        <p:nvSpPr>
          <p:cNvPr id="23" name="Text 17"/>
          <p:cNvSpPr/>
          <p:nvPr/>
        </p:nvSpPr>
        <p:spPr>
          <a:xfrm>
            <a:off x="6181344" y="244144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Multiple pricing models: On-Demand, Reserved, Spot &amp; Savings Plans.</a:t>
            </a:r>
            <a:endParaRPr lang="en-US" sz="1050" dirty="0"/>
          </a:p>
        </p:txBody>
      </p:sp>
      <p:sp>
        <p:nvSpPr>
          <p:cNvPr id="24" name="Shape 18"/>
          <p:cNvSpPr/>
          <p:nvPr/>
        </p:nvSpPr>
        <p:spPr>
          <a:xfrm>
            <a:off x="274320" y="349300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5" name="Shape 19"/>
          <p:cNvSpPr/>
          <p:nvPr/>
        </p:nvSpPr>
        <p:spPr>
          <a:xfrm>
            <a:off x="274320" y="3493008"/>
            <a:ext cx="2743200" cy="347472"/>
          </a:xfrm>
          <a:prstGeom prst="rect">
            <a:avLst/>
          </a:prstGeom>
          <a:solidFill>
            <a:srgbClr val="7C3AED"/>
          </a:solidFill>
          <a:ln/>
        </p:spPr>
      </p:sp>
      <p:pic>
        <p:nvPicPr>
          <p:cNvPr id="26" name="Image 4" descr="preencoded.png">    </p:cNvPr>
          <p:cNvPicPr>
            <a:picLocks noChangeAspect="1"/>
          </p:cNvPicPr>
          <p:nvPr/>
        </p:nvPicPr>
        <p:blipFill>
          <a:blip r:embed="rId5"/>
          <a:stretch>
            <a:fillRect/>
          </a:stretch>
        </p:blipFill>
        <p:spPr>
          <a:xfrm>
            <a:off x="365760" y="3529584"/>
            <a:ext cx="274320" cy="274320"/>
          </a:xfrm>
          <a:prstGeom prst="rect">
            <a:avLst/>
          </a:prstGeom>
        </p:spPr>
      </p:pic>
      <p:sp>
        <p:nvSpPr>
          <p:cNvPr id="27" name="Text 20"/>
          <p:cNvSpPr/>
          <p:nvPr/>
        </p:nvSpPr>
        <p:spPr>
          <a:xfrm>
            <a:off x="731520" y="352958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Fully Managed</a:t>
            </a:r>
            <a:endParaRPr lang="en-US" sz="1200" dirty="0"/>
          </a:p>
        </p:txBody>
      </p:sp>
      <p:sp>
        <p:nvSpPr>
          <p:cNvPr id="28" name="Text 21"/>
          <p:cNvSpPr/>
          <p:nvPr/>
        </p:nvSpPr>
        <p:spPr>
          <a:xfrm>
            <a:off x="365760" y="390448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AWS manages the physical hardware. You manage OS, middleware &amp; apps.</a:t>
            </a:r>
            <a:endParaRPr lang="en-US" sz="1050" dirty="0"/>
          </a:p>
        </p:txBody>
      </p:sp>
      <p:sp>
        <p:nvSpPr>
          <p:cNvPr id="29" name="Shape 22"/>
          <p:cNvSpPr/>
          <p:nvPr/>
        </p:nvSpPr>
        <p:spPr>
          <a:xfrm>
            <a:off x="3182112" y="349300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0" name="Shape 23"/>
          <p:cNvSpPr/>
          <p:nvPr/>
        </p:nvSpPr>
        <p:spPr>
          <a:xfrm>
            <a:off x="3182112" y="3493008"/>
            <a:ext cx="2743200" cy="347472"/>
          </a:xfrm>
          <a:prstGeom prst="rect">
            <a:avLst/>
          </a:prstGeom>
          <a:solidFill>
            <a:srgbClr val="F59E0B"/>
          </a:solidFill>
          <a:ln/>
        </p:spPr>
      </p:sp>
      <p:pic>
        <p:nvPicPr>
          <p:cNvPr id="31" name="Image 5" descr="preencoded.png">    </p:cNvPr>
          <p:cNvPicPr>
            <a:picLocks noChangeAspect="1"/>
          </p:cNvPicPr>
          <p:nvPr/>
        </p:nvPicPr>
        <p:blipFill>
          <a:blip r:embed="rId6"/>
          <a:stretch>
            <a:fillRect/>
          </a:stretch>
        </p:blipFill>
        <p:spPr>
          <a:xfrm>
            <a:off x="3273552" y="3529584"/>
            <a:ext cx="274320" cy="274320"/>
          </a:xfrm>
          <a:prstGeom prst="rect">
            <a:avLst/>
          </a:prstGeom>
        </p:spPr>
      </p:pic>
      <p:sp>
        <p:nvSpPr>
          <p:cNvPr id="32" name="Text 24"/>
          <p:cNvSpPr/>
          <p:nvPr/>
        </p:nvSpPr>
        <p:spPr>
          <a:xfrm>
            <a:off x="3639312" y="352958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Global Reach</a:t>
            </a:r>
            <a:endParaRPr lang="en-US" sz="1200" dirty="0"/>
          </a:p>
        </p:txBody>
      </p:sp>
      <p:sp>
        <p:nvSpPr>
          <p:cNvPr id="33" name="Text 25"/>
          <p:cNvSpPr/>
          <p:nvPr/>
        </p:nvSpPr>
        <p:spPr>
          <a:xfrm>
            <a:off x="3273552" y="390448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Deploy across 30+ AWS Regions and 90+ Availability Zones worldwide.</a:t>
            </a:r>
            <a:endParaRPr lang="en-US" sz="1050" dirty="0"/>
          </a:p>
        </p:txBody>
      </p:sp>
      <p:sp>
        <p:nvSpPr>
          <p:cNvPr id="34" name="Shape 26"/>
          <p:cNvSpPr/>
          <p:nvPr/>
        </p:nvSpPr>
        <p:spPr>
          <a:xfrm>
            <a:off x="6089904" y="3493008"/>
            <a:ext cx="2743200" cy="1325880"/>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5" name="Shape 27"/>
          <p:cNvSpPr/>
          <p:nvPr/>
        </p:nvSpPr>
        <p:spPr>
          <a:xfrm>
            <a:off x="6089904" y="3493008"/>
            <a:ext cx="2743200" cy="347472"/>
          </a:xfrm>
          <a:prstGeom prst="rect">
            <a:avLst/>
          </a:prstGeom>
          <a:solidFill>
            <a:srgbClr val="00A1C9"/>
          </a:solidFill>
          <a:ln/>
        </p:spPr>
      </p:sp>
      <p:pic>
        <p:nvPicPr>
          <p:cNvPr id="36" name="Image 6" descr="preencoded.png">    </p:cNvPr>
          <p:cNvPicPr>
            <a:picLocks noChangeAspect="1"/>
          </p:cNvPicPr>
          <p:nvPr/>
        </p:nvPicPr>
        <p:blipFill>
          <a:blip r:embed="rId7"/>
          <a:stretch>
            <a:fillRect/>
          </a:stretch>
        </p:blipFill>
        <p:spPr>
          <a:xfrm>
            <a:off x="6181344" y="3529584"/>
            <a:ext cx="274320" cy="274320"/>
          </a:xfrm>
          <a:prstGeom prst="rect">
            <a:avLst/>
          </a:prstGeom>
        </p:spPr>
      </p:pic>
      <p:sp>
        <p:nvSpPr>
          <p:cNvPr id="37" name="Text 28"/>
          <p:cNvSpPr/>
          <p:nvPr/>
        </p:nvSpPr>
        <p:spPr>
          <a:xfrm>
            <a:off x="6547104" y="3529584"/>
            <a:ext cx="219456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Networking</a:t>
            </a:r>
            <a:endParaRPr lang="en-US" sz="1200" dirty="0"/>
          </a:p>
        </p:txBody>
      </p:sp>
      <p:sp>
        <p:nvSpPr>
          <p:cNvPr id="38" name="Text 29"/>
          <p:cNvSpPr/>
          <p:nvPr/>
        </p:nvSpPr>
        <p:spPr>
          <a:xfrm>
            <a:off x="6181344" y="3904488"/>
            <a:ext cx="2560320" cy="822960"/>
          </a:xfrm>
          <a:prstGeom prst="rect">
            <a:avLst/>
          </a:prstGeom>
          <a:noFill/>
          <a:ln/>
        </p:spPr>
        <p:txBody>
          <a:bodyPr wrap="square" rtlCol="0" anchor="t"/>
          <a:lstStyle/>
          <a:p>
            <a:pPr indent="0" marL="0">
              <a:buNone/>
            </a:pPr>
            <a:r>
              <a:rPr lang="en-US" sz="1050" dirty="0">
                <a:solidFill>
                  <a:srgbClr val="2D3748"/>
                </a:solidFill>
                <a:latin typeface="Calibri" pitchFamily="34" charset="0"/>
                <a:ea typeface="Calibri" pitchFamily="34" charset="-122"/>
                <a:cs typeface="Calibri" pitchFamily="34" charset="-120"/>
              </a:rPr>
              <a:t>VPC integration with Elastic IPs, ENIs, and enhanced networking support.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32F3E"/>
          </a:solidFill>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Core Terminologies — Part 1</a:t>
            </a:r>
            <a:endParaRPr lang="en-US" sz="2600" dirty="0"/>
          </a:p>
        </p:txBody>
      </p:sp>
      <p:sp>
        <p:nvSpPr>
          <p:cNvPr id="4" name="Shape 2"/>
          <p:cNvSpPr/>
          <p:nvPr/>
        </p:nvSpPr>
        <p:spPr>
          <a:xfrm>
            <a:off x="182880" y="1005840"/>
            <a:ext cx="283464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1005840"/>
            <a:ext cx="2834640" cy="1005840"/>
          </a:xfrm>
          <a:prstGeom prst="rect">
            <a:avLst/>
          </a:prstGeom>
          <a:solidFill>
            <a:srgbClr val="FF9900"/>
          </a:solidFill>
          <a:ln/>
        </p:spPr>
      </p:sp>
      <p:pic>
        <p:nvPicPr>
          <p:cNvPr id="6" name="Image 0" descr="preencoded.png">    </p:cNvPr>
          <p:cNvPicPr>
            <a:picLocks noChangeAspect="1"/>
          </p:cNvPicPr>
          <p:nvPr/>
        </p:nvPicPr>
        <p:blipFill>
          <a:blip r:embed="rId1"/>
          <a:stretch>
            <a:fillRect/>
          </a:stretch>
        </p:blipFill>
        <p:spPr>
          <a:xfrm>
            <a:off x="1325880" y="1078992"/>
            <a:ext cx="502920" cy="502920"/>
          </a:xfrm>
          <a:prstGeom prst="rect">
            <a:avLst/>
          </a:prstGeom>
        </p:spPr>
      </p:pic>
      <p:sp>
        <p:nvSpPr>
          <p:cNvPr id="7" name="Text 4"/>
          <p:cNvSpPr/>
          <p:nvPr/>
        </p:nvSpPr>
        <p:spPr>
          <a:xfrm>
            <a:off x="274320" y="1572768"/>
            <a:ext cx="2651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EC2 Instance</a:t>
            </a:r>
            <a:endParaRPr lang="en-US" sz="1200" dirty="0"/>
          </a:p>
        </p:txBody>
      </p:sp>
      <p:sp>
        <p:nvSpPr>
          <p:cNvPr id="8" name="Text 5"/>
          <p:cNvSpPr/>
          <p:nvPr/>
        </p:nvSpPr>
        <p:spPr>
          <a:xfrm>
            <a:off x="274320" y="1828800"/>
            <a:ext cx="2651760" cy="237744"/>
          </a:xfrm>
          <a:prstGeom prst="rect">
            <a:avLst/>
          </a:prstGeom>
          <a:noFill/>
          <a:ln/>
        </p:spPr>
        <p:txBody>
          <a:bodyPr wrap="square" rtlCol="0" anchor="ctr"/>
          <a:lstStyle/>
          <a:p>
            <a:pPr algn="ctr" indent="0" marL="0">
              <a:buNone/>
            </a:pPr>
            <a:r>
              <a:rPr lang="en-US" sz="950" i="1" dirty="0">
                <a:solidFill>
                  <a:srgbClr val="E0E0E0"/>
                </a:solidFill>
                <a:latin typeface="Calibri" pitchFamily="34" charset="0"/>
                <a:ea typeface="Calibri" pitchFamily="34" charset="-122"/>
                <a:cs typeface="Calibri" pitchFamily="34" charset="-120"/>
              </a:rPr>
              <a:t>Virtual Server in the Cloud</a:t>
            </a:r>
            <a:endParaRPr lang="en-US" sz="950" dirty="0"/>
          </a:p>
        </p:txBody>
      </p:sp>
      <p:pic>
        <p:nvPicPr>
          <p:cNvPr id="9" name="Image 1" descr="preencoded.png">    </p:cNvPr>
          <p:cNvPicPr>
            <a:picLocks noChangeAspect="1"/>
          </p:cNvPicPr>
          <p:nvPr/>
        </p:nvPicPr>
        <p:blipFill>
          <a:blip r:embed="rId2"/>
          <a:stretch>
            <a:fillRect/>
          </a:stretch>
        </p:blipFill>
        <p:spPr>
          <a:xfrm>
            <a:off x="292608" y="2176272"/>
            <a:ext cx="201168" cy="201168"/>
          </a:xfrm>
          <a:prstGeom prst="rect">
            <a:avLst/>
          </a:prstGeom>
        </p:spPr>
      </p:pic>
      <p:sp>
        <p:nvSpPr>
          <p:cNvPr id="10" name="Text 6"/>
          <p:cNvSpPr/>
          <p:nvPr/>
        </p:nvSpPr>
        <p:spPr>
          <a:xfrm>
            <a:off x="548640" y="2148840"/>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A virtual machine running on AWS physical hardware</a:t>
            </a:r>
            <a:endParaRPr lang="en-US" sz="1000" dirty="0"/>
          </a:p>
        </p:txBody>
      </p:sp>
      <p:pic>
        <p:nvPicPr>
          <p:cNvPr id="11" name="Image 2" descr="preencoded.png">    </p:cNvPr>
          <p:cNvPicPr>
            <a:picLocks noChangeAspect="1"/>
          </p:cNvPicPr>
          <p:nvPr/>
        </p:nvPicPr>
        <p:blipFill>
          <a:blip r:embed="rId3"/>
          <a:stretch>
            <a:fillRect/>
          </a:stretch>
        </p:blipFill>
        <p:spPr>
          <a:xfrm>
            <a:off x="292608" y="2697480"/>
            <a:ext cx="201168" cy="201168"/>
          </a:xfrm>
          <a:prstGeom prst="rect">
            <a:avLst/>
          </a:prstGeom>
        </p:spPr>
      </p:pic>
      <p:sp>
        <p:nvSpPr>
          <p:cNvPr id="12" name="Text 7"/>
          <p:cNvSpPr/>
          <p:nvPr/>
        </p:nvSpPr>
        <p:spPr>
          <a:xfrm>
            <a:off x="548640" y="2670048"/>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Choose CPU, RAM, storage &amp; networking as needed</a:t>
            </a:r>
            <a:endParaRPr lang="en-US" sz="1000" dirty="0"/>
          </a:p>
        </p:txBody>
      </p:sp>
      <p:pic>
        <p:nvPicPr>
          <p:cNvPr id="13" name="Image 3" descr="preencoded.png">    </p:cNvPr>
          <p:cNvPicPr>
            <a:picLocks noChangeAspect="1"/>
          </p:cNvPicPr>
          <p:nvPr/>
        </p:nvPicPr>
        <p:blipFill>
          <a:blip r:embed="rId4"/>
          <a:stretch>
            <a:fillRect/>
          </a:stretch>
        </p:blipFill>
        <p:spPr>
          <a:xfrm>
            <a:off x="292608" y="3218688"/>
            <a:ext cx="201168" cy="201168"/>
          </a:xfrm>
          <a:prstGeom prst="rect">
            <a:avLst/>
          </a:prstGeom>
        </p:spPr>
      </p:pic>
      <p:sp>
        <p:nvSpPr>
          <p:cNvPr id="14" name="Text 8"/>
          <p:cNvSpPr/>
          <p:nvPr/>
        </p:nvSpPr>
        <p:spPr>
          <a:xfrm>
            <a:off x="548640" y="3191256"/>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Run any OS: Linux, Windows, macOS</a:t>
            </a:r>
            <a:endParaRPr lang="en-US" sz="1000" dirty="0"/>
          </a:p>
        </p:txBody>
      </p:sp>
      <p:pic>
        <p:nvPicPr>
          <p:cNvPr id="15" name="Image 4" descr="preencoded.png">    </p:cNvPr>
          <p:cNvPicPr>
            <a:picLocks noChangeAspect="1"/>
          </p:cNvPicPr>
          <p:nvPr/>
        </p:nvPicPr>
        <p:blipFill>
          <a:blip r:embed="rId5"/>
          <a:stretch>
            <a:fillRect/>
          </a:stretch>
        </p:blipFill>
        <p:spPr>
          <a:xfrm>
            <a:off x="292608" y="3739896"/>
            <a:ext cx="201168" cy="201168"/>
          </a:xfrm>
          <a:prstGeom prst="rect">
            <a:avLst/>
          </a:prstGeom>
        </p:spPr>
      </p:pic>
      <p:sp>
        <p:nvSpPr>
          <p:cNvPr id="16" name="Text 9"/>
          <p:cNvSpPr/>
          <p:nvPr/>
        </p:nvSpPr>
        <p:spPr>
          <a:xfrm>
            <a:off x="548640" y="3712464"/>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Multiple instances can run simultaneously</a:t>
            </a:r>
            <a:endParaRPr lang="en-US" sz="1000" dirty="0"/>
          </a:p>
        </p:txBody>
      </p:sp>
      <p:pic>
        <p:nvPicPr>
          <p:cNvPr id="17" name="Image 5" descr="preencoded.png">    </p:cNvPr>
          <p:cNvPicPr>
            <a:picLocks noChangeAspect="1"/>
          </p:cNvPicPr>
          <p:nvPr/>
        </p:nvPicPr>
        <p:blipFill>
          <a:blip r:embed="rId6"/>
          <a:stretch>
            <a:fillRect/>
          </a:stretch>
        </p:blipFill>
        <p:spPr>
          <a:xfrm>
            <a:off x="292608" y="4261104"/>
            <a:ext cx="201168" cy="201168"/>
          </a:xfrm>
          <a:prstGeom prst="rect">
            <a:avLst/>
          </a:prstGeom>
        </p:spPr>
      </p:pic>
      <p:sp>
        <p:nvSpPr>
          <p:cNvPr id="18" name="Text 10"/>
          <p:cNvSpPr/>
          <p:nvPr/>
        </p:nvSpPr>
        <p:spPr>
          <a:xfrm>
            <a:off x="548640" y="4233672"/>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Billed per second (Linux) or per hour (Windows)</a:t>
            </a:r>
            <a:endParaRPr lang="en-US" sz="1000" dirty="0"/>
          </a:p>
        </p:txBody>
      </p:sp>
      <p:sp>
        <p:nvSpPr>
          <p:cNvPr id="19" name="Shape 11"/>
          <p:cNvSpPr/>
          <p:nvPr/>
        </p:nvSpPr>
        <p:spPr>
          <a:xfrm>
            <a:off x="3172968" y="1005840"/>
            <a:ext cx="283464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2"/>
          <p:cNvSpPr/>
          <p:nvPr/>
        </p:nvSpPr>
        <p:spPr>
          <a:xfrm>
            <a:off x="3172968" y="1005840"/>
            <a:ext cx="2834640" cy="1005840"/>
          </a:xfrm>
          <a:prstGeom prst="rect">
            <a:avLst/>
          </a:prstGeom>
          <a:solidFill>
            <a:srgbClr val="1A73E8"/>
          </a:solidFill>
          <a:ln/>
        </p:spPr>
      </p:sp>
      <p:pic>
        <p:nvPicPr>
          <p:cNvPr id="21" name="Image 6" descr="preencoded.png">    </p:cNvPr>
          <p:cNvPicPr>
            <a:picLocks noChangeAspect="1"/>
          </p:cNvPicPr>
          <p:nvPr/>
        </p:nvPicPr>
        <p:blipFill>
          <a:blip r:embed="rId7"/>
          <a:stretch>
            <a:fillRect/>
          </a:stretch>
        </p:blipFill>
        <p:spPr>
          <a:xfrm>
            <a:off x="4315968" y="1078992"/>
            <a:ext cx="502920" cy="502920"/>
          </a:xfrm>
          <a:prstGeom prst="rect">
            <a:avLst/>
          </a:prstGeom>
        </p:spPr>
      </p:pic>
      <p:sp>
        <p:nvSpPr>
          <p:cNvPr id="22" name="Text 13"/>
          <p:cNvSpPr/>
          <p:nvPr/>
        </p:nvSpPr>
        <p:spPr>
          <a:xfrm>
            <a:off x="3264408" y="1572768"/>
            <a:ext cx="2651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Amazon Machine Image (AMI)</a:t>
            </a:r>
            <a:endParaRPr lang="en-US" sz="1200" dirty="0"/>
          </a:p>
        </p:txBody>
      </p:sp>
      <p:sp>
        <p:nvSpPr>
          <p:cNvPr id="23" name="Text 14"/>
          <p:cNvSpPr/>
          <p:nvPr/>
        </p:nvSpPr>
        <p:spPr>
          <a:xfrm>
            <a:off x="3264408" y="1828800"/>
            <a:ext cx="2651760" cy="237744"/>
          </a:xfrm>
          <a:prstGeom prst="rect">
            <a:avLst/>
          </a:prstGeom>
          <a:noFill/>
          <a:ln/>
        </p:spPr>
        <p:txBody>
          <a:bodyPr wrap="square" rtlCol="0" anchor="ctr"/>
          <a:lstStyle/>
          <a:p>
            <a:pPr algn="ctr" indent="0" marL="0">
              <a:buNone/>
            </a:pPr>
            <a:r>
              <a:rPr lang="en-US" sz="950" i="1" dirty="0">
                <a:solidFill>
                  <a:srgbClr val="E0E0E0"/>
                </a:solidFill>
                <a:latin typeface="Calibri" pitchFamily="34" charset="0"/>
                <a:ea typeface="Calibri" pitchFamily="34" charset="-122"/>
                <a:cs typeface="Calibri" pitchFamily="34" charset="-120"/>
              </a:rPr>
              <a:t>Template for EC2 Instances</a:t>
            </a:r>
            <a:endParaRPr lang="en-US" sz="950" dirty="0"/>
          </a:p>
        </p:txBody>
      </p:sp>
      <p:pic>
        <p:nvPicPr>
          <p:cNvPr id="24" name="Image 7" descr="preencoded.png">    </p:cNvPr>
          <p:cNvPicPr>
            <a:picLocks noChangeAspect="1"/>
          </p:cNvPicPr>
          <p:nvPr/>
        </p:nvPicPr>
        <p:blipFill>
          <a:blip r:embed="rId8"/>
          <a:stretch>
            <a:fillRect/>
          </a:stretch>
        </p:blipFill>
        <p:spPr>
          <a:xfrm>
            <a:off x="3282696" y="2176272"/>
            <a:ext cx="201168" cy="201168"/>
          </a:xfrm>
          <a:prstGeom prst="rect">
            <a:avLst/>
          </a:prstGeom>
        </p:spPr>
      </p:pic>
      <p:sp>
        <p:nvSpPr>
          <p:cNvPr id="25" name="Text 15"/>
          <p:cNvSpPr/>
          <p:nvPr/>
        </p:nvSpPr>
        <p:spPr>
          <a:xfrm>
            <a:off x="3538728" y="2148840"/>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Pre-configured template containing OS + software</a:t>
            </a:r>
            <a:endParaRPr lang="en-US" sz="1000" dirty="0"/>
          </a:p>
        </p:txBody>
      </p:sp>
      <p:pic>
        <p:nvPicPr>
          <p:cNvPr id="26" name="Image 8" descr="preencoded.png">    </p:cNvPr>
          <p:cNvPicPr>
            <a:picLocks noChangeAspect="1"/>
          </p:cNvPicPr>
          <p:nvPr/>
        </p:nvPicPr>
        <p:blipFill>
          <a:blip r:embed="rId9"/>
          <a:stretch>
            <a:fillRect/>
          </a:stretch>
        </p:blipFill>
        <p:spPr>
          <a:xfrm>
            <a:off x="3282696" y="2697480"/>
            <a:ext cx="201168" cy="201168"/>
          </a:xfrm>
          <a:prstGeom prst="rect">
            <a:avLst/>
          </a:prstGeom>
        </p:spPr>
      </p:pic>
      <p:sp>
        <p:nvSpPr>
          <p:cNvPr id="27" name="Text 16"/>
          <p:cNvSpPr/>
          <p:nvPr/>
        </p:nvSpPr>
        <p:spPr>
          <a:xfrm>
            <a:off x="3538728" y="2670048"/>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Includes root volume snapshot and launch permissions</a:t>
            </a:r>
            <a:endParaRPr lang="en-US" sz="1000" dirty="0"/>
          </a:p>
        </p:txBody>
      </p:sp>
      <p:pic>
        <p:nvPicPr>
          <p:cNvPr id="28" name="Image 9" descr="preencoded.png">    </p:cNvPr>
          <p:cNvPicPr>
            <a:picLocks noChangeAspect="1"/>
          </p:cNvPicPr>
          <p:nvPr/>
        </p:nvPicPr>
        <p:blipFill>
          <a:blip r:embed="rId10"/>
          <a:stretch>
            <a:fillRect/>
          </a:stretch>
        </p:blipFill>
        <p:spPr>
          <a:xfrm>
            <a:off x="3282696" y="3218688"/>
            <a:ext cx="201168" cy="201168"/>
          </a:xfrm>
          <a:prstGeom prst="rect">
            <a:avLst/>
          </a:prstGeom>
        </p:spPr>
      </p:pic>
      <p:sp>
        <p:nvSpPr>
          <p:cNvPr id="29" name="Text 17"/>
          <p:cNvSpPr/>
          <p:nvPr/>
        </p:nvSpPr>
        <p:spPr>
          <a:xfrm>
            <a:off x="3538728" y="3191256"/>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Types: AWS provided, Marketplace, Community, Custom</a:t>
            </a:r>
            <a:endParaRPr lang="en-US" sz="1000" dirty="0"/>
          </a:p>
        </p:txBody>
      </p:sp>
      <p:pic>
        <p:nvPicPr>
          <p:cNvPr id="30" name="Image 10" descr="preencoded.png">    </p:cNvPr>
          <p:cNvPicPr>
            <a:picLocks noChangeAspect="1"/>
          </p:cNvPicPr>
          <p:nvPr/>
        </p:nvPicPr>
        <p:blipFill>
          <a:blip r:embed="rId11"/>
          <a:stretch>
            <a:fillRect/>
          </a:stretch>
        </p:blipFill>
        <p:spPr>
          <a:xfrm>
            <a:off x="3282696" y="3739896"/>
            <a:ext cx="201168" cy="201168"/>
          </a:xfrm>
          <a:prstGeom prst="rect">
            <a:avLst/>
          </a:prstGeom>
        </p:spPr>
      </p:pic>
      <p:sp>
        <p:nvSpPr>
          <p:cNvPr id="31" name="Text 18"/>
          <p:cNvSpPr/>
          <p:nvPr/>
        </p:nvSpPr>
        <p:spPr>
          <a:xfrm>
            <a:off x="3538728" y="3712464"/>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Region-specific; can be copied across regions</a:t>
            </a:r>
            <a:endParaRPr lang="en-US" sz="1000" dirty="0"/>
          </a:p>
        </p:txBody>
      </p:sp>
      <p:pic>
        <p:nvPicPr>
          <p:cNvPr id="32" name="Image 11" descr="preencoded.png">    </p:cNvPr>
          <p:cNvPicPr>
            <a:picLocks noChangeAspect="1"/>
          </p:cNvPicPr>
          <p:nvPr/>
        </p:nvPicPr>
        <p:blipFill>
          <a:blip r:embed="rId12"/>
          <a:stretch>
            <a:fillRect/>
          </a:stretch>
        </p:blipFill>
        <p:spPr>
          <a:xfrm>
            <a:off x="3282696" y="4261104"/>
            <a:ext cx="201168" cy="201168"/>
          </a:xfrm>
          <a:prstGeom prst="rect">
            <a:avLst/>
          </a:prstGeom>
        </p:spPr>
      </p:pic>
      <p:sp>
        <p:nvSpPr>
          <p:cNvPr id="33" name="Text 19"/>
          <p:cNvSpPr/>
          <p:nvPr/>
        </p:nvSpPr>
        <p:spPr>
          <a:xfrm>
            <a:off x="3538728" y="4233672"/>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Used to launch identical instances quickly</a:t>
            </a:r>
            <a:endParaRPr lang="en-US" sz="1000" dirty="0"/>
          </a:p>
        </p:txBody>
      </p:sp>
      <p:sp>
        <p:nvSpPr>
          <p:cNvPr id="34" name="Shape 20"/>
          <p:cNvSpPr/>
          <p:nvPr/>
        </p:nvSpPr>
        <p:spPr>
          <a:xfrm>
            <a:off x="6163056" y="1005840"/>
            <a:ext cx="283464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5" name="Shape 21"/>
          <p:cNvSpPr/>
          <p:nvPr/>
        </p:nvSpPr>
        <p:spPr>
          <a:xfrm>
            <a:off x="6163056" y="1005840"/>
            <a:ext cx="2834640" cy="1005840"/>
          </a:xfrm>
          <a:prstGeom prst="rect">
            <a:avLst/>
          </a:prstGeom>
          <a:solidFill>
            <a:srgbClr val="22C55E"/>
          </a:solidFill>
          <a:ln/>
        </p:spPr>
      </p:sp>
      <p:pic>
        <p:nvPicPr>
          <p:cNvPr id="36" name="Image 12" descr="preencoded.png">    </p:cNvPr>
          <p:cNvPicPr>
            <a:picLocks noChangeAspect="1"/>
          </p:cNvPicPr>
          <p:nvPr/>
        </p:nvPicPr>
        <p:blipFill>
          <a:blip r:embed="rId13"/>
          <a:stretch>
            <a:fillRect/>
          </a:stretch>
        </p:blipFill>
        <p:spPr>
          <a:xfrm>
            <a:off x="7306056" y="1078992"/>
            <a:ext cx="502920" cy="502920"/>
          </a:xfrm>
          <a:prstGeom prst="rect">
            <a:avLst/>
          </a:prstGeom>
        </p:spPr>
      </p:pic>
      <p:sp>
        <p:nvSpPr>
          <p:cNvPr id="37" name="Text 22"/>
          <p:cNvSpPr/>
          <p:nvPr/>
        </p:nvSpPr>
        <p:spPr>
          <a:xfrm>
            <a:off x="6254496" y="1572768"/>
            <a:ext cx="2651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Pair</a:t>
            </a:r>
            <a:endParaRPr lang="en-US" sz="1200" dirty="0"/>
          </a:p>
        </p:txBody>
      </p:sp>
      <p:sp>
        <p:nvSpPr>
          <p:cNvPr id="38" name="Text 23"/>
          <p:cNvSpPr/>
          <p:nvPr/>
        </p:nvSpPr>
        <p:spPr>
          <a:xfrm>
            <a:off x="6254496" y="1828800"/>
            <a:ext cx="2651760" cy="237744"/>
          </a:xfrm>
          <a:prstGeom prst="rect">
            <a:avLst/>
          </a:prstGeom>
          <a:noFill/>
          <a:ln/>
        </p:spPr>
        <p:txBody>
          <a:bodyPr wrap="square" rtlCol="0" anchor="ctr"/>
          <a:lstStyle/>
          <a:p>
            <a:pPr algn="ctr" indent="0" marL="0">
              <a:buNone/>
            </a:pPr>
            <a:r>
              <a:rPr lang="en-US" sz="950" i="1" dirty="0">
                <a:solidFill>
                  <a:srgbClr val="E0E0E0"/>
                </a:solidFill>
                <a:latin typeface="Calibri" pitchFamily="34" charset="0"/>
                <a:ea typeface="Calibri" pitchFamily="34" charset="-122"/>
                <a:cs typeface="Calibri" pitchFamily="34" charset="-120"/>
              </a:rPr>
              <a:t>Secure SSH/RDP Authentication</a:t>
            </a:r>
            <a:endParaRPr lang="en-US" sz="950" dirty="0"/>
          </a:p>
        </p:txBody>
      </p:sp>
      <p:pic>
        <p:nvPicPr>
          <p:cNvPr id="39" name="Image 13" descr="preencoded.png">    </p:cNvPr>
          <p:cNvPicPr>
            <a:picLocks noChangeAspect="1"/>
          </p:cNvPicPr>
          <p:nvPr/>
        </p:nvPicPr>
        <p:blipFill>
          <a:blip r:embed="rId14"/>
          <a:stretch>
            <a:fillRect/>
          </a:stretch>
        </p:blipFill>
        <p:spPr>
          <a:xfrm>
            <a:off x="6272784" y="2176272"/>
            <a:ext cx="201168" cy="201168"/>
          </a:xfrm>
          <a:prstGeom prst="rect">
            <a:avLst/>
          </a:prstGeom>
        </p:spPr>
      </p:pic>
      <p:sp>
        <p:nvSpPr>
          <p:cNvPr id="40" name="Text 24"/>
          <p:cNvSpPr/>
          <p:nvPr/>
        </p:nvSpPr>
        <p:spPr>
          <a:xfrm>
            <a:off x="6528816" y="2148840"/>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Public-private key pair for secure login</a:t>
            </a:r>
            <a:endParaRPr lang="en-US" sz="1000" dirty="0"/>
          </a:p>
        </p:txBody>
      </p:sp>
      <p:pic>
        <p:nvPicPr>
          <p:cNvPr id="41" name="Image 14" descr="preencoded.png">    </p:cNvPr>
          <p:cNvPicPr>
            <a:picLocks noChangeAspect="1"/>
          </p:cNvPicPr>
          <p:nvPr/>
        </p:nvPicPr>
        <p:blipFill>
          <a:blip r:embed="rId15"/>
          <a:stretch>
            <a:fillRect/>
          </a:stretch>
        </p:blipFill>
        <p:spPr>
          <a:xfrm>
            <a:off x="6272784" y="2697480"/>
            <a:ext cx="201168" cy="201168"/>
          </a:xfrm>
          <a:prstGeom prst="rect">
            <a:avLst/>
          </a:prstGeom>
        </p:spPr>
      </p:pic>
      <p:sp>
        <p:nvSpPr>
          <p:cNvPr id="42" name="Text 25"/>
          <p:cNvSpPr/>
          <p:nvPr/>
        </p:nvSpPr>
        <p:spPr>
          <a:xfrm>
            <a:off x="6528816" y="2670048"/>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Public key stored on EC2; private key kept by user</a:t>
            </a:r>
            <a:endParaRPr lang="en-US" sz="1000" dirty="0"/>
          </a:p>
        </p:txBody>
      </p:sp>
      <p:pic>
        <p:nvPicPr>
          <p:cNvPr id="43" name="Image 15" descr="preencoded.png">    </p:cNvPr>
          <p:cNvPicPr>
            <a:picLocks noChangeAspect="1"/>
          </p:cNvPicPr>
          <p:nvPr/>
        </p:nvPicPr>
        <p:blipFill>
          <a:blip r:embed="rId16"/>
          <a:stretch>
            <a:fillRect/>
          </a:stretch>
        </p:blipFill>
        <p:spPr>
          <a:xfrm>
            <a:off x="6272784" y="3218688"/>
            <a:ext cx="201168" cy="201168"/>
          </a:xfrm>
          <a:prstGeom prst="rect">
            <a:avLst/>
          </a:prstGeom>
        </p:spPr>
      </p:pic>
      <p:sp>
        <p:nvSpPr>
          <p:cNvPr id="44" name="Text 26"/>
          <p:cNvSpPr/>
          <p:nvPr/>
        </p:nvSpPr>
        <p:spPr>
          <a:xfrm>
            <a:off x="6528816" y="3191256"/>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Required for SSH (Linux) and RDP password decrypt (Windows)</a:t>
            </a:r>
            <a:endParaRPr lang="en-US" sz="1000" dirty="0"/>
          </a:p>
        </p:txBody>
      </p:sp>
      <p:pic>
        <p:nvPicPr>
          <p:cNvPr id="45" name="Image 16" descr="preencoded.png">    </p:cNvPr>
          <p:cNvPicPr>
            <a:picLocks noChangeAspect="1"/>
          </p:cNvPicPr>
          <p:nvPr/>
        </p:nvPicPr>
        <p:blipFill>
          <a:blip r:embed="rId17"/>
          <a:stretch>
            <a:fillRect/>
          </a:stretch>
        </p:blipFill>
        <p:spPr>
          <a:xfrm>
            <a:off x="6272784" y="3739896"/>
            <a:ext cx="201168" cy="201168"/>
          </a:xfrm>
          <a:prstGeom prst="rect">
            <a:avLst/>
          </a:prstGeom>
        </p:spPr>
      </p:pic>
      <p:sp>
        <p:nvSpPr>
          <p:cNvPr id="46" name="Text 27"/>
          <p:cNvSpPr/>
          <p:nvPr/>
        </p:nvSpPr>
        <p:spPr>
          <a:xfrm>
            <a:off x="6528816" y="3712464"/>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Supported formats: RSA and ED25519</a:t>
            </a:r>
            <a:endParaRPr lang="en-US" sz="1000" dirty="0"/>
          </a:p>
        </p:txBody>
      </p:sp>
      <p:pic>
        <p:nvPicPr>
          <p:cNvPr id="47" name="Image 17" descr="preencoded.png">    </p:cNvPr>
          <p:cNvPicPr>
            <a:picLocks noChangeAspect="1"/>
          </p:cNvPicPr>
          <p:nvPr/>
        </p:nvPicPr>
        <p:blipFill>
          <a:blip r:embed="rId18"/>
          <a:stretch>
            <a:fillRect/>
          </a:stretch>
        </p:blipFill>
        <p:spPr>
          <a:xfrm>
            <a:off x="6272784" y="4261104"/>
            <a:ext cx="201168" cy="201168"/>
          </a:xfrm>
          <a:prstGeom prst="rect">
            <a:avLst/>
          </a:prstGeom>
        </p:spPr>
      </p:pic>
      <p:sp>
        <p:nvSpPr>
          <p:cNvPr id="48" name="Text 28"/>
          <p:cNvSpPr/>
          <p:nvPr/>
        </p:nvSpPr>
        <p:spPr>
          <a:xfrm>
            <a:off x="6528816" y="4233672"/>
            <a:ext cx="2423160" cy="36576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Cannot be recovered if lost — store securely!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32F3E"/>
          </a:solidFill>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Core Terminologies — Part 2</a:t>
            </a:r>
            <a:endParaRPr lang="en-US" sz="2600" dirty="0"/>
          </a:p>
        </p:txBody>
      </p:sp>
      <p:sp>
        <p:nvSpPr>
          <p:cNvPr id="4" name="Shape 2"/>
          <p:cNvSpPr/>
          <p:nvPr/>
        </p:nvSpPr>
        <p:spPr>
          <a:xfrm>
            <a:off x="201168" y="1051560"/>
            <a:ext cx="4169664"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201168" y="1051560"/>
            <a:ext cx="73152" cy="1737360"/>
          </a:xfrm>
          <a:prstGeom prst="rect">
            <a:avLst/>
          </a:prstGeom>
          <a:solidFill>
            <a:srgbClr val="DC2626"/>
          </a:solidFill>
          <a:ln/>
        </p:spPr>
      </p:sp>
      <p:sp>
        <p:nvSpPr>
          <p:cNvPr id="6" name="Shape 4"/>
          <p:cNvSpPr/>
          <p:nvPr/>
        </p:nvSpPr>
        <p:spPr>
          <a:xfrm>
            <a:off x="338328" y="1280160"/>
            <a:ext cx="594360" cy="594360"/>
          </a:xfrm>
          <a:prstGeom prst="ellipse">
            <a:avLst/>
          </a:prstGeom>
          <a:solidFill>
            <a:srgbClr val="DC2626"/>
          </a:solidFill>
          <a:ln/>
        </p:spPr>
      </p:sp>
      <p:pic>
        <p:nvPicPr>
          <p:cNvPr id="7" name="Image 0" descr="preencoded.png">    </p:cNvPr>
          <p:cNvPicPr>
            <a:picLocks noChangeAspect="1"/>
          </p:cNvPicPr>
          <p:nvPr/>
        </p:nvPicPr>
        <p:blipFill>
          <a:blip r:embed="rId1"/>
          <a:stretch>
            <a:fillRect/>
          </a:stretch>
        </p:blipFill>
        <p:spPr>
          <a:xfrm>
            <a:off x="448056" y="1353312"/>
            <a:ext cx="365760" cy="365760"/>
          </a:xfrm>
          <a:prstGeom prst="rect">
            <a:avLst/>
          </a:prstGeom>
        </p:spPr>
      </p:pic>
      <p:sp>
        <p:nvSpPr>
          <p:cNvPr id="8" name="Text 5"/>
          <p:cNvSpPr/>
          <p:nvPr/>
        </p:nvSpPr>
        <p:spPr>
          <a:xfrm>
            <a:off x="1069848" y="1161288"/>
            <a:ext cx="3200400" cy="347472"/>
          </a:xfrm>
          <a:prstGeom prst="rect">
            <a:avLst/>
          </a:prstGeom>
          <a:noFill/>
          <a:ln/>
        </p:spPr>
        <p:txBody>
          <a:bodyPr wrap="square" rtlCol="0" anchor="ctr"/>
          <a:lstStyle/>
          <a:p>
            <a:pPr indent="0" marL="0">
              <a:buNone/>
            </a:pPr>
            <a:r>
              <a:rPr lang="en-US" sz="1400" b="1" dirty="0">
                <a:solidFill>
                  <a:srgbClr val="232F3E"/>
                </a:solidFill>
                <a:latin typeface="Calibri" pitchFamily="34" charset="0"/>
                <a:ea typeface="Calibri" pitchFamily="34" charset="-122"/>
                <a:cs typeface="Calibri" pitchFamily="34" charset="-120"/>
              </a:rPr>
              <a:t>Security Groups</a:t>
            </a:r>
            <a:endParaRPr lang="en-US" sz="1400" dirty="0"/>
          </a:p>
        </p:txBody>
      </p:sp>
      <p:sp>
        <p:nvSpPr>
          <p:cNvPr id="9" name="Text 6"/>
          <p:cNvSpPr/>
          <p:nvPr/>
        </p:nvSpPr>
        <p:spPr>
          <a:xfrm>
            <a:off x="1069848" y="1490472"/>
            <a:ext cx="3218688" cy="68580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Virtual firewall controlling inbound/outbound traffic to instances. Stateful rules defined by protocol, port and source/destination IP.</a:t>
            </a:r>
            <a:endParaRPr lang="en-US" sz="1000" dirty="0"/>
          </a:p>
        </p:txBody>
      </p:sp>
      <p:sp>
        <p:nvSpPr>
          <p:cNvPr id="10" name="Shape 7"/>
          <p:cNvSpPr/>
          <p:nvPr/>
        </p:nvSpPr>
        <p:spPr>
          <a:xfrm>
            <a:off x="329184" y="2496312"/>
            <a:ext cx="978408" cy="219456"/>
          </a:xfrm>
          <a:prstGeom prst="roundRect">
            <a:avLst>
              <a:gd name="adj" fmla="val 20833"/>
            </a:avLst>
          </a:prstGeom>
          <a:solidFill>
            <a:srgbClr val="DC2626">
              <a:alpha val="20000"/>
            </a:srgbClr>
          </a:solidFill>
          <a:ln/>
        </p:spPr>
      </p:sp>
      <p:sp>
        <p:nvSpPr>
          <p:cNvPr id="11" name="Text 8"/>
          <p:cNvSpPr/>
          <p:nvPr/>
        </p:nvSpPr>
        <p:spPr>
          <a:xfrm>
            <a:off x="329184" y="2496312"/>
            <a:ext cx="978408" cy="219456"/>
          </a:xfrm>
          <a:prstGeom prst="rect">
            <a:avLst/>
          </a:prstGeom>
          <a:noFill/>
          <a:ln/>
        </p:spPr>
        <p:txBody>
          <a:bodyPr wrap="square"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Stateful Firewall</a:t>
            </a:r>
            <a:endParaRPr lang="en-US" sz="700" dirty="0"/>
          </a:p>
        </p:txBody>
      </p:sp>
      <p:sp>
        <p:nvSpPr>
          <p:cNvPr id="12" name="Shape 9"/>
          <p:cNvSpPr/>
          <p:nvPr/>
        </p:nvSpPr>
        <p:spPr>
          <a:xfrm>
            <a:off x="1325880" y="2496312"/>
            <a:ext cx="978408" cy="219456"/>
          </a:xfrm>
          <a:prstGeom prst="roundRect">
            <a:avLst>
              <a:gd name="adj" fmla="val 20833"/>
            </a:avLst>
          </a:prstGeom>
          <a:solidFill>
            <a:srgbClr val="DC2626">
              <a:alpha val="20000"/>
            </a:srgbClr>
          </a:solidFill>
          <a:ln/>
        </p:spPr>
      </p:sp>
      <p:sp>
        <p:nvSpPr>
          <p:cNvPr id="13" name="Text 10"/>
          <p:cNvSpPr/>
          <p:nvPr/>
        </p:nvSpPr>
        <p:spPr>
          <a:xfrm>
            <a:off x="1325880" y="2496312"/>
            <a:ext cx="978408" cy="219456"/>
          </a:xfrm>
          <a:prstGeom prst="rect">
            <a:avLst/>
          </a:prstGeom>
          <a:noFill/>
          <a:ln/>
        </p:spPr>
        <p:txBody>
          <a:bodyPr wrap="square"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Inbound Rules</a:t>
            </a:r>
            <a:endParaRPr lang="en-US" sz="700" dirty="0"/>
          </a:p>
        </p:txBody>
      </p:sp>
      <p:sp>
        <p:nvSpPr>
          <p:cNvPr id="14" name="Shape 11"/>
          <p:cNvSpPr/>
          <p:nvPr/>
        </p:nvSpPr>
        <p:spPr>
          <a:xfrm>
            <a:off x="2322576" y="2496312"/>
            <a:ext cx="978408" cy="219456"/>
          </a:xfrm>
          <a:prstGeom prst="roundRect">
            <a:avLst>
              <a:gd name="adj" fmla="val 20833"/>
            </a:avLst>
          </a:prstGeom>
          <a:solidFill>
            <a:srgbClr val="DC2626">
              <a:alpha val="20000"/>
            </a:srgbClr>
          </a:solidFill>
          <a:ln/>
        </p:spPr>
      </p:sp>
      <p:sp>
        <p:nvSpPr>
          <p:cNvPr id="15" name="Text 12"/>
          <p:cNvSpPr/>
          <p:nvPr/>
        </p:nvSpPr>
        <p:spPr>
          <a:xfrm>
            <a:off x="2322576" y="2496312"/>
            <a:ext cx="978408" cy="219456"/>
          </a:xfrm>
          <a:prstGeom prst="rect">
            <a:avLst/>
          </a:prstGeom>
          <a:noFill/>
          <a:ln/>
        </p:spPr>
        <p:txBody>
          <a:bodyPr wrap="square"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Outbound Rules</a:t>
            </a:r>
            <a:endParaRPr lang="en-US" sz="700" dirty="0"/>
          </a:p>
        </p:txBody>
      </p:sp>
      <p:sp>
        <p:nvSpPr>
          <p:cNvPr id="16" name="Shape 13"/>
          <p:cNvSpPr/>
          <p:nvPr/>
        </p:nvSpPr>
        <p:spPr>
          <a:xfrm>
            <a:off x="3319272" y="2496312"/>
            <a:ext cx="978408" cy="219456"/>
          </a:xfrm>
          <a:prstGeom prst="roundRect">
            <a:avLst>
              <a:gd name="adj" fmla="val 20833"/>
            </a:avLst>
          </a:prstGeom>
          <a:solidFill>
            <a:srgbClr val="DC2626">
              <a:alpha val="20000"/>
            </a:srgbClr>
          </a:solidFill>
          <a:ln/>
        </p:spPr>
      </p:sp>
      <p:sp>
        <p:nvSpPr>
          <p:cNvPr id="17" name="Text 14"/>
          <p:cNvSpPr/>
          <p:nvPr/>
        </p:nvSpPr>
        <p:spPr>
          <a:xfrm>
            <a:off x="3319272" y="2496312"/>
            <a:ext cx="978408" cy="219456"/>
          </a:xfrm>
          <a:prstGeom prst="rect">
            <a:avLst/>
          </a:prstGeom>
          <a:noFill/>
          <a:ln/>
        </p:spPr>
        <p:txBody>
          <a:bodyPr wrap="square"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Port Control</a:t>
            </a:r>
            <a:endParaRPr lang="en-US" sz="700" dirty="0"/>
          </a:p>
        </p:txBody>
      </p:sp>
      <p:sp>
        <p:nvSpPr>
          <p:cNvPr id="18" name="Shape 15"/>
          <p:cNvSpPr/>
          <p:nvPr/>
        </p:nvSpPr>
        <p:spPr>
          <a:xfrm>
            <a:off x="4681728" y="1051560"/>
            <a:ext cx="4169664"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6"/>
          <p:cNvSpPr/>
          <p:nvPr/>
        </p:nvSpPr>
        <p:spPr>
          <a:xfrm>
            <a:off x="4681728" y="1051560"/>
            <a:ext cx="73152" cy="1737360"/>
          </a:xfrm>
          <a:prstGeom prst="rect">
            <a:avLst/>
          </a:prstGeom>
          <a:solidFill>
            <a:srgbClr val="7C3AED"/>
          </a:solidFill>
          <a:ln/>
        </p:spPr>
      </p:sp>
      <p:sp>
        <p:nvSpPr>
          <p:cNvPr id="20" name="Shape 17"/>
          <p:cNvSpPr/>
          <p:nvPr/>
        </p:nvSpPr>
        <p:spPr>
          <a:xfrm>
            <a:off x="4818888" y="1280160"/>
            <a:ext cx="594360" cy="594360"/>
          </a:xfrm>
          <a:prstGeom prst="ellipse">
            <a:avLst/>
          </a:prstGeom>
          <a:solidFill>
            <a:srgbClr val="7C3AED"/>
          </a:solidFill>
          <a:ln/>
        </p:spPr>
      </p:sp>
      <p:pic>
        <p:nvPicPr>
          <p:cNvPr id="21" name="Image 1" descr="preencoded.png">    </p:cNvPr>
          <p:cNvPicPr>
            <a:picLocks noChangeAspect="1"/>
          </p:cNvPicPr>
          <p:nvPr/>
        </p:nvPicPr>
        <p:blipFill>
          <a:blip r:embed="rId2"/>
          <a:stretch>
            <a:fillRect/>
          </a:stretch>
        </p:blipFill>
        <p:spPr>
          <a:xfrm>
            <a:off x="4928616" y="1353312"/>
            <a:ext cx="365760" cy="365760"/>
          </a:xfrm>
          <a:prstGeom prst="rect">
            <a:avLst/>
          </a:prstGeom>
        </p:spPr>
      </p:pic>
      <p:sp>
        <p:nvSpPr>
          <p:cNvPr id="22" name="Text 18"/>
          <p:cNvSpPr/>
          <p:nvPr/>
        </p:nvSpPr>
        <p:spPr>
          <a:xfrm>
            <a:off x="5550408" y="1161288"/>
            <a:ext cx="3200400" cy="347472"/>
          </a:xfrm>
          <a:prstGeom prst="rect">
            <a:avLst/>
          </a:prstGeom>
          <a:noFill/>
          <a:ln/>
        </p:spPr>
        <p:txBody>
          <a:bodyPr wrap="square" rtlCol="0" anchor="ctr"/>
          <a:lstStyle/>
          <a:p>
            <a:pPr indent="0" marL="0">
              <a:buNone/>
            </a:pPr>
            <a:r>
              <a:rPr lang="en-US" sz="1400" b="1" dirty="0">
                <a:solidFill>
                  <a:srgbClr val="232F3E"/>
                </a:solidFill>
                <a:latin typeface="Calibri" pitchFamily="34" charset="0"/>
                <a:ea typeface="Calibri" pitchFamily="34" charset="-122"/>
                <a:cs typeface="Calibri" pitchFamily="34" charset="-120"/>
              </a:rPr>
              <a:t>VPC &amp; Subnets</a:t>
            </a:r>
            <a:endParaRPr lang="en-US" sz="1400" dirty="0"/>
          </a:p>
        </p:txBody>
      </p:sp>
      <p:sp>
        <p:nvSpPr>
          <p:cNvPr id="23" name="Text 19"/>
          <p:cNvSpPr/>
          <p:nvPr/>
        </p:nvSpPr>
        <p:spPr>
          <a:xfrm>
            <a:off x="5550408" y="1490472"/>
            <a:ext cx="3218688" cy="68580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Virtual Private Cloud is an isolated network in AWS. Subnets divide the VPC into public (internet-facing) and private segments.</a:t>
            </a:r>
            <a:endParaRPr lang="en-US" sz="1000" dirty="0"/>
          </a:p>
        </p:txBody>
      </p:sp>
      <p:sp>
        <p:nvSpPr>
          <p:cNvPr id="24" name="Shape 20"/>
          <p:cNvSpPr/>
          <p:nvPr/>
        </p:nvSpPr>
        <p:spPr>
          <a:xfrm>
            <a:off x="4809744" y="2496312"/>
            <a:ext cx="978408" cy="219456"/>
          </a:xfrm>
          <a:prstGeom prst="roundRect">
            <a:avLst>
              <a:gd name="adj" fmla="val 20833"/>
            </a:avLst>
          </a:prstGeom>
          <a:solidFill>
            <a:srgbClr val="7C3AED">
              <a:alpha val="20000"/>
            </a:srgbClr>
          </a:solidFill>
          <a:ln/>
        </p:spPr>
      </p:sp>
      <p:sp>
        <p:nvSpPr>
          <p:cNvPr id="25" name="Text 21"/>
          <p:cNvSpPr/>
          <p:nvPr/>
        </p:nvSpPr>
        <p:spPr>
          <a:xfrm>
            <a:off x="4809744" y="2496312"/>
            <a:ext cx="978408" cy="219456"/>
          </a:xfrm>
          <a:prstGeom prst="rect">
            <a:avLst/>
          </a:prstGeom>
          <a:noFill/>
          <a:ln/>
        </p:spPr>
        <p:txBody>
          <a:bodyPr wrap="square" rtlCol="0" anchor="ctr"/>
          <a:lstStyle/>
          <a:p>
            <a:pPr algn="ctr" indent="0" marL="0">
              <a:buNone/>
            </a:pPr>
            <a:r>
              <a:rPr lang="en-US" sz="700" b="1" dirty="0">
                <a:solidFill>
                  <a:srgbClr val="7C3AED"/>
                </a:solidFill>
                <a:latin typeface="Calibri" pitchFamily="34" charset="0"/>
                <a:ea typeface="Calibri" pitchFamily="34" charset="-122"/>
                <a:cs typeface="Calibri" pitchFamily="34" charset="-120"/>
              </a:rPr>
              <a:t>Isolated Network</a:t>
            </a:r>
            <a:endParaRPr lang="en-US" sz="700" dirty="0"/>
          </a:p>
        </p:txBody>
      </p:sp>
      <p:sp>
        <p:nvSpPr>
          <p:cNvPr id="26" name="Shape 22"/>
          <p:cNvSpPr/>
          <p:nvPr/>
        </p:nvSpPr>
        <p:spPr>
          <a:xfrm>
            <a:off x="5806440" y="2496312"/>
            <a:ext cx="978408" cy="219456"/>
          </a:xfrm>
          <a:prstGeom prst="roundRect">
            <a:avLst>
              <a:gd name="adj" fmla="val 20833"/>
            </a:avLst>
          </a:prstGeom>
          <a:solidFill>
            <a:srgbClr val="7C3AED">
              <a:alpha val="20000"/>
            </a:srgbClr>
          </a:solidFill>
          <a:ln/>
        </p:spPr>
      </p:sp>
      <p:sp>
        <p:nvSpPr>
          <p:cNvPr id="27" name="Text 23"/>
          <p:cNvSpPr/>
          <p:nvPr/>
        </p:nvSpPr>
        <p:spPr>
          <a:xfrm>
            <a:off x="5806440" y="2496312"/>
            <a:ext cx="978408" cy="219456"/>
          </a:xfrm>
          <a:prstGeom prst="rect">
            <a:avLst/>
          </a:prstGeom>
          <a:noFill/>
          <a:ln/>
        </p:spPr>
        <p:txBody>
          <a:bodyPr wrap="square" rtlCol="0" anchor="ctr"/>
          <a:lstStyle/>
          <a:p>
            <a:pPr algn="ctr" indent="0" marL="0">
              <a:buNone/>
            </a:pPr>
            <a:r>
              <a:rPr lang="en-US" sz="700" b="1" dirty="0">
                <a:solidFill>
                  <a:srgbClr val="7C3AED"/>
                </a:solidFill>
                <a:latin typeface="Calibri" pitchFamily="34" charset="0"/>
                <a:ea typeface="Calibri" pitchFamily="34" charset="-122"/>
                <a:cs typeface="Calibri" pitchFamily="34" charset="-120"/>
              </a:rPr>
              <a:t>Public Subnet</a:t>
            </a:r>
            <a:endParaRPr lang="en-US" sz="700" dirty="0"/>
          </a:p>
        </p:txBody>
      </p:sp>
      <p:sp>
        <p:nvSpPr>
          <p:cNvPr id="28" name="Shape 24"/>
          <p:cNvSpPr/>
          <p:nvPr/>
        </p:nvSpPr>
        <p:spPr>
          <a:xfrm>
            <a:off x="6803136" y="2496312"/>
            <a:ext cx="978408" cy="219456"/>
          </a:xfrm>
          <a:prstGeom prst="roundRect">
            <a:avLst>
              <a:gd name="adj" fmla="val 20833"/>
            </a:avLst>
          </a:prstGeom>
          <a:solidFill>
            <a:srgbClr val="7C3AED">
              <a:alpha val="20000"/>
            </a:srgbClr>
          </a:solidFill>
          <a:ln/>
        </p:spPr>
      </p:sp>
      <p:sp>
        <p:nvSpPr>
          <p:cNvPr id="29" name="Text 25"/>
          <p:cNvSpPr/>
          <p:nvPr/>
        </p:nvSpPr>
        <p:spPr>
          <a:xfrm>
            <a:off x="6803136" y="2496312"/>
            <a:ext cx="978408" cy="219456"/>
          </a:xfrm>
          <a:prstGeom prst="rect">
            <a:avLst/>
          </a:prstGeom>
          <a:noFill/>
          <a:ln/>
        </p:spPr>
        <p:txBody>
          <a:bodyPr wrap="square" rtlCol="0" anchor="ctr"/>
          <a:lstStyle/>
          <a:p>
            <a:pPr algn="ctr" indent="0" marL="0">
              <a:buNone/>
            </a:pPr>
            <a:r>
              <a:rPr lang="en-US" sz="700" b="1" dirty="0">
                <a:solidFill>
                  <a:srgbClr val="7C3AED"/>
                </a:solidFill>
                <a:latin typeface="Calibri" pitchFamily="34" charset="0"/>
                <a:ea typeface="Calibri" pitchFamily="34" charset="-122"/>
                <a:cs typeface="Calibri" pitchFamily="34" charset="-120"/>
              </a:rPr>
              <a:t>Private Subnet</a:t>
            </a:r>
            <a:endParaRPr lang="en-US" sz="700" dirty="0"/>
          </a:p>
        </p:txBody>
      </p:sp>
      <p:sp>
        <p:nvSpPr>
          <p:cNvPr id="30" name="Shape 26"/>
          <p:cNvSpPr/>
          <p:nvPr/>
        </p:nvSpPr>
        <p:spPr>
          <a:xfrm>
            <a:off x="7799832" y="2496312"/>
            <a:ext cx="978408" cy="219456"/>
          </a:xfrm>
          <a:prstGeom prst="roundRect">
            <a:avLst>
              <a:gd name="adj" fmla="val 20833"/>
            </a:avLst>
          </a:prstGeom>
          <a:solidFill>
            <a:srgbClr val="7C3AED">
              <a:alpha val="20000"/>
            </a:srgbClr>
          </a:solidFill>
          <a:ln/>
        </p:spPr>
      </p:sp>
      <p:sp>
        <p:nvSpPr>
          <p:cNvPr id="31" name="Text 27"/>
          <p:cNvSpPr/>
          <p:nvPr/>
        </p:nvSpPr>
        <p:spPr>
          <a:xfrm>
            <a:off x="7799832" y="2496312"/>
            <a:ext cx="978408" cy="219456"/>
          </a:xfrm>
          <a:prstGeom prst="rect">
            <a:avLst/>
          </a:prstGeom>
          <a:noFill/>
          <a:ln/>
        </p:spPr>
        <p:txBody>
          <a:bodyPr wrap="square" rtlCol="0" anchor="ctr"/>
          <a:lstStyle/>
          <a:p>
            <a:pPr algn="ctr" indent="0" marL="0">
              <a:buNone/>
            </a:pPr>
            <a:r>
              <a:rPr lang="en-US" sz="700" b="1" dirty="0">
                <a:solidFill>
                  <a:srgbClr val="7C3AED"/>
                </a:solidFill>
                <a:latin typeface="Calibri" pitchFamily="34" charset="0"/>
                <a:ea typeface="Calibri" pitchFamily="34" charset="-122"/>
                <a:cs typeface="Calibri" pitchFamily="34" charset="-120"/>
              </a:rPr>
              <a:t>Route Tables</a:t>
            </a:r>
            <a:endParaRPr lang="en-US" sz="700" dirty="0"/>
          </a:p>
        </p:txBody>
      </p:sp>
      <p:sp>
        <p:nvSpPr>
          <p:cNvPr id="32" name="Shape 28"/>
          <p:cNvSpPr/>
          <p:nvPr/>
        </p:nvSpPr>
        <p:spPr>
          <a:xfrm>
            <a:off x="201168" y="2990088"/>
            <a:ext cx="4169664"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3" name="Shape 29"/>
          <p:cNvSpPr/>
          <p:nvPr/>
        </p:nvSpPr>
        <p:spPr>
          <a:xfrm>
            <a:off x="201168" y="2990088"/>
            <a:ext cx="73152" cy="1737360"/>
          </a:xfrm>
          <a:prstGeom prst="rect">
            <a:avLst/>
          </a:prstGeom>
          <a:solidFill>
            <a:srgbClr val="0891B2"/>
          </a:solidFill>
          <a:ln/>
        </p:spPr>
      </p:sp>
      <p:sp>
        <p:nvSpPr>
          <p:cNvPr id="34" name="Shape 30"/>
          <p:cNvSpPr/>
          <p:nvPr/>
        </p:nvSpPr>
        <p:spPr>
          <a:xfrm>
            <a:off x="338328" y="3218688"/>
            <a:ext cx="594360" cy="594360"/>
          </a:xfrm>
          <a:prstGeom prst="ellipse">
            <a:avLst/>
          </a:prstGeom>
          <a:solidFill>
            <a:srgbClr val="0891B2"/>
          </a:solidFill>
          <a:ln/>
        </p:spPr>
      </p:sp>
      <p:pic>
        <p:nvPicPr>
          <p:cNvPr id="35" name="Image 2" descr="preencoded.png">    </p:cNvPr>
          <p:cNvPicPr>
            <a:picLocks noChangeAspect="1"/>
          </p:cNvPicPr>
          <p:nvPr/>
        </p:nvPicPr>
        <p:blipFill>
          <a:blip r:embed="rId3"/>
          <a:stretch>
            <a:fillRect/>
          </a:stretch>
        </p:blipFill>
        <p:spPr>
          <a:xfrm>
            <a:off x="448056" y="3291840"/>
            <a:ext cx="365760" cy="365760"/>
          </a:xfrm>
          <a:prstGeom prst="rect">
            <a:avLst/>
          </a:prstGeom>
        </p:spPr>
      </p:pic>
      <p:sp>
        <p:nvSpPr>
          <p:cNvPr id="36" name="Text 31"/>
          <p:cNvSpPr/>
          <p:nvPr/>
        </p:nvSpPr>
        <p:spPr>
          <a:xfrm>
            <a:off x="1069848" y="3099816"/>
            <a:ext cx="3200400" cy="347472"/>
          </a:xfrm>
          <a:prstGeom prst="rect">
            <a:avLst/>
          </a:prstGeom>
          <a:noFill/>
          <a:ln/>
        </p:spPr>
        <p:txBody>
          <a:bodyPr wrap="square" rtlCol="0" anchor="ctr"/>
          <a:lstStyle/>
          <a:p>
            <a:pPr indent="0" marL="0">
              <a:buNone/>
            </a:pPr>
            <a:r>
              <a:rPr lang="en-US" sz="1400" b="1" dirty="0">
                <a:solidFill>
                  <a:srgbClr val="232F3E"/>
                </a:solidFill>
                <a:latin typeface="Calibri" pitchFamily="34" charset="0"/>
                <a:ea typeface="Calibri" pitchFamily="34" charset="-122"/>
                <a:cs typeface="Calibri" pitchFamily="34" charset="-120"/>
              </a:rPr>
              <a:t>EBS Volumes</a:t>
            </a:r>
            <a:endParaRPr lang="en-US" sz="1400" dirty="0"/>
          </a:p>
        </p:txBody>
      </p:sp>
      <p:sp>
        <p:nvSpPr>
          <p:cNvPr id="37" name="Text 32"/>
          <p:cNvSpPr/>
          <p:nvPr/>
        </p:nvSpPr>
        <p:spPr>
          <a:xfrm>
            <a:off x="1069848" y="3429000"/>
            <a:ext cx="3218688" cy="68580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Elastic Block Store provides persistent block storage for EC2. Data persists beyond instance lifecycle. Multiple types: gp3, io2, st1, sc1.</a:t>
            </a:r>
            <a:endParaRPr lang="en-US" sz="1000" dirty="0"/>
          </a:p>
        </p:txBody>
      </p:sp>
      <p:sp>
        <p:nvSpPr>
          <p:cNvPr id="38" name="Shape 33"/>
          <p:cNvSpPr/>
          <p:nvPr/>
        </p:nvSpPr>
        <p:spPr>
          <a:xfrm>
            <a:off x="329184" y="4434840"/>
            <a:ext cx="978408" cy="219456"/>
          </a:xfrm>
          <a:prstGeom prst="roundRect">
            <a:avLst>
              <a:gd name="adj" fmla="val 20833"/>
            </a:avLst>
          </a:prstGeom>
          <a:solidFill>
            <a:srgbClr val="0891B2">
              <a:alpha val="20000"/>
            </a:srgbClr>
          </a:solidFill>
          <a:ln/>
        </p:spPr>
      </p:sp>
      <p:sp>
        <p:nvSpPr>
          <p:cNvPr id="39" name="Text 34"/>
          <p:cNvSpPr/>
          <p:nvPr/>
        </p:nvSpPr>
        <p:spPr>
          <a:xfrm>
            <a:off x="329184" y="4434840"/>
            <a:ext cx="978408" cy="219456"/>
          </a:xfrm>
          <a:prstGeom prst="rect">
            <a:avLst/>
          </a:prstGeom>
          <a:noFill/>
          <a:ln/>
        </p:spPr>
        <p:txBody>
          <a:bodyPr wrap="square" rtlCol="0" anchor="ctr"/>
          <a:lstStyle/>
          <a:p>
            <a:pPr algn="ctr" indent="0" marL="0">
              <a:buNone/>
            </a:pPr>
            <a:r>
              <a:rPr lang="en-US" sz="700" b="1" dirty="0">
                <a:solidFill>
                  <a:srgbClr val="0891B2"/>
                </a:solidFill>
                <a:latin typeface="Calibri" pitchFamily="34" charset="0"/>
                <a:ea typeface="Calibri" pitchFamily="34" charset="-122"/>
                <a:cs typeface="Calibri" pitchFamily="34" charset="-120"/>
              </a:rPr>
              <a:t>gp3 SSD</a:t>
            </a:r>
            <a:endParaRPr lang="en-US" sz="700" dirty="0"/>
          </a:p>
        </p:txBody>
      </p:sp>
      <p:sp>
        <p:nvSpPr>
          <p:cNvPr id="40" name="Shape 35"/>
          <p:cNvSpPr/>
          <p:nvPr/>
        </p:nvSpPr>
        <p:spPr>
          <a:xfrm>
            <a:off x="1325880" y="4434840"/>
            <a:ext cx="978408" cy="219456"/>
          </a:xfrm>
          <a:prstGeom prst="roundRect">
            <a:avLst>
              <a:gd name="adj" fmla="val 20833"/>
            </a:avLst>
          </a:prstGeom>
          <a:solidFill>
            <a:srgbClr val="0891B2">
              <a:alpha val="20000"/>
            </a:srgbClr>
          </a:solidFill>
          <a:ln/>
        </p:spPr>
      </p:sp>
      <p:sp>
        <p:nvSpPr>
          <p:cNvPr id="41" name="Text 36"/>
          <p:cNvSpPr/>
          <p:nvPr/>
        </p:nvSpPr>
        <p:spPr>
          <a:xfrm>
            <a:off x="1325880" y="4434840"/>
            <a:ext cx="978408" cy="219456"/>
          </a:xfrm>
          <a:prstGeom prst="rect">
            <a:avLst/>
          </a:prstGeom>
          <a:noFill/>
          <a:ln/>
        </p:spPr>
        <p:txBody>
          <a:bodyPr wrap="square" rtlCol="0" anchor="ctr"/>
          <a:lstStyle/>
          <a:p>
            <a:pPr algn="ctr" indent="0" marL="0">
              <a:buNone/>
            </a:pPr>
            <a:r>
              <a:rPr lang="en-US" sz="700" b="1" dirty="0">
                <a:solidFill>
                  <a:srgbClr val="0891B2"/>
                </a:solidFill>
                <a:latin typeface="Calibri" pitchFamily="34" charset="0"/>
                <a:ea typeface="Calibri" pitchFamily="34" charset="-122"/>
                <a:cs typeface="Calibri" pitchFamily="34" charset="-120"/>
              </a:rPr>
              <a:t>io2 IOPS SSD</a:t>
            </a:r>
            <a:endParaRPr lang="en-US" sz="700" dirty="0"/>
          </a:p>
        </p:txBody>
      </p:sp>
      <p:sp>
        <p:nvSpPr>
          <p:cNvPr id="42" name="Shape 37"/>
          <p:cNvSpPr/>
          <p:nvPr/>
        </p:nvSpPr>
        <p:spPr>
          <a:xfrm>
            <a:off x="2322576" y="4434840"/>
            <a:ext cx="978408" cy="219456"/>
          </a:xfrm>
          <a:prstGeom prst="roundRect">
            <a:avLst>
              <a:gd name="adj" fmla="val 20833"/>
            </a:avLst>
          </a:prstGeom>
          <a:solidFill>
            <a:srgbClr val="0891B2">
              <a:alpha val="20000"/>
            </a:srgbClr>
          </a:solidFill>
          <a:ln/>
        </p:spPr>
      </p:sp>
      <p:sp>
        <p:nvSpPr>
          <p:cNvPr id="43" name="Text 38"/>
          <p:cNvSpPr/>
          <p:nvPr/>
        </p:nvSpPr>
        <p:spPr>
          <a:xfrm>
            <a:off x="2322576" y="4434840"/>
            <a:ext cx="978408" cy="219456"/>
          </a:xfrm>
          <a:prstGeom prst="rect">
            <a:avLst/>
          </a:prstGeom>
          <a:noFill/>
          <a:ln/>
        </p:spPr>
        <p:txBody>
          <a:bodyPr wrap="square" rtlCol="0" anchor="ctr"/>
          <a:lstStyle/>
          <a:p>
            <a:pPr algn="ctr" indent="0" marL="0">
              <a:buNone/>
            </a:pPr>
            <a:r>
              <a:rPr lang="en-US" sz="700" b="1" dirty="0">
                <a:solidFill>
                  <a:srgbClr val="0891B2"/>
                </a:solidFill>
                <a:latin typeface="Calibri" pitchFamily="34" charset="0"/>
                <a:ea typeface="Calibri" pitchFamily="34" charset="-122"/>
                <a:cs typeface="Calibri" pitchFamily="34" charset="-120"/>
              </a:rPr>
              <a:t>Snapshots</a:t>
            </a:r>
            <a:endParaRPr lang="en-US" sz="700" dirty="0"/>
          </a:p>
        </p:txBody>
      </p:sp>
      <p:sp>
        <p:nvSpPr>
          <p:cNvPr id="44" name="Shape 39"/>
          <p:cNvSpPr/>
          <p:nvPr/>
        </p:nvSpPr>
        <p:spPr>
          <a:xfrm>
            <a:off x="3319272" y="4434840"/>
            <a:ext cx="978408" cy="219456"/>
          </a:xfrm>
          <a:prstGeom prst="roundRect">
            <a:avLst>
              <a:gd name="adj" fmla="val 20833"/>
            </a:avLst>
          </a:prstGeom>
          <a:solidFill>
            <a:srgbClr val="0891B2">
              <a:alpha val="20000"/>
            </a:srgbClr>
          </a:solidFill>
          <a:ln/>
        </p:spPr>
      </p:sp>
      <p:sp>
        <p:nvSpPr>
          <p:cNvPr id="45" name="Text 40"/>
          <p:cNvSpPr/>
          <p:nvPr/>
        </p:nvSpPr>
        <p:spPr>
          <a:xfrm>
            <a:off x="3319272" y="4434840"/>
            <a:ext cx="978408" cy="219456"/>
          </a:xfrm>
          <a:prstGeom prst="rect">
            <a:avLst/>
          </a:prstGeom>
          <a:noFill/>
          <a:ln/>
        </p:spPr>
        <p:txBody>
          <a:bodyPr wrap="square" rtlCol="0" anchor="ctr"/>
          <a:lstStyle/>
          <a:p>
            <a:pPr algn="ctr" indent="0" marL="0">
              <a:buNone/>
            </a:pPr>
            <a:r>
              <a:rPr lang="en-US" sz="700" b="1" dirty="0">
                <a:solidFill>
                  <a:srgbClr val="0891B2"/>
                </a:solidFill>
                <a:latin typeface="Calibri" pitchFamily="34" charset="0"/>
                <a:ea typeface="Calibri" pitchFamily="34" charset="-122"/>
                <a:cs typeface="Calibri" pitchFamily="34" charset="-120"/>
              </a:rPr>
              <a:t>Encryption</a:t>
            </a:r>
            <a:endParaRPr lang="en-US" sz="700" dirty="0"/>
          </a:p>
        </p:txBody>
      </p:sp>
      <p:sp>
        <p:nvSpPr>
          <p:cNvPr id="46" name="Shape 41"/>
          <p:cNvSpPr/>
          <p:nvPr/>
        </p:nvSpPr>
        <p:spPr>
          <a:xfrm>
            <a:off x="4681728" y="2990088"/>
            <a:ext cx="4169664"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7" name="Shape 42"/>
          <p:cNvSpPr/>
          <p:nvPr/>
        </p:nvSpPr>
        <p:spPr>
          <a:xfrm>
            <a:off x="4681728" y="2990088"/>
            <a:ext cx="73152" cy="1737360"/>
          </a:xfrm>
          <a:prstGeom prst="rect">
            <a:avLst/>
          </a:prstGeom>
          <a:solidFill>
            <a:srgbClr val="16A34A"/>
          </a:solidFill>
          <a:ln/>
        </p:spPr>
      </p:sp>
      <p:sp>
        <p:nvSpPr>
          <p:cNvPr id="48" name="Shape 43"/>
          <p:cNvSpPr/>
          <p:nvPr/>
        </p:nvSpPr>
        <p:spPr>
          <a:xfrm>
            <a:off x="4818888" y="3218688"/>
            <a:ext cx="594360" cy="594360"/>
          </a:xfrm>
          <a:prstGeom prst="ellipse">
            <a:avLst/>
          </a:prstGeom>
          <a:solidFill>
            <a:srgbClr val="16A34A"/>
          </a:solidFill>
          <a:ln/>
        </p:spPr>
      </p:sp>
      <p:pic>
        <p:nvPicPr>
          <p:cNvPr id="49" name="Image 3" descr="preencoded.png">    </p:cNvPr>
          <p:cNvPicPr>
            <a:picLocks noChangeAspect="1"/>
          </p:cNvPicPr>
          <p:nvPr/>
        </p:nvPicPr>
        <p:blipFill>
          <a:blip r:embed="rId4"/>
          <a:stretch>
            <a:fillRect/>
          </a:stretch>
        </p:blipFill>
        <p:spPr>
          <a:xfrm>
            <a:off x="4928616" y="3291840"/>
            <a:ext cx="365760" cy="365760"/>
          </a:xfrm>
          <a:prstGeom prst="rect">
            <a:avLst/>
          </a:prstGeom>
        </p:spPr>
      </p:pic>
      <p:sp>
        <p:nvSpPr>
          <p:cNvPr id="50" name="Text 44"/>
          <p:cNvSpPr/>
          <p:nvPr/>
        </p:nvSpPr>
        <p:spPr>
          <a:xfrm>
            <a:off x="5550408" y="3099816"/>
            <a:ext cx="3200400" cy="347472"/>
          </a:xfrm>
          <a:prstGeom prst="rect">
            <a:avLst/>
          </a:prstGeom>
          <a:noFill/>
          <a:ln/>
        </p:spPr>
        <p:txBody>
          <a:bodyPr wrap="square" rtlCol="0" anchor="ctr"/>
          <a:lstStyle/>
          <a:p>
            <a:pPr indent="0" marL="0">
              <a:buNone/>
            </a:pPr>
            <a:r>
              <a:rPr lang="en-US" sz="1400" b="1" dirty="0">
                <a:solidFill>
                  <a:srgbClr val="232F3E"/>
                </a:solidFill>
                <a:latin typeface="Calibri" pitchFamily="34" charset="0"/>
                <a:ea typeface="Calibri" pitchFamily="34" charset="-122"/>
                <a:cs typeface="Calibri" pitchFamily="34" charset="-120"/>
              </a:rPr>
              <a:t>Elastic IP</a:t>
            </a:r>
            <a:endParaRPr lang="en-US" sz="1400" dirty="0"/>
          </a:p>
        </p:txBody>
      </p:sp>
      <p:sp>
        <p:nvSpPr>
          <p:cNvPr id="51" name="Text 45"/>
          <p:cNvSpPr/>
          <p:nvPr/>
        </p:nvSpPr>
        <p:spPr>
          <a:xfrm>
            <a:off x="5550408" y="3429000"/>
            <a:ext cx="3218688" cy="685800"/>
          </a:xfrm>
          <a:prstGeom prst="rect">
            <a:avLst/>
          </a:prstGeom>
          <a:noFill/>
          <a:ln/>
        </p:spPr>
        <p:txBody>
          <a:bodyPr wrap="square" rtlCol="0" anchor="ctr"/>
          <a:lstStyle/>
          <a:p>
            <a:pPr indent="0" marL="0">
              <a:buNone/>
            </a:pPr>
            <a:r>
              <a:rPr lang="en-US" sz="1000" dirty="0">
                <a:solidFill>
                  <a:srgbClr val="2D3748"/>
                </a:solidFill>
                <a:latin typeface="Calibri" pitchFamily="34" charset="0"/>
                <a:ea typeface="Calibri" pitchFamily="34" charset="-122"/>
                <a:cs typeface="Calibri" pitchFamily="34" charset="-120"/>
              </a:rPr>
              <a:t>Static public IPv4 address allocated to your AWS account. Remains fixed even if instance is stopped or restarted. Masks instance failures.</a:t>
            </a:r>
            <a:endParaRPr lang="en-US" sz="1000" dirty="0"/>
          </a:p>
        </p:txBody>
      </p:sp>
      <p:sp>
        <p:nvSpPr>
          <p:cNvPr id="52" name="Shape 46"/>
          <p:cNvSpPr/>
          <p:nvPr/>
        </p:nvSpPr>
        <p:spPr>
          <a:xfrm>
            <a:off x="4809744" y="4434840"/>
            <a:ext cx="978408" cy="219456"/>
          </a:xfrm>
          <a:prstGeom prst="roundRect">
            <a:avLst>
              <a:gd name="adj" fmla="val 20833"/>
            </a:avLst>
          </a:prstGeom>
          <a:solidFill>
            <a:srgbClr val="16A34A">
              <a:alpha val="20000"/>
            </a:srgbClr>
          </a:solidFill>
          <a:ln/>
        </p:spPr>
      </p:sp>
      <p:sp>
        <p:nvSpPr>
          <p:cNvPr id="53" name="Text 47"/>
          <p:cNvSpPr/>
          <p:nvPr/>
        </p:nvSpPr>
        <p:spPr>
          <a:xfrm>
            <a:off x="4809744" y="4434840"/>
            <a:ext cx="978408" cy="219456"/>
          </a:xfrm>
          <a:prstGeom prst="rect">
            <a:avLst/>
          </a:prstGeom>
          <a:noFill/>
          <a:ln/>
        </p:spPr>
        <p:txBody>
          <a:bodyPr wrap="square" rtlCol="0" anchor="ctr"/>
          <a:lstStyle/>
          <a:p>
            <a:pPr algn="ctr" indent="0" marL="0">
              <a:buNone/>
            </a:pPr>
            <a:r>
              <a:rPr lang="en-US" sz="700" b="1" dirty="0">
                <a:solidFill>
                  <a:srgbClr val="16A34A"/>
                </a:solidFill>
                <a:latin typeface="Calibri" pitchFamily="34" charset="0"/>
                <a:ea typeface="Calibri" pitchFamily="34" charset="-122"/>
                <a:cs typeface="Calibri" pitchFamily="34" charset="-120"/>
              </a:rPr>
              <a:t>Static IP</a:t>
            </a:r>
            <a:endParaRPr lang="en-US" sz="700" dirty="0"/>
          </a:p>
        </p:txBody>
      </p:sp>
      <p:sp>
        <p:nvSpPr>
          <p:cNvPr id="54" name="Shape 48"/>
          <p:cNvSpPr/>
          <p:nvPr/>
        </p:nvSpPr>
        <p:spPr>
          <a:xfrm>
            <a:off x="5806440" y="4434840"/>
            <a:ext cx="978408" cy="219456"/>
          </a:xfrm>
          <a:prstGeom prst="roundRect">
            <a:avLst>
              <a:gd name="adj" fmla="val 20833"/>
            </a:avLst>
          </a:prstGeom>
          <a:solidFill>
            <a:srgbClr val="16A34A">
              <a:alpha val="20000"/>
            </a:srgbClr>
          </a:solidFill>
          <a:ln/>
        </p:spPr>
      </p:sp>
      <p:sp>
        <p:nvSpPr>
          <p:cNvPr id="55" name="Text 49"/>
          <p:cNvSpPr/>
          <p:nvPr/>
        </p:nvSpPr>
        <p:spPr>
          <a:xfrm>
            <a:off x="5806440" y="4434840"/>
            <a:ext cx="978408" cy="219456"/>
          </a:xfrm>
          <a:prstGeom prst="rect">
            <a:avLst/>
          </a:prstGeom>
          <a:noFill/>
          <a:ln/>
        </p:spPr>
        <p:txBody>
          <a:bodyPr wrap="square" rtlCol="0" anchor="ctr"/>
          <a:lstStyle/>
          <a:p>
            <a:pPr algn="ctr" indent="0" marL="0">
              <a:buNone/>
            </a:pPr>
            <a:r>
              <a:rPr lang="en-US" sz="700" b="1" dirty="0">
                <a:solidFill>
                  <a:srgbClr val="16A34A"/>
                </a:solidFill>
                <a:latin typeface="Calibri" pitchFamily="34" charset="0"/>
                <a:ea typeface="Calibri" pitchFamily="34" charset="-122"/>
                <a:cs typeface="Calibri" pitchFamily="34" charset="-120"/>
              </a:rPr>
              <a:t>Remappable</a:t>
            </a:r>
            <a:endParaRPr lang="en-US" sz="700" dirty="0"/>
          </a:p>
        </p:txBody>
      </p:sp>
      <p:sp>
        <p:nvSpPr>
          <p:cNvPr id="56" name="Shape 50"/>
          <p:cNvSpPr/>
          <p:nvPr/>
        </p:nvSpPr>
        <p:spPr>
          <a:xfrm>
            <a:off x="6803136" y="4434840"/>
            <a:ext cx="978408" cy="219456"/>
          </a:xfrm>
          <a:prstGeom prst="roundRect">
            <a:avLst>
              <a:gd name="adj" fmla="val 20833"/>
            </a:avLst>
          </a:prstGeom>
          <a:solidFill>
            <a:srgbClr val="16A34A">
              <a:alpha val="20000"/>
            </a:srgbClr>
          </a:solidFill>
          <a:ln/>
        </p:spPr>
      </p:sp>
      <p:sp>
        <p:nvSpPr>
          <p:cNvPr id="57" name="Text 51"/>
          <p:cNvSpPr/>
          <p:nvPr/>
        </p:nvSpPr>
        <p:spPr>
          <a:xfrm>
            <a:off x="6803136" y="4434840"/>
            <a:ext cx="978408" cy="219456"/>
          </a:xfrm>
          <a:prstGeom prst="rect">
            <a:avLst/>
          </a:prstGeom>
          <a:noFill/>
          <a:ln/>
        </p:spPr>
        <p:txBody>
          <a:bodyPr wrap="square" rtlCol="0" anchor="ctr"/>
          <a:lstStyle/>
          <a:p>
            <a:pPr algn="ctr" indent="0" marL="0">
              <a:buNone/>
            </a:pPr>
            <a:r>
              <a:rPr lang="en-US" sz="700" b="1" dirty="0">
                <a:solidFill>
                  <a:srgbClr val="16A34A"/>
                </a:solidFill>
                <a:latin typeface="Calibri" pitchFamily="34" charset="0"/>
                <a:ea typeface="Calibri" pitchFamily="34" charset="-122"/>
                <a:cs typeface="Calibri" pitchFamily="34" charset="-120"/>
              </a:rPr>
              <a:t>Public IPv4</a:t>
            </a:r>
            <a:endParaRPr lang="en-US" sz="700" dirty="0"/>
          </a:p>
        </p:txBody>
      </p:sp>
      <p:sp>
        <p:nvSpPr>
          <p:cNvPr id="58" name="Shape 52"/>
          <p:cNvSpPr/>
          <p:nvPr/>
        </p:nvSpPr>
        <p:spPr>
          <a:xfrm>
            <a:off x="7799832" y="4434840"/>
            <a:ext cx="978408" cy="219456"/>
          </a:xfrm>
          <a:prstGeom prst="roundRect">
            <a:avLst>
              <a:gd name="adj" fmla="val 20833"/>
            </a:avLst>
          </a:prstGeom>
          <a:solidFill>
            <a:srgbClr val="16A34A">
              <a:alpha val="20000"/>
            </a:srgbClr>
          </a:solidFill>
          <a:ln/>
        </p:spPr>
      </p:sp>
      <p:sp>
        <p:nvSpPr>
          <p:cNvPr id="59" name="Text 53"/>
          <p:cNvSpPr/>
          <p:nvPr/>
        </p:nvSpPr>
        <p:spPr>
          <a:xfrm>
            <a:off x="7799832" y="4434840"/>
            <a:ext cx="978408" cy="219456"/>
          </a:xfrm>
          <a:prstGeom prst="rect">
            <a:avLst/>
          </a:prstGeom>
          <a:noFill/>
          <a:ln/>
        </p:spPr>
        <p:txBody>
          <a:bodyPr wrap="square" rtlCol="0" anchor="ctr"/>
          <a:lstStyle/>
          <a:p>
            <a:pPr algn="ctr" indent="0" marL="0">
              <a:buNone/>
            </a:pPr>
            <a:r>
              <a:rPr lang="en-US" sz="700" b="1" dirty="0">
                <a:solidFill>
                  <a:srgbClr val="16A34A"/>
                </a:solidFill>
                <a:latin typeface="Calibri" pitchFamily="34" charset="0"/>
                <a:ea typeface="Calibri" pitchFamily="34" charset="-122"/>
                <a:cs typeface="Calibri" pitchFamily="34" charset="-120"/>
              </a:rPr>
              <a:t>Free when in-use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32F3E"/>
          </a:solidFill>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EC2 Instance Types</a:t>
            </a:r>
            <a:endParaRPr lang="en-US" sz="2600" dirty="0"/>
          </a:p>
        </p:txBody>
      </p:sp>
      <p:sp>
        <p:nvSpPr>
          <p:cNvPr id="4" name="Shape 2"/>
          <p:cNvSpPr/>
          <p:nvPr/>
        </p:nvSpPr>
        <p:spPr>
          <a:xfrm>
            <a:off x="201168" y="1024128"/>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201168" y="1024128"/>
            <a:ext cx="2788920" cy="475488"/>
          </a:xfrm>
          <a:prstGeom prst="rect">
            <a:avLst/>
          </a:prstGeom>
          <a:solidFill>
            <a:srgbClr val="3B82F6"/>
          </a:solidFill>
          <a:ln/>
        </p:spPr>
      </p:sp>
      <p:pic>
        <p:nvPicPr>
          <p:cNvPr id="6" name="Image 0" descr="preencoded.png">    </p:cNvPr>
          <p:cNvPicPr>
            <a:picLocks noChangeAspect="1"/>
          </p:cNvPicPr>
          <p:nvPr/>
        </p:nvPicPr>
        <p:blipFill>
          <a:blip r:embed="rId1"/>
          <a:stretch>
            <a:fillRect/>
          </a:stretch>
        </p:blipFill>
        <p:spPr>
          <a:xfrm>
            <a:off x="292608" y="1115568"/>
            <a:ext cx="292608" cy="292608"/>
          </a:xfrm>
          <a:prstGeom prst="rect">
            <a:avLst/>
          </a:prstGeom>
        </p:spPr>
      </p:pic>
      <p:sp>
        <p:nvSpPr>
          <p:cNvPr id="7" name="Text 4"/>
          <p:cNvSpPr/>
          <p:nvPr/>
        </p:nvSpPr>
        <p:spPr>
          <a:xfrm>
            <a:off x="658368" y="1097280"/>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General Purpose</a:t>
            </a:r>
            <a:endParaRPr lang="en-US" sz="1200" dirty="0"/>
          </a:p>
        </p:txBody>
      </p:sp>
      <p:sp>
        <p:nvSpPr>
          <p:cNvPr id="8" name="Shape 5"/>
          <p:cNvSpPr/>
          <p:nvPr/>
        </p:nvSpPr>
        <p:spPr>
          <a:xfrm>
            <a:off x="310896" y="1563624"/>
            <a:ext cx="914400" cy="201168"/>
          </a:xfrm>
          <a:prstGeom prst="roundRect">
            <a:avLst>
              <a:gd name="adj" fmla="val 18182"/>
            </a:avLst>
          </a:prstGeom>
          <a:solidFill>
            <a:srgbClr val="3B82F6">
              <a:alpha val="25000"/>
            </a:srgbClr>
          </a:solidFill>
          <a:ln/>
        </p:spPr>
      </p:sp>
      <p:sp>
        <p:nvSpPr>
          <p:cNvPr id="9" name="Text 6"/>
          <p:cNvSpPr/>
          <p:nvPr/>
        </p:nvSpPr>
        <p:spPr>
          <a:xfrm>
            <a:off x="310896" y="1563624"/>
            <a:ext cx="914400" cy="201168"/>
          </a:xfrm>
          <a:prstGeom prst="rect">
            <a:avLst/>
          </a:prstGeom>
          <a:noFill/>
          <a:ln/>
        </p:spPr>
        <p:txBody>
          <a:bodyPr wrap="square" rtlCol="0" anchor="ctr"/>
          <a:lstStyle/>
          <a:p>
            <a:pPr algn="ctr" indent="0" marL="0">
              <a:buNone/>
            </a:pPr>
            <a:r>
              <a:rPr lang="en-US" sz="800" b="1" dirty="0">
                <a:solidFill>
                  <a:srgbClr val="3B82F6"/>
                </a:solidFill>
                <a:latin typeface="Calibri" pitchFamily="34" charset="0"/>
                <a:ea typeface="Calibri" pitchFamily="34" charset="-122"/>
                <a:cs typeface="Calibri" pitchFamily="34" charset="-120"/>
              </a:rPr>
              <a:t>Balanced CPU:RAM</a:t>
            </a:r>
            <a:endParaRPr lang="en-US" sz="800" dirty="0"/>
          </a:p>
        </p:txBody>
      </p:sp>
      <p:sp>
        <p:nvSpPr>
          <p:cNvPr id="10" name="Text 7"/>
          <p:cNvSpPr/>
          <p:nvPr/>
        </p:nvSpPr>
        <p:spPr>
          <a:xfrm>
            <a:off x="310896" y="1810512"/>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Web servers, dev environments, small DBs</a:t>
            </a:r>
            <a:endParaRPr lang="en-US" sz="950" dirty="0"/>
          </a:p>
        </p:txBody>
      </p:sp>
      <p:sp>
        <p:nvSpPr>
          <p:cNvPr id="11" name="Text 8"/>
          <p:cNvSpPr/>
          <p:nvPr/>
        </p:nvSpPr>
        <p:spPr>
          <a:xfrm>
            <a:off x="310896" y="2487168"/>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t3.micro, m6i.large, m7g.xlarge</a:t>
            </a:r>
            <a:endParaRPr lang="en-US" sz="850" dirty="0"/>
          </a:p>
        </p:txBody>
      </p:sp>
      <p:sp>
        <p:nvSpPr>
          <p:cNvPr id="12" name="Shape 9"/>
          <p:cNvSpPr/>
          <p:nvPr/>
        </p:nvSpPr>
        <p:spPr>
          <a:xfrm>
            <a:off x="3145536" y="1024128"/>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0"/>
          <p:cNvSpPr/>
          <p:nvPr/>
        </p:nvSpPr>
        <p:spPr>
          <a:xfrm>
            <a:off x="3145536" y="1024128"/>
            <a:ext cx="2788920" cy="475488"/>
          </a:xfrm>
          <a:prstGeom prst="rect">
            <a:avLst/>
          </a:prstGeom>
          <a:solidFill>
            <a:srgbClr val="EF4444"/>
          </a:solidFill>
          <a:ln/>
        </p:spPr>
      </p:sp>
      <p:pic>
        <p:nvPicPr>
          <p:cNvPr id="14" name="Image 1" descr="preencoded.png">    </p:cNvPr>
          <p:cNvPicPr>
            <a:picLocks noChangeAspect="1"/>
          </p:cNvPicPr>
          <p:nvPr/>
        </p:nvPicPr>
        <p:blipFill>
          <a:blip r:embed="rId2"/>
          <a:stretch>
            <a:fillRect/>
          </a:stretch>
        </p:blipFill>
        <p:spPr>
          <a:xfrm>
            <a:off x="3236976" y="1115568"/>
            <a:ext cx="292608" cy="292608"/>
          </a:xfrm>
          <a:prstGeom prst="rect">
            <a:avLst/>
          </a:prstGeom>
        </p:spPr>
      </p:pic>
      <p:sp>
        <p:nvSpPr>
          <p:cNvPr id="15" name="Text 11"/>
          <p:cNvSpPr/>
          <p:nvPr/>
        </p:nvSpPr>
        <p:spPr>
          <a:xfrm>
            <a:off x="3602736" y="1097280"/>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Compute Optimized</a:t>
            </a:r>
            <a:endParaRPr lang="en-US" sz="1200" dirty="0"/>
          </a:p>
        </p:txBody>
      </p:sp>
      <p:sp>
        <p:nvSpPr>
          <p:cNvPr id="16" name="Shape 12"/>
          <p:cNvSpPr/>
          <p:nvPr/>
        </p:nvSpPr>
        <p:spPr>
          <a:xfrm>
            <a:off x="3255264" y="1563624"/>
            <a:ext cx="914400" cy="201168"/>
          </a:xfrm>
          <a:prstGeom prst="roundRect">
            <a:avLst>
              <a:gd name="adj" fmla="val 18182"/>
            </a:avLst>
          </a:prstGeom>
          <a:solidFill>
            <a:srgbClr val="EF4444">
              <a:alpha val="25000"/>
            </a:srgbClr>
          </a:solidFill>
          <a:ln/>
        </p:spPr>
      </p:sp>
      <p:sp>
        <p:nvSpPr>
          <p:cNvPr id="17" name="Text 13"/>
          <p:cNvSpPr/>
          <p:nvPr/>
        </p:nvSpPr>
        <p:spPr>
          <a:xfrm>
            <a:off x="3255264" y="1563624"/>
            <a:ext cx="914400" cy="201168"/>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 CPU</a:t>
            </a:r>
            <a:endParaRPr lang="en-US" sz="800" dirty="0"/>
          </a:p>
        </p:txBody>
      </p:sp>
      <p:sp>
        <p:nvSpPr>
          <p:cNvPr id="18" name="Text 14"/>
          <p:cNvSpPr/>
          <p:nvPr/>
        </p:nvSpPr>
        <p:spPr>
          <a:xfrm>
            <a:off x="3255264" y="1810512"/>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Batch processing, HPC, gaming, ML inference</a:t>
            </a:r>
            <a:endParaRPr lang="en-US" sz="950" dirty="0"/>
          </a:p>
        </p:txBody>
      </p:sp>
      <p:sp>
        <p:nvSpPr>
          <p:cNvPr id="19" name="Text 15"/>
          <p:cNvSpPr/>
          <p:nvPr/>
        </p:nvSpPr>
        <p:spPr>
          <a:xfrm>
            <a:off x="3255264" y="2487168"/>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c6i.large, c7g.2xlarge, c5n.18xlarge</a:t>
            </a:r>
            <a:endParaRPr lang="en-US" sz="850" dirty="0"/>
          </a:p>
        </p:txBody>
      </p:sp>
      <p:sp>
        <p:nvSpPr>
          <p:cNvPr id="20" name="Shape 16"/>
          <p:cNvSpPr/>
          <p:nvPr/>
        </p:nvSpPr>
        <p:spPr>
          <a:xfrm>
            <a:off x="6089904" y="1024128"/>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7"/>
          <p:cNvSpPr/>
          <p:nvPr/>
        </p:nvSpPr>
        <p:spPr>
          <a:xfrm>
            <a:off x="6089904" y="1024128"/>
            <a:ext cx="2788920" cy="475488"/>
          </a:xfrm>
          <a:prstGeom prst="rect">
            <a:avLst/>
          </a:prstGeom>
          <a:solidFill>
            <a:srgbClr val="8B5CF6"/>
          </a:solidFill>
          <a:ln/>
        </p:spPr>
      </p:sp>
      <p:pic>
        <p:nvPicPr>
          <p:cNvPr id="22" name="Image 2" descr="preencoded.png">    </p:cNvPr>
          <p:cNvPicPr>
            <a:picLocks noChangeAspect="1"/>
          </p:cNvPicPr>
          <p:nvPr/>
        </p:nvPicPr>
        <p:blipFill>
          <a:blip r:embed="rId3"/>
          <a:stretch>
            <a:fillRect/>
          </a:stretch>
        </p:blipFill>
        <p:spPr>
          <a:xfrm>
            <a:off x="6181344" y="1115568"/>
            <a:ext cx="292608" cy="292608"/>
          </a:xfrm>
          <a:prstGeom prst="rect">
            <a:avLst/>
          </a:prstGeom>
        </p:spPr>
      </p:pic>
      <p:sp>
        <p:nvSpPr>
          <p:cNvPr id="23" name="Text 18"/>
          <p:cNvSpPr/>
          <p:nvPr/>
        </p:nvSpPr>
        <p:spPr>
          <a:xfrm>
            <a:off x="6547104" y="1097280"/>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Memory Optimized</a:t>
            </a:r>
            <a:endParaRPr lang="en-US" sz="1200" dirty="0"/>
          </a:p>
        </p:txBody>
      </p:sp>
      <p:sp>
        <p:nvSpPr>
          <p:cNvPr id="24" name="Shape 19"/>
          <p:cNvSpPr/>
          <p:nvPr/>
        </p:nvSpPr>
        <p:spPr>
          <a:xfrm>
            <a:off x="6199632" y="1563624"/>
            <a:ext cx="914400" cy="201168"/>
          </a:xfrm>
          <a:prstGeom prst="roundRect">
            <a:avLst>
              <a:gd name="adj" fmla="val 18182"/>
            </a:avLst>
          </a:prstGeom>
          <a:solidFill>
            <a:srgbClr val="8B5CF6">
              <a:alpha val="25000"/>
            </a:srgbClr>
          </a:solidFill>
          <a:ln/>
        </p:spPr>
      </p:sp>
      <p:sp>
        <p:nvSpPr>
          <p:cNvPr id="25" name="Text 20"/>
          <p:cNvSpPr/>
          <p:nvPr/>
        </p:nvSpPr>
        <p:spPr>
          <a:xfrm>
            <a:off x="6199632" y="1563624"/>
            <a:ext cx="914400" cy="201168"/>
          </a:xfrm>
          <a:prstGeom prst="rect">
            <a:avLst/>
          </a:prstGeom>
          <a:noFill/>
          <a:ln/>
        </p:spPr>
        <p:txBody>
          <a:bodyPr wrap="square" rtlCol="0" anchor="ctr"/>
          <a:lstStyle/>
          <a:p>
            <a:pPr algn="ctr" indent="0" marL="0">
              <a:buNone/>
            </a:pPr>
            <a:r>
              <a:rPr lang="en-US" sz="800" b="1" dirty="0">
                <a:solidFill>
                  <a:srgbClr val="8B5CF6"/>
                </a:solidFill>
                <a:latin typeface="Calibri" pitchFamily="34" charset="0"/>
                <a:ea typeface="Calibri" pitchFamily="34" charset="-122"/>
                <a:cs typeface="Calibri" pitchFamily="34" charset="-120"/>
              </a:rPr>
              <a:t>High RAM</a:t>
            </a:r>
            <a:endParaRPr lang="en-US" sz="800" dirty="0"/>
          </a:p>
        </p:txBody>
      </p:sp>
      <p:sp>
        <p:nvSpPr>
          <p:cNvPr id="26" name="Text 21"/>
          <p:cNvSpPr/>
          <p:nvPr/>
        </p:nvSpPr>
        <p:spPr>
          <a:xfrm>
            <a:off x="6199632" y="1810512"/>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In-memory DBs, real-time analytics, big data</a:t>
            </a:r>
            <a:endParaRPr lang="en-US" sz="950" dirty="0"/>
          </a:p>
        </p:txBody>
      </p:sp>
      <p:sp>
        <p:nvSpPr>
          <p:cNvPr id="27" name="Text 22"/>
          <p:cNvSpPr/>
          <p:nvPr/>
        </p:nvSpPr>
        <p:spPr>
          <a:xfrm>
            <a:off x="6199632" y="2487168"/>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r6i.large, x2idn.32xlarge</a:t>
            </a:r>
            <a:endParaRPr lang="en-US" sz="850" dirty="0"/>
          </a:p>
        </p:txBody>
      </p:sp>
      <p:sp>
        <p:nvSpPr>
          <p:cNvPr id="28" name="Shape 23"/>
          <p:cNvSpPr/>
          <p:nvPr/>
        </p:nvSpPr>
        <p:spPr>
          <a:xfrm>
            <a:off x="201168" y="2999232"/>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9" name="Shape 24"/>
          <p:cNvSpPr/>
          <p:nvPr/>
        </p:nvSpPr>
        <p:spPr>
          <a:xfrm>
            <a:off x="201168" y="2999232"/>
            <a:ext cx="2788920" cy="475488"/>
          </a:xfrm>
          <a:prstGeom prst="rect">
            <a:avLst/>
          </a:prstGeom>
          <a:solidFill>
            <a:srgbClr val="10B981"/>
          </a:solidFill>
          <a:ln/>
        </p:spPr>
      </p:sp>
      <p:pic>
        <p:nvPicPr>
          <p:cNvPr id="30" name="Image 3" descr="preencoded.png">    </p:cNvPr>
          <p:cNvPicPr>
            <a:picLocks noChangeAspect="1"/>
          </p:cNvPicPr>
          <p:nvPr/>
        </p:nvPicPr>
        <p:blipFill>
          <a:blip r:embed="rId4"/>
          <a:stretch>
            <a:fillRect/>
          </a:stretch>
        </p:blipFill>
        <p:spPr>
          <a:xfrm>
            <a:off x="292608" y="3090672"/>
            <a:ext cx="292608" cy="292608"/>
          </a:xfrm>
          <a:prstGeom prst="rect">
            <a:avLst/>
          </a:prstGeom>
        </p:spPr>
      </p:pic>
      <p:sp>
        <p:nvSpPr>
          <p:cNvPr id="31" name="Text 25"/>
          <p:cNvSpPr/>
          <p:nvPr/>
        </p:nvSpPr>
        <p:spPr>
          <a:xfrm>
            <a:off x="658368" y="3072384"/>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Storage Optimized</a:t>
            </a:r>
            <a:endParaRPr lang="en-US" sz="1200" dirty="0"/>
          </a:p>
        </p:txBody>
      </p:sp>
      <p:sp>
        <p:nvSpPr>
          <p:cNvPr id="32" name="Shape 26"/>
          <p:cNvSpPr/>
          <p:nvPr/>
        </p:nvSpPr>
        <p:spPr>
          <a:xfrm>
            <a:off x="310896" y="3538728"/>
            <a:ext cx="914400" cy="201168"/>
          </a:xfrm>
          <a:prstGeom prst="roundRect">
            <a:avLst>
              <a:gd name="adj" fmla="val 18182"/>
            </a:avLst>
          </a:prstGeom>
          <a:solidFill>
            <a:srgbClr val="10B981">
              <a:alpha val="25000"/>
            </a:srgbClr>
          </a:solidFill>
          <a:ln/>
        </p:spPr>
      </p:sp>
      <p:sp>
        <p:nvSpPr>
          <p:cNvPr id="33" name="Text 27"/>
          <p:cNvSpPr/>
          <p:nvPr/>
        </p:nvSpPr>
        <p:spPr>
          <a:xfrm>
            <a:off x="310896" y="3538728"/>
            <a:ext cx="914400" cy="201168"/>
          </a:xfrm>
          <a:prstGeom prst="rect">
            <a:avLst/>
          </a:prstGeom>
          <a:noFill/>
          <a:ln/>
        </p:spPr>
        <p:txBody>
          <a:bodyPr wrap="square"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High I/O</a:t>
            </a:r>
            <a:endParaRPr lang="en-US" sz="800" dirty="0"/>
          </a:p>
        </p:txBody>
      </p:sp>
      <p:sp>
        <p:nvSpPr>
          <p:cNvPr id="34" name="Text 28"/>
          <p:cNvSpPr/>
          <p:nvPr/>
        </p:nvSpPr>
        <p:spPr>
          <a:xfrm>
            <a:off x="310896" y="3785616"/>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NoSQL DBs, data warehousing, distributed FS</a:t>
            </a:r>
            <a:endParaRPr lang="en-US" sz="950" dirty="0"/>
          </a:p>
        </p:txBody>
      </p:sp>
      <p:sp>
        <p:nvSpPr>
          <p:cNvPr id="35" name="Text 29"/>
          <p:cNvSpPr/>
          <p:nvPr/>
        </p:nvSpPr>
        <p:spPr>
          <a:xfrm>
            <a:off x="310896" y="4462272"/>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i4i.large, d3en.12xlarge</a:t>
            </a:r>
            <a:endParaRPr lang="en-US" sz="850" dirty="0"/>
          </a:p>
        </p:txBody>
      </p:sp>
      <p:sp>
        <p:nvSpPr>
          <p:cNvPr id="36" name="Shape 30"/>
          <p:cNvSpPr/>
          <p:nvPr/>
        </p:nvSpPr>
        <p:spPr>
          <a:xfrm>
            <a:off x="3145536" y="2999232"/>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1"/>
          <p:cNvSpPr/>
          <p:nvPr/>
        </p:nvSpPr>
        <p:spPr>
          <a:xfrm>
            <a:off x="3145536" y="2999232"/>
            <a:ext cx="2788920" cy="475488"/>
          </a:xfrm>
          <a:prstGeom prst="rect">
            <a:avLst/>
          </a:prstGeom>
          <a:solidFill>
            <a:srgbClr val="F59E0B"/>
          </a:solidFill>
          <a:ln/>
        </p:spPr>
      </p:sp>
      <p:pic>
        <p:nvPicPr>
          <p:cNvPr id="38" name="Image 4" descr="preencoded.png">    </p:cNvPr>
          <p:cNvPicPr>
            <a:picLocks noChangeAspect="1"/>
          </p:cNvPicPr>
          <p:nvPr/>
        </p:nvPicPr>
        <p:blipFill>
          <a:blip r:embed="rId5"/>
          <a:stretch>
            <a:fillRect/>
          </a:stretch>
        </p:blipFill>
        <p:spPr>
          <a:xfrm>
            <a:off x="3236976" y="3090672"/>
            <a:ext cx="292608" cy="292608"/>
          </a:xfrm>
          <a:prstGeom prst="rect">
            <a:avLst/>
          </a:prstGeom>
        </p:spPr>
      </p:pic>
      <p:sp>
        <p:nvSpPr>
          <p:cNvPr id="39" name="Text 32"/>
          <p:cNvSpPr/>
          <p:nvPr/>
        </p:nvSpPr>
        <p:spPr>
          <a:xfrm>
            <a:off x="3602736" y="3072384"/>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Accelerated Computing</a:t>
            </a:r>
            <a:endParaRPr lang="en-US" sz="1200" dirty="0"/>
          </a:p>
        </p:txBody>
      </p:sp>
      <p:sp>
        <p:nvSpPr>
          <p:cNvPr id="40" name="Shape 33"/>
          <p:cNvSpPr/>
          <p:nvPr/>
        </p:nvSpPr>
        <p:spPr>
          <a:xfrm>
            <a:off x="3255264" y="3538728"/>
            <a:ext cx="914400" cy="201168"/>
          </a:xfrm>
          <a:prstGeom prst="roundRect">
            <a:avLst>
              <a:gd name="adj" fmla="val 18182"/>
            </a:avLst>
          </a:prstGeom>
          <a:solidFill>
            <a:srgbClr val="F59E0B">
              <a:alpha val="25000"/>
            </a:srgbClr>
          </a:solidFill>
          <a:ln/>
        </p:spPr>
      </p:sp>
      <p:sp>
        <p:nvSpPr>
          <p:cNvPr id="41" name="Text 34"/>
          <p:cNvSpPr/>
          <p:nvPr/>
        </p:nvSpPr>
        <p:spPr>
          <a:xfrm>
            <a:off x="3255264" y="3538728"/>
            <a:ext cx="914400" cy="201168"/>
          </a:xfrm>
          <a:prstGeom prst="rect">
            <a:avLst/>
          </a:prstGeom>
          <a:noFill/>
          <a:ln/>
        </p:spPr>
        <p:txBody>
          <a:bodyPr wrap="square"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GPU/FPGA</a:t>
            </a:r>
            <a:endParaRPr lang="en-US" sz="800" dirty="0"/>
          </a:p>
        </p:txBody>
      </p:sp>
      <p:sp>
        <p:nvSpPr>
          <p:cNvPr id="42" name="Text 35"/>
          <p:cNvSpPr/>
          <p:nvPr/>
        </p:nvSpPr>
        <p:spPr>
          <a:xfrm>
            <a:off x="3255264" y="3785616"/>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ML training, graphics rendering, video encoding</a:t>
            </a:r>
            <a:endParaRPr lang="en-US" sz="950" dirty="0"/>
          </a:p>
        </p:txBody>
      </p:sp>
      <p:sp>
        <p:nvSpPr>
          <p:cNvPr id="43" name="Text 36"/>
          <p:cNvSpPr/>
          <p:nvPr/>
        </p:nvSpPr>
        <p:spPr>
          <a:xfrm>
            <a:off x="3255264" y="4462272"/>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p4d.24xlarge, g5.xlarge, inf2.xlarge</a:t>
            </a:r>
            <a:endParaRPr lang="en-US" sz="850" dirty="0"/>
          </a:p>
        </p:txBody>
      </p:sp>
      <p:sp>
        <p:nvSpPr>
          <p:cNvPr id="44" name="Shape 37"/>
          <p:cNvSpPr/>
          <p:nvPr/>
        </p:nvSpPr>
        <p:spPr>
          <a:xfrm>
            <a:off x="6089904" y="2999232"/>
            <a:ext cx="278892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5" name="Shape 38"/>
          <p:cNvSpPr/>
          <p:nvPr/>
        </p:nvSpPr>
        <p:spPr>
          <a:xfrm>
            <a:off x="6089904" y="2999232"/>
            <a:ext cx="2788920" cy="475488"/>
          </a:xfrm>
          <a:prstGeom prst="rect">
            <a:avLst/>
          </a:prstGeom>
          <a:solidFill>
            <a:srgbClr val="06B6D4"/>
          </a:solidFill>
          <a:ln/>
        </p:spPr>
      </p:sp>
      <p:pic>
        <p:nvPicPr>
          <p:cNvPr id="46" name="Image 5" descr="preencoded.png">    </p:cNvPr>
          <p:cNvPicPr>
            <a:picLocks noChangeAspect="1"/>
          </p:cNvPicPr>
          <p:nvPr/>
        </p:nvPicPr>
        <p:blipFill>
          <a:blip r:embed="rId6"/>
          <a:stretch>
            <a:fillRect/>
          </a:stretch>
        </p:blipFill>
        <p:spPr>
          <a:xfrm>
            <a:off x="6181344" y="3090672"/>
            <a:ext cx="292608" cy="292608"/>
          </a:xfrm>
          <a:prstGeom prst="rect">
            <a:avLst/>
          </a:prstGeom>
        </p:spPr>
      </p:pic>
      <p:sp>
        <p:nvSpPr>
          <p:cNvPr id="47" name="Text 39"/>
          <p:cNvSpPr/>
          <p:nvPr/>
        </p:nvSpPr>
        <p:spPr>
          <a:xfrm>
            <a:off x="6547104" y="3072384"/>
            <a:ext cx="22860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HPC / Deep Learning</a:t>
            </a:r>
            <a:endParaRPr lang="en-US" sz="1200" dirty="0"/>
          </a:p>
        </p:txBody>
      </p:sp>
      <p:sp>
        <p:nvSpPr>
          <p:cNvPr id="48" name="Shape 40"/>
          <p:cNvSpPr/>
          <p:nvPr/>
        </p:nvSpPr>
        <p:spPr>
          <a:xfrm>
            <a:off x="6199632" y="3538728"/>
            <a:ext cx="914400" cy="201168"/>
          </a:xfrm>
          <a:prstGeom prst="roundRect">
            <a:avLst>
              <a:gd name="adj" fmla="val 18182"/>
            </a:avLst>
          </a:prstGeom>
          <a:solidFill>
            <a:srgbClr val="06B6D4">
              <a:alpha val="25000"/>
            </a:srgbClr>
          </a:solidFill>
          <a:ln/>
        </p:spPr>
      </p:sp>
      <p:sp>
        <p:nvSpPr>
          <p:cNvPr id="49" name="Text 41"/>
          <p:cNvSpPr/>
          <p:nvPr/>
        </p:nvSpPr>
        <p:spPr>
          <a:xfrm>
            <a:off x="6199632" y="3538728"/>
            <a:ext cx="914400" cy="201168"/>
          </a:xfrm>
          <a:prstGeom prst="rect">
            <a:avLst/>
          </a:prstGeom>
          <a:noFill/>
          <a:ln/>
        </p:spPr>
        <p:txBody>
          <a:bodyPr wrap="square"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Specialized</a:t>
            </a:r>
            <a:endParaRPr lang="en-US" sz="800" dirty="0"/>
          </a:p>
        </p:txBody>
      </p:sp>
      <p:sp>
        <p:nvSpPr>
          <p:cNvPr id="50" name="Text 42"/>
          <p:cNvSpPr/>
          <p:nvPr/>
        </p:nvSpPr>
        <p:spPr>
          <a:xfrm>
            <a:off x="6199632" y="3785616"/>
            <a:ext cx="2606040" cy="45720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Use: Large-scale ML, HPC workloads, Trainium</a:t>
            </a:r>
            <a:endParaRPr lang="en-US" sz="950" dirty="0"/>
          </a:p>
        </p:txBody>
      </p:sp>
      <p:sp>
        <p:nvSpPr>
          <p:cNvPr id="51" name="Text 43"/>
          <p:cNvSpPr/>
          <p:nvPr/>
        </p:nvSpPr>
        <p:spPr>
          <a:xfrm>
            <a:off x="6199632" y="4462272"/>
            <a:ext cx="2606040" cy="256032"/>
          </a:xfrm>
          <a:prstGeom prst="rect">
            <a:avLst/>
          </a:prstGeom>
          <a:noFill/>
          <a:ln/>
        </p:spPr>
        <p:txBody>
          <a:bodyPr wrap="square" rtlCol="0" anchor="ctr"/>
          <a:lstStyle/>
          <a:p>
            <a:pPr indent="0" marL="0">
              <a:buNone/>
            </a:pPr>
            <a:r>
              <a:rPr lang="en-US" sz="850" i="1" dirty="0">
                <a:solidFill>
                  <a:srgbClr val="8A9BB0"/>
                </a:solidFill>
                <a:latin typeface="Calibri" pitchFamily="34" charset="0"/>
                <a:ea typeface="Calibri" pitchFamily="34" charset="-122"/>
                <a:cs typeface="Calibri" pitchFamily="34" charset="-120"/>
              </a:rPr>
              <a:t>e.g. trn1.32xlarge, dl1.24xlarge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332"/>
          </a:solidFill>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9900"/>
                </a:solidFill>
                <a:latin typeface="Calibri" pitchFamily="34" charset="0"/>
                <a:ea typeface="Calibri" pitchFamily="34" charset="-122"/>
                <a:cs typeface="Calibri" pitchFamily="34" charset="-120"/>
              </a:rPr>
              <a:t>EC2 Pricing Models</a:t>
            </a:r>
            <a:endParaRPr lang="en-US" sz="2600" dirty="0"/>
          </a:p>
        </p:txBody>
      </p:sp>
      <p:sp>
        <p:nvSpPr>
          <p:cNvPr id="4" name="Shape 2"/>
          <p:cNvSpPr/>
          <p:nvPr/>
        </p:nvSpPr>
        <p:spPr>
          <a:xfrm>
            <a:off x="164592" y="1024128"/>
            <a:ext cx="1664208" cy="3913632"/>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5" name="Shape 3"/>
          <p:cNvSpPr/>
          <p:nvPr/>
        </p:nvSpPr>
        <p:spPr>
          <a:xfrm>
            <a:off x="164592" y="1024128"/>
            <a:ext cx="1664208" cy="73152"/>
          </a:xfrm>
          <a:prstGeom prst="rect">
            <a:avLst/>
          </a:prstGeom>
          <a:solidFill>
            <a:srgbClr val="3B82F6"/>
          </a:solidFill>
          <a:ln/>
        </p:spPr>
      </p:sp>
      <p:sp>
        <p:nvSpPr>
          <p:cNvPr id="6" name="Shape 4"/>
          <p:cNvSpPr/>
          <p:nvPr/>
        </p:nvSpPr>
        <p:spPr>
          <a:xfrm>
            <a:off x="731520" y="1188720"/>
            <a:ext cx="530352" cy="530352"/>
          </a:xfrm>
          <a:prstGeom prst="ellipse">
            <a:avLst/>
          </a:prstGeom>
          <a:solidFill>
            <a:srgbClr val="3B82F6"/>
          </a:solidFill>
          <a:ln/>
        </p:spPr>
      </p:sp>
      <p:pic>
        <p:nvPicPr>
          <p:cNvPr id="7" name="Image 0" descr="preencoded.png">    </p:cNvPr>
          <p:cNvPicPr>
            <a:picLocks noChangeAspect="1"/>
          </p:cNvPicPr>
          <p:nvPr/>
        </p:nvPicPr>
        <p:blipFill>
          <a:blip r:embed="rId1"/>
          <a:stretch>
            <a:fillRect/>
          </a:stretch>
        </p:blipFill>
        <p:spPr>
          <a:xfrm>
            <a:off x="832104" y="1271016"/>
            <a:ext cx="329184" cy="329184"/>
          </a:xfrm>
          <a:prstGeom prst="rect">
            <a:avLst/>
          </a:prstGeom>
        </p:spPr>
      </p:pic>
      <p:sp>
        <p:nvSpPr>
          <p:cNvPr id="8" name="Text 5"/>
          <p:cNvSpPr/>
          <p:nvPr/>
        </p:nvSpPr>
        <p:spPr>
          <a:xfrm>
            <a:off x="237744" y="1801368"/>
            <a:ext cx="1517904"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On-Demand</a:t>
            </a:r>
            <a:endParaRPr lang="en-US" sz="1100" dirty="0"/>
          </a:p>
        </p:txBody>
      </p:sp>
      <p:sp>
        <p:nvSpPr>
          <p:cNvPr id="9" name="Shape 6"/>
          <p:cNvSpPr/>
          <p:nvPr/>
        </p:nvSpPr>
        <p:spPr>
          <a:xfrm>
            <a:off x="274320" y="2286000"/>
            <a:ext cx="1444752" cy="256032"/>
          </a:xfrm>
          <a:prstGeom prst="roundRect">
            <a:avLst>
              <a:gd name="adj" fmla="val 21429"/>
            </a:avLst>
          </a:prstGeom>
          <a:solidFill>
            <a:srgbClr val="3B82F6"/>
          </a:solidFill>
          <a:ln/>
        </p:spPr>
      </p:sp>
      <p:sp>
        <p:nvSpPr>
          <p:cNvPr id="10" name="Text 7"/>
          <p:cNvSpPr/>
          <p:nvPr/>
        </p:nvSpPr>
        <p:spPr>
          <a:xfrm>
            <a:off x="274320" y="2286000"/>
            <a:ext cx="144475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Baseline</a:t>
            </a:r>
            <a:endParaRPr lang="en-US" sz="900" dirty="0"/>
          </a:p>
        </p:txBody>
      </p:sp>
      <p:sp>
        <p:nvSpPr>
          <p:cNvPr id="11" name="Text 8"/>
          <p:cNvSpPr/>
          <p:nvPr/>
        </p:nvSpPr>
        <p:spPr>
          <a:xfrm>
            <a:off x="237744" y="2596896"/>
            <a:ext cx="1517904" cy="237744"/>
          </a:xfrm>
          <a:prstGeom prst="rect">
            <a:avLst/>
          </a:prstGeom>
          <a:noFill/>
          <a:ln/>
        </p:spPr>
        <p:txBody>
          <a:bodyPr wrap="square" rtlCol="0" anchor="ctr"/>
          <a:lstStyle/>
          <a:p>
            <a:pPr algn="ctr" indent="0" marL="0">
              <a:buNone/>
            </a:pPr>
            <a:r>
              <a:rPr lang="en-US" sz="850" i="1" dirty="0">
                <a:solidFill>
                  <a:srgbClr val="8A9BB0"/>
                </a:solidFill>
                <a:latin typeface="Calibri" pitchFamily="34" charset="0"/>
                <a:ea typeface="Calibri" pitchFamily="34" charset="-122"/>
                <a:cs typeface="Calibri" pitchFamily="34" charset="-120"/>
              </a:rPr>
              <a:t>No commitment</a:t>
            </a:r>
            <a:endParaRPr lang="en-US" sz="850" dirty="0"/>
          </a:p>
        </p:txBody>
      </p:sp>
      <p:sp>
        <p:nvSpPr>
          <p:cNvPr id="12" name="Shape 9"/>
          <p:cNvSpPr/>
          <p:nvPr/>
        </p:nvSpPr>
        <p:spPr>
          <a:xfrm>
            <a:off x="274320" y="2907792"/>
            <a:ext cx="91440" cy="91440"/>
          </a:xfrm>
          <a:prstGeom prst="ellipse">
            <a:avLst/>
          </a:prstGeom>
          <a:solidFill>
            <a:srgbClr val="3B82F6"/>
          </a:solidFill>
          <a:ln/>
        </p:spPr>
      </p:sp>
      <p:sp>
        <p:nvSpPr>
          <p:cNvPr id="13" name="Text 10"/>
          <p:cNvSpPr/>
          <p:nvPr/>
        </p:nvSpPr>
        <p:spPr>
          <a:xfrm>
            <a:off x="402336" y="2852928"/>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Pay per second/hour</a:t>
            </a:r>
            <a:endParaRPr lang="en-US" sz="900" dirty="0"/>
          </a:p>
        </p:txBody>
      </p:sp>
      <p:sp>
        <p:nvSpPr>
          <p:cNvPr id="14" name="Shape 11"/>
          <p:cNvSpPr/>
          <p:nvPr/>
        </p:nvSpPr>
        <p:spPr>
          <a:xfrm>
            <a:off x="274320" y="3346704"/>
            <a:ext cx="91440" cy="91440"/>
          </a:xfrm>
          <a:prstGeom prst="ellipse">
            <a:avLst/>
          </a:prstGeom>
          <a:solidFill>
            <a:srgbClr val="3B82F6"/>
          </a:solidFill>
          <a:ln/>
        </p:spPr>
      </p:sp>
      <p:sp>
        <p:nvSpPr>
          <p:cNvPr id="15" name="Text 12"/>
          <p:cNvSpPr/>
          <p:nvPr/>
        </p:nvSpPr>
        <p:spPr>
          <a:xfrm>
            <a:off x="402336" y="3291840"/>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No upfront cost</a:t>
            </a:r>
            <a:endParaRPr lang="en-US" sz="900" dirty="0"/>
          </a:p>
        </p:txBody>
      </p:sp>
      <p:sp>
        <p:nvSpPr>
          <p:cNvPr id="16" name="Shape 13"/>
          <p:cNvSpPr/>
          <p:nvPr/>
        </p:nvSpPr>
        <p:spPr>
          <a:xfrm>
            <a:off x="274320" y="3785616"/>
            <a:ext cx="91440" cy="91440"/>
          </a:xfrm>
          <a:prstGeom prst="ellipse">
            <a:avLst/>
          </a:prstGeom>
          <a:solidFill>
            <a:srgbClr val="3B82F6"/>
          </a:solidFill>
          <a:ln/>
        </p:spPr>
      </p:sp>
      <p:sp>
        <p:nvSpPr>
          <p:cNvPr id="17" name="Text 14"/>
          <p:cNvSpPr/>
          <p:nvPr/>
        </p:nvSpPr>
        <p:spPr>
          <a:xfrm>
            <a:off x="402336" y="3730752"/>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Start/stop anytime</a:t>
            </a:r>
            <a:endParaRPr lang="en-US" sz="900" dirty="0"/>
          </a:p>
        </p:txBody>
      </p:sp>
      <p:sp>
        <p:nvSpPr>
          <p:cNvPr id="18" name="Shape 15"/>
          <p:cNvSpPr/>
          <p:nvPr/>
        </p:nvSpPr>
        <p:spPr>
          <a:xfrm>
            <a:off x="274320" y="4224528"/>
            <a:ext cx="91440" cy="91440"/>
          </a:xfrm>
          <a:prstGeom prst="ellipse">
            <a:avLst/>
          </a:prstGeom>
          <a:solidFill>
            <a:srgbClr val="3B82F6"/>
          </a:solidFill>
          <a:ln/>
        </p:spPr>
      </p:sp>
      <p:sp>
        <p:nvSpPr>
          <p:cNvPr id="19" name="Text 16"/>
          <p:cNvSpPr/>
          <p:nvPr/>
        </p:nvSpPr>
        <p:spPr>
          <a:xfrm>
            <a:off x="402336" y="4169664"/>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Most flexible option</a:t>
            </a:r>
            <a:endParaRPr lang="en-US" sz="900" dirty="0"/>
          </a:p>
        </p:txBody>
      </p:sp>
      <p:sp>
        <p:nvSpPr>
          <p:cNvPr id="20" name="Text 17"/>
          <p:cNvSpPr/>
          <p:nvPr/>
        </p:nvSpPr>
        <p:spPr>
          <a:xfrm>
            <a:off x="237744" y="4572000"/>
            <a:ext cx="1517904" cy="182880"/>
          </a:xfrm>
          <a:prstGeom prst="rect">
            <a:avLst/>
          </a:prstGeom>
          <a:noFill/>
          <a:ln/>
        </p:spPr>
        <p:txBody>
          <a:bodyPr wrap="square"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Best for:</a:t>
            </a:r>
            <a:endParaRPr lang="en-US" sz="800" dirty="0"/>
          </a:p>
        </p:txBody>
      </p:sp>
      <p:sp>
        <p:nvSpPr>
          <p:cNvPr id="21" name="Text 18"/>
          <p:cNvSpPr/>
          <p:nvPr/>
        </p:nvSpPr>
        <p:spPr>
          <a:xfrm>
            <a:off x="237744" y="4736592"/>
            <a:ext cx="1517904" cy="347472"/>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Short-term, unpredictable workloads; dev/test</a:t>
            </a:r>
            <a:endParaRPr lang="en-US" sz="750" dirty="0"/>
          </a:p>
        </p:txBody>
      </p:sp>
      <p:sp>
        <p:nvSpPr>
          <p:cNvPr id="22" name="Shape 19"/>
          <p:cNvSpPr/>
          <p:nvPr/>
        </p:nvSpPr>
        <p:spPr>
          <a:xfrm>
            <a:off x="1938528" y="1024128"/>
            <a:ext cx="1664208" cy="3913632"/>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23" name="Shape 20"/>
          <p:cNvSpPr/>
          <p:nvPr/>
        </p:nvSpPr>
        <p:spPr>
          <a:xfrm>
            <a:off x="1938528" y="1024128"/>
            <a:ext cx="1664208" cy="73152"/>
          </a:xfrm>
          <a:prstGeom prst="rect">
            <a:avLst/>
          </a:prstGeom>
          <a:solidFill>
            <a:srgbClr val="22C55E"/>
          </a:solidFill>
          <a:ln/>
        </p:spPr>
      </p:sp>
      <p:sp>
        <p:nvSpPr>
          <p:cNvPr id="24" name="Shape 21"/>
          <p:cNvSpPr/>
          <p:nvPr/>
        </p:nvSpPr>
        <p:spPr>
          <a:xfrm>
            <a:off x="2505456" y="1188720"/>
            <a:ext cx="530352" cy="530352"/>
          </a:xfrm>
          <a:prstGeom prst="ellipse">
            <a:avLst/>
          </a:prstGeom>
          <a:solidFill>
            <a:srgbClr val="22C55E"/>
          </a:solidFill>
          <a:ln/>
        </p:spPr>
      </p:sp>
      <p:pic>
        <p:nvPicPr>
          <p:cNvPr id="25" name="Image 1" descr="preencoded.png">    </p:cNvPr>
          <p:cNvPicPr>
            <a:picLocks noChangeAspect="1"/>
          </p:cNvPicPr>
          <p:nvPr/>
        </p:nvPicPr>
        <p:blipFill>
          <a:blip r:embed="rId2"/>
          <a:stretch>
            <a:fillRect/>
          </a:stretch>
        </p:blipFill>
        <p:spPr>
          <a:xfrm>
            <a:off x="2606040" y="1271016"/>
            <a:ext cx="329184" cy="329184"/>
          </a:xfrm>
          <a:prstGeom prst="rect">
            <a:avLst/>
          </a:prstGeom>
        </p:spPr>
      </p:pic>
      <p:sp>
        <p:nvSpPr>
          <p:cNvPr id="26" name="Text 22"/>
          <p:cNvSpPr/>
          <p:nvPr/>
        </p:nvSpPr>
        <p:spPr>
          <a:xfrm>
            <a:off x="2011680" y="1801368"/>
            <a:ext cx="1517904"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Reserved Instances</a:t>
            </a:r>
            <a:endParaRPr lang="en-US" sz="1100" dirty="0"/>
          </a:p>
        </p:txBody>
      </p:sp>
      <p:sp>
        <p:nvSpPr>
          <p:cNvPr id="27" name="Shape 23"/>
          <p:cNvSpPr/>
          <p:nvPr/>
        </p:nvSpPr>
        <p:spPr>
          <a:xfrm>
            <a:off x="2048256" y="2286000"/>
            <a:ext cx="1444752" cy="256032"/>
          </a:xfrm>
          <a:prstGeom prst="roundRect">
            <a:avLst>
              <a:gd name="adj" fmla="val 21429"/>
            </a:avLst>
          </a:prstGeom>
          <a:solidFill>
            <a:srgbClr val="22C55E"/>
          </a:solidFill>
          <a:ln/>
        </p:spPr>
      </p:sp>
      <p:sp>
        <p:nvSpPr>
          <p:cNvPr id="28" name="Text 24"/>
          <p:cNvSpPr/>
          <p:nvPr/>
        </p:nvSpPr>
        <p:spPr>
          <a:xfrm>
            <a:off x="2048256" y="2286000"/>
            <a:ext cx="144475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Up to 72% savings</a:t>
            </a:r>
            <a:endParaRPr lang="en-US" sz="900" dirty="0"/>
          </a:p>
        </p:txBody>
      </p:sp>
      <p:sp>
        <p:nvSpPr>
          <p:cNvPr id="29" name="Text 25"/>
          <p:cNvSpPr/>
          <p:nvPr/>
        </p:nvSpPr>
        <p:spPr>
          <a:xfrm>
            <a:off x="2011680" y="2596896"/>
            <a:ext cx="1517904" cy="237744"/>
          </a:xfrm>
          <a:prstGeom prst="rect">
            <a:avLst/>
          </a:prstGeom>
          <a:noFill/>
          <a:ln/>
        </p:spPr>
        <p:txBody>
          <a:bodyPr wrap="square" rtlCol="0" anchor="ctr"/>
          <a:lstStyle/>
          <a:p>
            <a:pPr algn="ctr" indent="0" marL="0">
              <a:buNone/>
            </a:pPr>
            <a:r>
              <a:rPr lang="en-US" sz="850" i="1" dirty="0">
                <a:solidFill>
                  <a:srgbClr val="8A9BB0"/>
                </a:solidFill>
                <a:latin typeface="Calibri" pitchFamily="34" charset="0"/>
                <a:ea typeface="Calibri" pitchFamily="34" charset="-122"/>
                <a:cs typeface="Calibri" pitchFamily="34" charset="-120"/>
              </a:rPr>
              <a:t>1 or 3 years</a:t>
            </a:r>
            <a:endParaRPr lang="en-US" sz="850" dirty="0"/>
          </a:p>
        </p:txBody>
      </p:sp>
      <p:sp>
        <p:nvSpPr>
          <p:cNvPr id="30" name="Shape 26"/>
          <p:cNvSpPr/>
          <p:nvPr/>
        </p:nvSpPr>
        <p:spPr>
          <a:xfrm>
            <a:off x="2048256" y="2907792"/>
            <a:ext cx="91440" cy="91440"/>
          </a:xfrm>
          <a:prstGeom prst="ellipse">
            <a:avLst/>
          </a:prstGeom>
          <a:solidFill>
            <a:srgbClr val="22C55E"/>
          </a:solidFill>
          <a:ln/>
        </p:spPr>
      </p:sp>
      <p:sp>
        <p:nvSpPr>
          <p:cNvPr id="31" name="Text 27"/>
          <p:cNvSpPr/>
          <p:nvPr/>
        </p:nvSpPr>
        <p:spPr>
          <a:xfrm>
            <a:off x="2176272" y="2852928"/>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1-year or 3-year terms</a:t>
            </a:r>
            <a:endParaRPr lang="en-US" sz="900" dirty="0"/>
          </a:p>
        </p:txBody>
      </p:sp>
      <p:sp>
        <p:nvSpPr>
          <p:cNvPr id="32" name="Shape 28"/>
          <p:cNvSpPr/>
          <p:nvPr/>
        </p:nvSpPr>
        <p:spPr>
          <a:xfrm>
            <a:off x="2048256" y="3346704"/>
            <a:ext cx="91440" cy="91440"/>
          </a:xfrm>
          <a:prstGeom prst="ellipse">
            <a:avLst/>
          </a:prstGeom>
          <a:solidFill>
            <a:srgbClr val="22C55E"/>
          </a:solidFill>
          <a:ln/>
        </p:spPr>
      </p:sp>
      <p:sp>
        <p:nvSpPr>
          <p:cNvPr id="33" name="Text 29"/>
          <p:cNvSpPr/>
          <p:nvPr/>
        </p:nvSpPr>
        <p:spPr>
          <a:xfrm>
            <a:off x="2176272" y="3291840"/>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No/Partial/Full upfront</a:t>
            </a:r>
            <a:endParaRPr lang="en-US" sz="900" dirty="0"/>
          </a:p>
        </p:txBody>
      </p:sp>
      <p:sp>
        <p:nvSpPr>
          <p:cNvPr id="34" name="Shape 30"/>
          <p:cNvSpPr/>
          <p:nvPr/>
        </p:nvSpPr>
        <p:spPr>
          <a:xfrm>
            <a:off x="2048256" y="3785616"/>
            <a:ext cx="91440" cy="91440"/>
          </a:xfrm>
          <a:prstGeom prst="ellipse">
            <a:avLst/>
          </a:prstGeom>
          <a:solidFill>
            <a:srgbClr val="22C55E"/>
          </a:solidFill>
          <a:ln/>
        </p:spPr>
      </p:sp>
      <p:sp>
        <p:nvSpPr>
          <p:cNvPr id="35" name="Text 31"/>
          <p:cNvSpPr/>
          <p:nvPr/>
        </p:nvSpPr>
        <p:spPr>
          <a:xfrm>
            <a:off x="2176272" y="3730752"/>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Convertible &amp; Standard</a:t>
            </a:r>
            <a:endParaRPr lang="en-US" sz="900" dirty="0"/>
          </a:p>
        </p:txBody>
      </p:sp>
      <p:sp>
        <p:nvSpPr>
          <p:cNvPr id="36" name="Shape 32"/>
          <p:cNvSpPr/>
          <p:nvPr/>
        </p:nvSpPr>
        <p:spPr>
          <a:xfrm>
            <a:off x="2048256" y="4224528"/>
            <a:ext cx="91440" cy="91440"/>
          </a:xfrm>
          <a:prstGeom prst="ellipse">
            <a:avLst/>
          </a:prstGeom>
          <a:solidFill>
            <a:srgbClr val="22C55E"/>
          </a:solidFill>
          <a:ln/>
        </p:spPr>
      </p:sp>
      <p:sp>
        <p:nvSpPr>
          <p:cNvPr id="37" name="Text 33"/>
          <p:cNvSpPr/>
          <p:nvPr/>
        </p:nvSpPr>
        <p:spPr>
          <a:xfrm>
            <a:off x="2176272" y="4169664"/>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Capacity reservation</a:t>
            </a:r>
            <a:endParaRPr lang="en-US" sz="900" dirty="0"/>
          </a:p>
        </p:txBody>
      </p:sp>
      <p:sp>
        <p:nvSpPr>
          <p:cNvPr id="38" name="Text 34"/>
          <p:cNvSpPr/>
          <p:nvPr/>
        </p:nvSpPr>
        <p:spPr>
          <a:xfrm>
            <a:off x="2011680" y="4572000"/>
            <a:ext cx="1517904" cy="182880"/>
          </a:xfrm>
          <a:prstGeom prst="rect">
            <a:avLst/>
          </a:prstGeom>
          <a:noFill/>
          <a:ln/>
        </p:spPr>
        <p:txBody>
          <a:bodyPr wrap="square" rtlCol="0" anchor="ctr"/>
          <a:lstStyle/>
          <a:p>
            <a:pPr indent="0" marL="0">
              <a:buNone/>
            </a:pPr>
            <a:r>
              <a:rPr lang="en-US" sz="800" b="1" dirty="0">
                <a:solidFill>
                  <a:srgbClr val="22C55E"/>
                </a:solidFill>
                <a:latin typeface="Calibri" pitchFamily="34" charset="0"/>
                <a:ea typeface="Calibri" pitchFamily="34" charset="-122"/>
                <a:cs typeface="Calibri" pitchFamily="34" charset="-120"/>
              </a:rPr>
              <a:t>Best for:</a:t>
            </a:r>
            <a:endParaRPr lang="en-US" sz="800" dirty="0"/>
          </a:p>
        </p:txBody>
      </p:sp>
      <p:sp>
        <p:nvSpPr>
          <p:cNvPr id="39" name="Text 35"/>
          <p:cNvSpPr/>
          <p:nvPr/>
        </p:nvSpPr>
        <p:spPr>
          <a:xfrm>
            <a:off x="2011680" y="4736592"/>
            <a:ext cx="1517904" cy="347472"/>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Steady-state production workloads</a:t>
            </a:r>
            <a:endParaRPr lang="en-US" sz="750" dirty="0"/>
          </a:p>
        </p:txBody>
      </p:sp>
      <p:sp>
        <p:nvSpPr>
          <p:cNvPr id="40" name="Shape 36"/>
          <p:cNvSpPr/>
          <p:nvPr/>
        </p:nvSpPr>
        <p:spPr>
          <a:xfrm>
            <a:off x="3712464" y="1024128"/>
            <a:ext cx="1664208" cy="3913632"/>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41" name="Shape 37"/>
          <p:cNvSpPr/>
          <p:nvPr/>
        </p:nvSpPr>
        <p:spPr>
          <a:xfrm>
            <a:off x="3712464" y="1024128"/>
            <a:ext cx="1664208" cy="73152"/>
          </a:xfrm>
          <a:prstGeom prst="rect">
            <a:avLst/>
          </a:prstGeom>
          <a:solidFill>
            <a:srgbClr val="F59E0B"/>
          </a:solidFill>
          <a:ln/>
        </p:spPr>
      </p:sp>
      <p:sp>
        <p:nvSpPr>
          <p:cNvPr id="42" name="Shape 38"/>
          <p:cNvSpPr/>
          <p:nvPr/>
        </p:nvSpPr>
        <p:spPr>
          <a:xfrm>
            <a:off x="4279392" y="1188720"/>
            <a:ext cx="530352" cy="530352"/>
          </a:xfrm>
          <a:prstGeom prst="ellipse">
            <a:avLst/>
          </a:prstGeom>
          <a:solidFill>
            <a:srgbClr val="F59E0B"/>
          </a:solidFill>
          <a:ln/>
        </p:spPr>
      </p:sp>
      <p:pic>
        <p:nvPicPr>
          <p:cNvPr id="43" name="Image 2" descr="preencoded.png">    </p:cNvPr>
          <p:cNvPicPr>
            <a:picLocks noChangeAspect="1"/>
          </p:cNvPicPr>
          <p:nvPr/>
        </p:nvPicPr>
        <p:blipFill>
          <a:blip r:embed="rId3"/>
          <a:stretch>
            <a:fillRect/>
          </a:stretch>
        </p:blipFill>
        <p:spPr>
          <a:xfrm>
            <a:off x="4379976" y="1271016"/>
            <a:ext cx="329184" cy="329184"/>
          </a:xfrm>
          <a:prstGeom prst="rect">
            <a:avLst/>
          </a:prstGeom>
        </p:spPr>
      </p:pic>
      <p:sp>
        <p:nvSpPr>
          <p:cNvPr id="44" name="Text 39"/>
          <p:cNvSpPr/>
          <p:nvPr/>
        </p:nvSpPr>
        <p:spPr>
          <a:xfrm>
            <a:off x="3785616" y="1801368"/>
            <a:ext cx="1517904"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Spot Instances</a:t>
            </a:r>
            <a:endParaRPr lang="en-US" sz="1100" dirty="0"/>
          </a:p>
        </p:txBody>
      </p:sp>
      <p:sp>
        <p:nvSpPr>
          <p:cNvPr id="45" name="Shape 40"/>
          <p:cNvSpPr/>
          <p:nvPr/>
        </p:nvSpPr>
        <p:spPr>
          <a:xfrm>
            <a:off x="3822192" y="2286000"/>
            <a:ext cx="1444752" cy="256032"/>
          </a:xfrm>
          <a:prstGeom prst="roundRect">
            <a:avLst>
              <a:gd name="adj" fmla="val 21429"/>
            </a:avLst>
          </a:prstGeom>
          <a:solidFill>
            <a:srgbClr val="F59E0B"/>
          </a:solidFill>
          <a:ln/>
        </p:spPr>
      </p:sp>
      <p:sp>
        <p:nvSpPr>
          <p:cNvPr id="46" name="Text 41"/>
          <p:cNvSpPr/>
          <p:nvPr/>
        </p:nvSpPr>
        <p:spPr>
          <a:xfrm>
            <a:off x="3822192" y="2286000"/>
            <a:ext cx="144475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Up to 90% savings</a:t>
            </a:r>
            <a:endParaRPr lang="en-US" sz="900" dirty="0"/>
          </a:p>
        </p:txBody>
      </p:sp>
      <p:sp>
        <p:nvSpPr>
          <p:cNvPr id="47" name="Text 42"/>
          <p:cNvSpPr/>
          <p:nvPr/>
        </p:nvSpPr>
        <p:spPr>
          <a:xfrm>
            <a:off x="3785616" y="2596896"/>
            <a:ext cx="1517904" cy="237744"/>
          </a:xfrm>
          <a:prstGeom prst="rect">
            <a:avLst/>
          </a:prstGeom>
          <a:noFill/>
          <a:ln/>
        </p:spPr>
        <p:txBody>
          <a:bodyPr wrap="square" rtlCol="0" anchor="ctr"/>
          <a:lstStyle/>
          <a:p>
            <a:pPr algn="ctr" indent="0" marL="0">
              <a:buNone/>
            </a:pPr>
            <a:r>
              <a:rPr lang="en-US" sz="850" i="1" dirty="0">
                <a:solidFill>
                  <a:srgbClr val="8A9BB0"/>
                </a:solidFill>
                <a:latin typeface="Calibri" pitchFamily="34" charset="0"/>
                <a:ea typeface="Calibri" pitchFamily="34" charset="-122"/>
                <a:cs typeface="Calibri" pitchFamily="34" charset="-120"/>
              </a:rPr>
              <a:t>Market-based price</a:t>
            </a:r>
            <a:endParaRPr lang="en-US" sz="850" dirty="0"/>
          </a:p>
        </p:txBody>
      </p:sp>
      <p:sp>
        <p:nvSpPr>
          <p:cNvPr id="48" name="Shape 43"/>
          <p:cNvSpPr/>
          <p:nvPr/>
        </p:nvSpPr>
        <p:spPr>
          <a:xfrm>
            <a:off x="3822192" y="2907792"/>
            <a:ext cx="91440" cy="91440"/>
          </a:xfrm>
          <a:prstGeom prst="ellipse">
            <a:avLst/>
          </a:prstGeom>
          <a:solidFill>
            <a:srgbClr val="F59E0B"/>
          </a:solidFill>
          <a:ln/>
        </p:spPr>
      </p:sp>
      <p:sp>
        <p:nvSpPr>
          <p:cNvPr id="49" name="Text 44"/>
          <p:cNvSpPr/>
          <p:nvPr/>
        </p:nvSpPr>
        <p:spPr>
          <a:xfrm>
            <a:off x="3950208" y="2852928"/>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Bid on spare capacity</a:t>
            </a:r>
            <a:endParaRPr lang="en-US" sz="900" dirty="0"/>
          </a:p>
        </p:txBody>
      </p:sp>
      <p:sp>
        <p:nvSpPr>
          <p:cNvPr id="50" name="Shape 45"/>
          <p:cNvSpPr/>
          <p:nvPr/>
        </p:nvSpPr>
        <p:spPr>
          <a:xfrm>
            <a:off x="3822192" y="3346704"/>
            <a:ext cx="91440" cy="91440"/>
          </a:xfrm>
          <a:prstGeom prst="ellipse">
            <a:avLst/>
          </a:prstGeom>
          <a:solidFill>
            <a:srgbClr val="F59E0B"/>
          </a:solidFill>
          <a:ln/>
        </p:spPr>
      </p:sp>
      <p:sp>
        <p:nvSpPr>
          <p:cNvPr id="51" name="Text 46"/>
          <p:cNvSpPr/>
          <p:nvPr/>
        </p:nvSpPr>
        <p:spPr>
          <a:xfrm>
            <a:off x="3950208" y="3291840"/>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Can be interrupted</a:t>
            </a:r>
            <a:endParaRPr lang="en-US" sz="900" dirty="0"/>
          </a:p>
        </p:txBody>
      </p:sp>
      <p:sp>
        <p:nvSpPr>
          <p:cNvPr id="52" name="Shape 47"/>
          <p:cNvSpPr/>
          <p:nvPr/>
        </p:nvSpPr>
        <p:spPr>
          <a:xfrm>
            <a:off x="3822192" y="3785616"/>
            <a:ext cx="91440" cy="91440"/>
          </a:xfrm>
          <a:prstGeom prst="ellipse">
            <a:avLst/>
          </a:prstGeom>
          <a:solidFill>
            <a:srgbClr val="F59E0B"/>
          </a:solidFill>
          <a:ln/>
        </p:spPr>
      </p:sp>
      <p:sp>
        <p:nvSpPr>
          <p:cNvPr id="53" name="Text 48"/>
          <p:cNvSpPr/>
          <p:nvPr/>
        </p:nvSpPr>
        <p:spPr>
          <a:xfrm>
            <a:off x="3950208" y="3730752"/>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Spot Fleet support</a:t>
            </a:r>
            <a:endParaRPr lang="en-US" sz="900" dirty="0"/>
          </a:p>
        </p:txBody>
      </p:sp>
      <p:sp>
        <p:nvSpPr>
          <p:cNvPr id="54" name="Shape 49"/>
          <p:cNvSpPr/>
          <p:nvPr/>
        </p:nvSpPr>
        <p:spPr>
          <a:xfrm>
            <a:off x="3822192" y="4224528"/>
            <a:ext cx="91440" cy="91440"/>
          </a:xfrm>
          <a:prstGeom prst="ellipse">
            <a:avLst/>
          </a:prstGeom>
          <a:solidFill>
            <a:srgbClr val="F59E0B"/>
          </a:solidFill>
          <a:ln/>
        </p:spPr>
      </p:sp>
      <p:sp>
        <p:nvSpPr>
          <p:cNvPr id="55" name="Text 50"/>
          <p:cNvSpPr/>
          <p:nvPr/>
        </p:nvSpPr>
        <p:spPr>
          <a:xfrm>
            <a:off x="3950208" y="4169664"/>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Spot Interruption notice</a:t>
            </a:r>
            <a:endParaRPr lang="en-US" sz="900" dirty="0"/>
          </a:p>
        </p:txBody>
      </p:sp>
      <p:sp>
        <p:nvSpPr>
          <p:cNvPr id="56" name="Text 51"/>
          <p:cNvSpPr/>
          <p:nvPr/>
        </p:nvSpPr>
        <p:spPr>
          <a:xfrm>
            <a:off x="3785616" y="4572000"/>
            <a:ext cx="1517904" cy="182880"/>
          </a:xfrm>
          <a:prstGeom prst="rect">
            <a:avLst/>
          </a:prstGeom>
          <a:noFill/>
          <a:ln/>
        </p:spPr>
        <p:txBody>
          <a:bodyPr wrap="square"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Best for:</a:t>
            </a:r>
            <a:endParaRPr lang="en-US" sz="800" dirty="0"/>
          </a:p>
        </p:txBody>
      </p:sp>
      <p:sp>
        <p:nvSpPr>
          <p:cNvPr id="57" name="Text 52"/>
          <p:cNvSpPr/>
          <p:nvPr/>
        </p:nvSpPr>
        <p:spPr>
          <a:xfrm>
            <a:off x="3785616" y="4736592"/>
            <a:ext cx="1517904" cy="347472"/>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Fault-tolerant, batch, ML training workloads</a:t>
            </a:r>
            <a:endParaRPr lang="en-US" sz="750" dirty="0"/>
          </a:p>
        </p:txBody>
      </p:sp>
      <p:sp>
        <p:nvSpPr>
          <p:cNvPr id="58" name="Shape 53"/>
          <p:cNvSpPr/>
          <p:nvPr/>
        </p:nvSpPr>
        <p:spPr>
          <a:xfrm>
            <a:off x="5486400" y="1024128"/>
            <a:ext cx="1664208" cy="3913632"/>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59" name="Shape 54"/>
          <p:cNvSpPr/>
          <p:nvPr/>
        </p:nvSpPr>
        <p:spPr>
          <a:xfrm>
            <a:off x="5486400" y="1024128"/>
            <a:ext cx="1664208" cy="73152"/>
          </a:xfrm>
          <a:prstGeom prst="rect">
            <a:avLst/>
          </a:prstGeom>
          <a:solidFill>
            <a:srgbClr val="A855F7"/>
          </a:solidFill>
          <a:ln/>
        </p:spPr>
      </p:sp>
      <p:sp>
        <p:nvSpPr>
          <p:cNvPr id="60" name="Shape 55"/>
          <p:cNvSpPr/>
          <p:nvPr/>
        </p:nvSpPr>
        <p:spPr>
          <a:xfrm>
            <a:off x="6053328" y="1188720"/>
            <a:ext cx="530352" cy="530352"/>
          </a:xfrm>
          <a:prstGeom prst="ellipse">
            <a:avLst/>
          </a:prstGeom>
          <a:solidFill>
            <a:srgbClr val="A855F7"/>
          </a:solidFill>
          <a:ln/>
        </p:spPr>
      </p:sp>
      <p:pic>
        <p:nvPicPr>
          <p:cNvPr id="61" name="Image 3" descr="preencoded.png">    </p:cNvPr>
          <p:cNvPicPr>
            <a:picLocks noChangeAspect="1"/>
          </p:cNvPicPr>
          <p:nvPr/>
        </p:nvPicPr>
        <p:blipFill>
          <a:blip r:embed="rId4"/>
          <a:stretch>
            <a:fillRect/>
          </a:stretch>
        </p:blipFill>
        <p:spPr>
          <a:xfrm>
            <a:off x="6153912" y="1271016"/>
            <a:ext cx="329184" cy="329184"/>
          </a:xfrm>
          <a:prstGeom prst="rect">
            <a:avLst/>
          </a:prstGeom>
        </p:spPr>
      </p:pic>
      <p:sp>
        <p:nvSpPr>
          <p:cNvPr id="62" name="Text 56"/>
          <p:cNvSpPr/>
          <p:nvPr/>
        </p:nvSpPr>
        <p:spPr>
          <a:xfrm>
            <a:off x="5559552" y="1801368"/>
            <a:ext cx="1517904"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Savings Plans</a:t>
            </a:r>
            <a:endParaRPr lang="en-US" sz="1100" dirty="0"/>
          </a:p>
        </p:txBody>
      </p:sp>
      <p:sp>
        <p:nvSpPr>
          <p:cNvPr id="63" name="Shape 57"/>
          <p:cNvSpPr/>
          <p:nvPr/>
        </p:nvSpPr>
        <p:spPr>
          <a:xfrm>
            <a:off x="5596128" y="2286000"/>
            <a:ext cx="1444752" cy="256032"/>
          </a:xfrm>
          <a:prstGeom prst="roundRect">
            <a:avLst>
              <a:gd name="adj" fmla="val 21429"/>
            </a:avLst>
          </a:prstGeom>
          <a:solidFill>
            <a:srgbClr val="A855F7"/>
          </a:solidFill>
          <a:ln/>
        </p:spPr>
      </p:sp>
      <p:sp>
        <p:nvSpPr>
          <p:cNvPr id="64" name="Text 58"/>
          <p:cNvSpPr/>
          <p:nvPr/>
        </p:nvSpPr>
        <p:spPr>
          <a:xfrm>
            <a:off x="5596128" y="2286000"/>
            <a:ext cx="144475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Up to 66% savings</a:t>
            </a:r>
            <a:endParaRPr lang="en-US" sz="900" dirty="0"/>
          </a:p>
        </p:txBody>
      </p:sp>
      <p:sp>
        <p:nvSpPr>
          <p:cNvPr id="65" name="Text 59"/>
          <p:cNvSpPr/>
          <p:nvPr/>
        </p:nvSpPr>
        <p:spPr>
          <a:xfrm>
            <a:off x="5559552" y="2596896"/>
            <a:ext cx="1517904" cy="237744"/>
          </a:xfrm>
          <a:prstGeom prst="rect">
            <a:avLst/>
          </a:prstGeom>
          <a:noFill/>
          <a:ln/>
        </p:spPr>
        <p:txBody>
          <a:bodyPr wrap="square" rtlCol="0" anchor="ctr"/>
          <a:lstStyle/>
          <a:p>
            <a:pPr algn="ctr" indent="0" marL="0">
              <a:buNone/>
            </a:pPr>
            <a:r>
              <a:rPr lang="en-US" sz="850" i="1" dirty="0">
                <a:solidFill>
                  <a:srgbClr val="8A9BB0"/>
                </a:solidFill>
                <a:latin typeface="Calibri" pitchFamily="34" charset="0"/>
                <a:ea typeface="Calibri" pitchFamily="34" charset="-122"/>
                <a:cs typeface="Calibri" pitchFamily="34" charset="-120"/>
              </a:rPr>
              <a:t>1 or 3 years</a:t>
            </a:r>
            <a:endParaRPr lang="en-US" sz="850" dirty="0"/>
          </a:p>
        </p:txBody>
      </p:sp>
      <p:sp>
        <p:nvSpPr>
          <p:cNvPr id="66" name="Shape 60"/>
          <p:cNvSpPr/>
          <p:nvPr/>
        </p:nvSpPr>
        <p:spPr>
          <a:xfrm>
            <a:off x="5596128" y="2907792"/>
            <a:ext cx="91440" cy="91440"/>
          </a:xfrm>
          <a:prstGeom prst="ellipse">
            <a:avLst/>
          </a:prstGeom>
          <a:solidFill>
            <a:srgbClr val="A855F7"/>
          </a:solidFill>
          <a:ln/>
        </p:spPr>
      </p:sp>
      <p:sp>
        <p:nvSpPr>
          <p:cNvPr id="67" name="Text 61"/>
          <p:cNvSpPr/>
          <p:nvPr/>
        </p:nvSpPr>
        <p:spPr>
          <a:xfrm>
            <a:off x="5724144" y="2852928"/>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$/hour commitment</a:t>
            </a:r>
            <a:endParaRPr lang="en-US" sz="900" dirty="0"/>
          </a:p>
        </p:txBody>
      </p:sp>
      <p:sp>
        <p:nvSpPr>
          <p:cNvPr id="68" name="Shape 62"/>
          <p:cNvSpPr/>
          <p:nvPr/>
        </p:nvSpPr>
        <p:spPr>
          <a:xfrm>
            <a:off x="5596128" y="3346704"/>
            <a:ext cx="91440" cy="91440"/>
          </a:xfrm>
          <a:prstGeom prst="ellipse">
            <a:avLst/>
          </a:prstGeom>
          <a:solidFill>
            <a:srgbClr val="A855F7"/>
          </a:solidFill>
          <a:ln/>
        </p:spPr>
      </p:sp>
      <p:sp>
        <p:nvSpPr>
          <p:cNvPr id="69" name="Text 63"/>
          <p:cNvSpPr/>
          <p:nvPr/>
        </p:nvSpPr>
        <p:spPr>
          <a:xfrm>
            <a:off x="5724144" y="3291840"/>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Compute &amp; EC2 plans</a:t>
            </a:r>
            <a:endParaRPr lang="en-US" sz="900" dirty="0"/>
          </a:p>
        </p:txBody>
      </p:sp>
      <p:sp>
        <p:nvSpPr>
          <p:cNvPr id="70" name="Shape 64"/>
          <p:cNvSpPr/>
          <p:nvPr/>
        </p:nvSpPr>
        <p:spPr>
          <a:xfrm>
            <a:off x="5596128" y="3785616"/>
            <a:ext cx="91440" cy="91440"/>
          </a:xfrm>
          <a:prstGeom prst="ellipse">
            <a:avLst/>
          </a:prstGeom>
          <a:solidFill>
            <a:srgbClr val="A855F7"/>
          </a:solidFill>
          <a:ln/>
        </p:spPr>
      </p:sp>
      <p:sp>
        <p:nvSpPr>
          <p:cNvPr id="71" name="Text 65"/>
          <p:cNvSpPr/>
          <p:nvPr/>
        </p:nvSpPr>
        <p:spPr>
          <a:xfrm>
            <a:off x="5724144" y="3730752"/>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Covers Lambda too</a:t>
            </a:r>
            <a:endParaRPr lang="en-US" sz="900" dirty="0"/>
          </a:p>
        </p:txBody>
      </p:sp>
      <p:sp>
        <p:nvSpPr>
          <p:cNvPr id="72" name="Shape 66"/>
          <p:cNvSpPr/>
          <p:nvPr/>
        </p:nvSpPr>
        <p:spPr>
          <a:xfrm>
            <a:off x="5596128" y="4224528"/>
            <a:ext cx="91440" cy="91440"/>
          </a:xfrm>
          <a:prstGeom prst="ellipse">
            <a:avLst/>
          </a:prstGeom>
          <a:solidFill>
            <a:srgbClr val="A855F7"/>
          </a:solidFill>
          <a:ln/>
        </p:spPr>
      </p:sp>
      <p:sp>
        <p:nvSpPr>
          <p:cNvPr id="73" name="Text 67"/>
          <p:cNvSpPr/>
          <p:nvPr/>
        </p:nvSpPr>
        <p:spPr>
          <a:xfrm>
            <a:off x="5724144" y="4169664"/>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Auto applies discounts</a:t>
            </a:r>
            <a:endParaRPr lang="en-US" sz="900" dirty="0"/>
          </a:p>
        </p:txBody>
      </p:sp>
      <p:sp>
        <p:nvSpPr>
          <p:cNvPr id="74" name="Text 68"/>
          <p:cNvSpPr/>
          <p:nvPr/>
        </p:nvSpPr>
        <p:spPr>
          <a:xfrm>
            <a:off x="5559552" y="4572000"/>
            <a:ext cx="1517904" cy="182880"/>
          </a:xfrm>
          <a:prstGeom prst="rect">
            <a:avLst/>
          </a:prstGeom>
          <a:noFill/>
          <a:ln/>
        </p:spPr>
        <p:txBody>
          <a:bodyPr wrap="square" rtlCol="0" anchor="ctr"/>
          <a:lstStyle/>
          <a:p>
            <a:pPr indent="0" marL="0">
              <a:buNone/>
            </a:pPr>
            <a:r>
              <a:rPr lang="en-US" sz="800" b="1" dirty="0">
                <a:solidFill>
                  <a:srgbClr val="A855F7"/>
                </a:solidFill>
                <a:latin typeface="Calibri" pitchFamily="34" charset="0"/>
                <a:ea typeface="Calibri" pitchFamily="34" charset="-122"/>
                <a:cs typeface="Calibri" pitchFamily="34" charset="-120"/>
              </a:rPr>
              <a:t>Best for:</a:t>
            </a:r>
            <a:endParaRPr lang="en-US" sz="800" dirty="0"/>
          </a:p>
        </p:txBody>
      </p:sp>
      <p:sp>
        <p:nvSpPr>
          <p:cNvPr id="75" name="Text 69"/>
          <p:cNvSpPr/>
          <p:nvPr/>
        </p:nvSpPr>
        <p:spPr>
          <a:xfrm>
            <a:off x="5559552" y="4736592"/>
            <a:ext cx="1517904" cy="347472"/>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Flexible compute usage across services</a:t>
            </a:r>
            <a:endParaRPr lang="en-US" sz="750" dirty="0"/>
          </a:p>
        </p:txBody>
      </p:sp>
      <p:sp>
        <p:nvSpPr>
          <p:cNvPr id="76" name="Shape 70"/>
          <p:cNvSpPr/>
          <p:nvPr/>
        </p:nvSpPr>
        <p:spPr>
          <a:xfrm>
            <a:off x="7260336" y="1024128"/>
            <a:ext cx="1664208" cy="3913632"/>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77" name="Shape 71"/>
          <p:cNvSpPr/>
          <p:nvPr/>
        </p:nvSpPr>
        <p:spPr>
          <a:xfrm>
            <a:off x="7260336" y="1024128"/>
            <a:ext cx="1664208" cy="73152"/>
          </a:xfrm>
          <a:prstGeom prst="rect">
            <a:avLst/>
          </a:prstGeom>
          <a:solidFill>
            <a:srgbClr val="EF4444"/>
          </a:solidFill>
          <a:ln/>
        </p:spPr>
      </p:sp>
      <p:sp>
        <p:nvSpPr>
          <p:cNvPr id="78" name="Shape 72"/>
          <p:cNvSpPr/>
          <p:nvPr/>
        </p:nvSpPr>
        <p:spPr>
          <a:xfrm>
            <a:off x="7827264" y="1188720"/>
            <a:ext cx="530352" cy="530352"/>
          </a:xfrm>
          <a:prstGeom prst="ellipse">
            <a:avLst/>
          </a:prstGeom>
          <a:solidFill>
            <a:srgbClr val="EF4444"/>
          </a:solidFill>
          <a:ln/>
        </p:spPr>
      </p:sp>
      <p:pic>
        <p:nvPicPr>
          <p:cNvPr id="79" name="Image 4" descr="preencoded.png">    </p:cNvPr>
          <p:cNvPicPr>
            <a:picLocks noChangeAspect="1"/>
          </p:cNvPicPr>
          <p:nvPr/>
        </p:nvPicPr>
        <p:blipFill>
          <a:blip r:embed="rId5"/>
          <a:stretch>
            <a:fillRect/>
          </a:stretch>
        </p:blipFill>
        <p:spPr>
          <a:xfrm>
            <a:off x="7927848" y="1271016"/>
            <a:ext cx="329184" cy="329184"/>
          </a:xfrm>
          <a:prstGeom prst="rect">
            <a:avLst/>
          </a:prstGeom>
        </p:spPr>
      </p:pic>
      <p:sp>
        <p:nvSpPr>
          <p:cNvPr id="80" name="Text 73"/>
          <p:cNvSpPr/>
          <p:nvPr/>
        </p:nvSpPr>
        <p:spPr>
          <a:xfrm>
            <a:off x="7333488" y="1801368"/>
            <a:ext cx="1517904"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Dedicated Hosts</a:t>
            </a:r>
            <a:endParaRPr lang="en-US" sz="1100" dirty="0"/>
          </a:p>
        </p:txBody>
      </p:sp>
      <p:sp>
        <p:nvSpPr>
          <p:cNvPr id="81" name="Shape 74"/>
          <p:cNvSpPr/>
          <p:nvPr/>
        </p:nvSpPr>
        <p:spPr>
          <a:xfrm>
            <a:off x="7370064" y="2286000"/>
            <a:ext cx="1444752" cy="256032"/>
          </a:xfrm>
          <a:prstGeom prst="roundRect">
            <a:avLst>
              <a:gd name="adj" fmla="val 21429"/>
            </a:avLst>
          </a:prstGeom>
          <a:solidFill>
            <a:srgbClr val="EF4444"/>
          </a:solidFill>
          <a:ln/>
        </p:spPr>
      </p:sp>
      <p:sp>
        <p:nvSpPr>
          <p:cNvPr id="82" name="Text 75"/>
          <p:cNvSpPr/>
          <p:nvPr/>
        </p:nvSpPr>
        <p:spPr>
          <a:xfrm>
            <a:off x="7370064" y="2286000"/>
            <a:ext cx="144475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Compliance-driven</a:t>
            </a:r>
            <a:endParaRPr lang="en-US" sz="900" dirty="0"/>
          </a:p>
        </p:txBody>
      </p:sp>
      <p:sp>
        <p:nvSpPr>
          <p:cNvPr id="83" name="Text 76"/>
          <p:cNvSpPr/>
          <p:nvPr/>
        </p:nvSpPr>
        <p:spPr>
          <a:xfrm>
            <a:off x="7333488" y="2596896"/>
            <a:ext cx="1517904" cy="237744"/>
          </a:xfrm>
          <a:prstGeom prst="rect">
            <a:avLst/>
          </a:prstGeom>
          <a:noFill/>
          <a:ln/>
        </p:spPr>
        <p:txBody>
          <a:bodyPr wrap="square" rtlCol="0" anchor="ctr"/>
          <a:lstStyle/>
          <a:p>
            <a:pPr algn="ctr" indent="0" marL="0">
              <a:buNone/>
            </a:pPr>
            <a:r>
              <a:rPr lang="en-US" sz="850" i="1" dirty="0">
                <a:solidFill>
                  <a:srgbClr val="8A9BB0"/>
                </a:solidFill>
                <a:latin typeface="Calibri" pitchFamily="34" charset="0"/>
                <a:ea typeface="Calibri" pitchFamily="34" charset="-122"/>
                <a:cs typeface="Calibri" pitchFamily="34" charset="-120"/>
              </a:rPr>
              <a:t>On-Demand or Reserved</a:t>
            </a:r>
            <a:endParaRPr lang="en-US" sz="850" dirty="0"/>
          </a:p>
        </p:txBody>
      </p:sp>
      <p:sp>
        <p:nvSpPr>
          <p:cNvPr id="84" name="Shape 77"/>
          <p:cNvSpPr/>
          <p:nvPr/>
        </p:nvSpPr>
        <p:spPr>
          <a:xfrm>
            <a:off x="7370064" y="2907792"/>
            <a:ext cx="91440" cy="91440"/>
          </a:xfrm>
          <a:prstGeom prst="ellipse">
            <a:avLst/>
          </a:prstGeom>
          <a:solidFill>
            <a:srgbClr val="EF4444"/>
          </a:solidFill>
          <a:ln/>
        </p:spPr>
      </p:sp>
      <p:sp>
        <p:nvSpPr>
          <p:cNvPr id="85" name="Text 78"/>
          <p:cNvSpPr/>
          <p:nvPr/>
        </p:nvSpPr>
        <p:spPr>
          <a:xfrm>
            <a:off x="7498080" y="2852928"/>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Physical server for you</a:t>
            </a:r>
            <a:endParaRPr lang="en-US" sz="900" dirty="0"/>
          </a:p>
        </p:txBody>
      </p:sp>
      <p:sp>
        <p:nvSpPr>
          <p:cNvPr id="86" name="Shape 79"/>
          <p:cNvSpPr/>
          <p:nvPr/>
        </p:nvSpPr>
        <p:spPr>
          <a:xfrm>
            <a:off x="7370064" y="3346704"/>
            <a:ext cx="91440" cy="91440"/>
          </a:xfrm>
          <a:prstGeom prst="ellipse">
            <a:avLst/>
          </a:prstGeom>
          <a:solidFill>
            <a:srgbClr val="EF4444"/>
          </a:solidFill>
          <a:ln/>
        </p:spPr>
      </p:sp>
      <p:sp>
        <p:nvSpPr>
          <p:cNvPr id="87" name="Text 80"/>
          <p:cNvSpPr/>
          <p:nvPr/>
        </p:nvSpPr>
        <p:spPr>
          <a:xfrm>
            <a:off x="7498080" y="3291840"/>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BYOL support</a:t>
            </a:r>
            <a:endParaRPr lang="en-US" sz="900" dirty="0"/>
          </a:p>
        </p:txBody>
      </p:sp>
      <p:sp>
        <p:nvSpPr>
          <p:cNvPr id="88" name="Shape 81"/>
          <p:cNvSpPr/>
          <p:nvPr/>
        </p:nvSpPr>
        <p:spPr>
          <a:xfrm>
            <a:off x="7370064" y="3785616"/>
            <a:ext cx="91440" cy="91440"/>
          </a:xfrm>
          <a:prstGeom prst="ellipse">
            <a:avLst/>
          </a:prstGeom>
          <a:solidFill>
            <a:srgbClr val="EF4444"/>
          </a:solidFill>
          <a:ln/>
        </p:spPr>
      </p:sp>
      <p:sp>
        <p:nvSpPr>
          <p:cNvPr id="89" name="Text 82"/>
          <p:cNvSpPr/>
          <p:nvPr/>
        </p:nvSpPr>
        <p:spPr>
          <a:xfrm>
            <a:off x="7498080" y="3730752"/>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Visibility into sockets</a:t>
            </a:r>
            <a:endParaRPr lang="en-US" sz="900" dirty="0"/>
          </a:p>
        </p:txBody>
      </p:sp>
      <p:sp>
        <p:nvSpPr>
          <p:cNvPr id="90" name="Shape 83"/>
          <p:cNvSpPr/>
          <p:nvPr/>
        </p:nvSpPr>
        <p:spPr>
          <a:xfrm>
            <a:off x="7370064" y="4224528"/>
            <a:ext cx="91440" cy="91440"/>
          </a:xfrm>
          <a:prstGeom prst="ellipse">
            <a:avLst/>
          </a:prstGeom>
          <a:solidFill>
            <a:srgbClr val="EF4444"/>
          </a:solidFill>
          <a:ln/>
        </p:spPr>
      </p:sp>
      <p:sp>
        <p:nvSpPr>
          <p:cNvPr id="91" name="Text 84"/>
          <p:cNvSpPr/>
          <p:nvPr/>
        </p:nvSpPr>
        <p:spPr>
          <a:xfrm>
            <a:off x="7498080" y="4169664"/>
            <a:ext cx="1389888" cy="347472"/>
          </a:xfrm>
          <a:prstGeom prst="rect">
            <a:avLst/>
          </a:prstGeom>
          <a:noFill/>
          <a:ln/>
        </p:spPr>
        <p:txBody>
          <a:bodyPr wrap="square" rtlCol="0" anchor="ctr"/>
          <a:lstStyle/>
          <a:p>
            <a:pPr indent="0" marL="0">
              <a:buNone/>
            </a:pPr>
            <a:r>
              <a:rPr lang="en-US" sz="900" dirty="0">
                <a:solidFill>
                  <a:srgbClr val="C0D0E0"/>
                </a:solidFill>
                <a:latin typeface="Calibri" pitchFamily="34" charset="0"/>
                <a:ea typeface="Calibri" pitchFamily="34" charset="-122"/>
                <a:cs typeface="Calibri" pitchFamily="34" charset="-120"/>
              </a:rPr>
              <a:t>Per-host billing</a:t>
            </a:r>
            <a:endParaRPr lang="en-US" sz="900" dirty="0"/>
          </a:p>
        </p:txBody>
      </p:sp>
      <p:sp>
        <p:nvSpPr>
          <p:cNvPr id="92" name="Text 85"/>
          <p:cNvSpPr/>
          <p:nvPr/>
        </p:nvSpPr>
        <p:spPr>
          <a:xfrm>
            <a:off x="7333488" y="4572000"/>
            <a:ext cx="1517904" cy="182880"/>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Best for:</a:t>
            </a:r>
            <a:endParaRPr lang="en-US" sz="800" dirty="0"/>
          </a:p>
        </p:txBody>
      </p:sp>
      <p:sp>
        <p:nvSpPr>
          <p:cNvPr id="93" name="Text 86"/>
          <p:cNvSpPr/>
          <p:nvPr/>
        </p:nvSpPr>
        <p:spPr>
          <a:xfrm>
            <a:off x="7333488" y="4736592"/>
            <a:ext cx="1517904" cy="347472"/>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Regulatory, licensing &amp; compliance requirements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5E20"/>
          </a:solidFill>
          <a:ln/>
        </p:spPr>
      </p:sp>
      <p:pic>
        <p:nvPicPr>
          <p:cNvPr id="3" name="Image 0" descr="preencoded.png">    </p:cNvPr>
          <p:cNvPicPr>
            <a:picLocks noChangeAspect="1"/>
          </p:cNvPicPr>
          <p:nvPr/>
        </p:nvPicPr>
        <p:blipFill>
          <a:blip r:embed="rId1"/>
          <a:stretch>
            <a:fillRect/>
          </a:stretch>
        </p:blipFill>
        <p:spPr>
          <a:xfrm>
            <a:off x="182880" y="109728"/>
            <a:ext cx="658368" cy="658368"/>
          </a:xfrm>
          <a:prstGeom prst="rect">
            <a:avLst/>
          </a:prstGeom>
        </p:spPr>
      </p:pic>
      <p:sp>
        <p:nvSpPr>
          <p:cNvPr id="4" name="Text 1"/>
          <p:cNvSpPr/>
          <p:nvPr/>
        </p:nvSpPr>
        <p:spPr>
          <a:xfrm>
            <a:off x="1005840" y="109728"/>
            <a:ext cx="7863840" cy="69494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LAB: Launch Linux EC2 &amp; Connect via SSH</a:t>
            </a:r>
            <a:endParaRPr lang="en-US" sz="2200" dirty="0"/>
          </a:p>
        </p:txBody>
      </p:sp>
      <p:sp>
        <p:nvSpPr>
          <p:cNvPr id="5" name="Shape 2"/>
          <p:cNvSpPr/>
          <p:nvPr/>
        </p:nvSpPr>
        <p:spPr>
          <a:xfrm>
            <a:off x="201168" y="100584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6" name="Shape 3"/>
          <p:cNvSpPr/>
          <p:nvPr/>
        </p:nvSpPr>
        <p:spPr>
          <a:xfrm>
            <a:off x="292608" y="1152144"/>
            <a:ext cx="420624" cy="420624"/>
          </a:xfrm>
          <a:prstGeom prst="ellipse">
            <a:avLst/>
          </a:prstGeom>
          <a:solidFill>
            <a:srgbClr val="1B5E20"/>
          </a:solidFill>
          <a:ln/>
        </p:spPr>
      </p:sp>
      <p:sp>
        <p:nvSpPr>
          <p:cNvPr id="7" name="Text 4"/>
          <p:cNvSpPr/>
          <p:nvPr/>
        </p:nvSpPr>
        <p:spPr>
          <a:xfrm>
            <a:off x="292608" y="115214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795528" y="111556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Open EC2 Console</a:t>
            </a:r>
            <a:endParaRPr lang="en-US" sz="1200" dirty="0"/>
          </a:p>
        </p:txBody>
      </p:sp>
      <p:sp>
        <p:nvSpPr>
          <p:cNvPr id="9" name="Text 6"/>
          <p:cNvSpPr/>
          <p:nvPr/>
        </p:nvSpPr>
        <p:spPr>
          <a:xfrm>
            <a:off x="795528" y="138988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Log in to AWS → Services → EC2 → Click 'Launch Instance'</a:t>
            </a:r>
            <a:endParaRPr lang="en-US" sz="950" dirty="0"/>
          </a:p>
        </p:txBody>
      </p:sp>
      <p:sp>
        <p:nvSpPr>
          <p:cNvPr id="10" name="Shape 7"/>
          <p:cNvSpPr/>
          <p:nvPr/>
        </p:nvSpPr>
        <p:spPr>
          <a:xfrm>
            <a:off x="201168" y="201168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1" name="Shape 8"/>
          <p:cNvSpPr/>
          <p:nvPr/>
        </p:nvSpPr>
        <p:spPr>
          <a:xfrm>
            <a:off x="292608" y="2157984"/>
            <a:ext cx="420624" cy="420624"/>
          </a:xfrm>
          <a:prstGeom prst="ellipse">
            <a:avLst/>
          </a:prstGeom>
          <a:solidFill>
            <a:srgbClr val="1B5E20"/>
          </a:solidFill>
          <a:ln/>
        </p:spPr>
      </p:sp>
      <p:sp>
        <p:nvSpPr>
          <p:cNvPr id="12" name="Text 9"/>
          <p:cNvSpPr/>
          <p:nvPr/>
        </p:nvSpPr>
        <p:spPr>
          <a:xfrm>
            <a:off x="292608" y="215798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795528" y="212140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Choose AMI</a:t>
            </a:r>
            <a:endParaRPr lang="en-US" sz="1200" dirty="0"/>
          </a:p>
        </p:txBody>
      </p:sp>
      <p:sp>
        <p:nvSpPr>
          <p:cNvPr id="14" name="Text 11"/>
          <p:cNvSpPr/>
          <p:nvPr/>
        </p:nvSpPr>
        <p:spPr>
          <a:xfrm>
            <a:off x="795528" y="239572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Amazon Linux 2023 (Free tier eligible, 64-bit x86)</a:t>
            </a:r>
            <a:endParaRPr lang="en-US" sz="950" dirty="0"/>
          </a:p>
        </p:txBody>
      </p:sp>
      <p:sp>
        <p:nvSpPr>
          <p:cNvPr id="15" name="Shape 12"/>
          <p:cNvSpPr/>
          <p:nvPr/>
        </p:nvSpPr>
        <p:spPr>
          <a:xfrm>
            <a:off x="201168" y="301752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6" name="Shape 13"/>
          <p:cNvSpPr/>
          <p:nvPr/>
        </p:nvSpPr>
        <p:spPr>
          <a:xfrm>
            <a:off x="292608" y="3163824"/>
            <a:ext cx="420624" cy="420624"/>
          </a:xfrm>
          <a:prstGeom prst="ellipse">
            <a:avLst/>
          </a:prstGeom>
          <a:solidFill>
            <a:srgbClr val="1B5E20"/>
          </a:solidFill>
          <a:ln/>
        </p:spPr>
      </p:sp>
      <p:sp>
        <p:nvSpPr>
          <p:cNvPr id="17" name="Text 14"/>
          <p:cNvSpPr/>
          <p:nvPr/>
        </p:nvSpPr>
        <p:spPr>
          <a:xfrm>
            <a:off x="292608" y="3163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795528" y="312724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Choose Instance Type</a:t>
            </a:r>
            <a:endParaRPr lang="en-US" sz="1200" dirty="0"/>
          </a:p>
        </p:txBody>
      </p:sp>
      <p:sp>
        <p:nvSpPr>
          <p:cNvPr id="19" name="Text 16"/>
          <p:cNvSpPr/>
          <p:nvPr/>
        </p:nvSpPr>
        <p:spPr>
          <a:xfrm>
            <a:off x="795528" y="340156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t2.micro (Free tier). Click 'Next: Configure Instance Details'</a:t>
            </a:r>
            <a:endParaRPr lang="en-US" sz="950" dirty="0"/>
          </a:p>
        </p:txBody>
      </p:sp>
      <p:sp>
        <p:nvSpPr>
          <p:cNvPr id="20" name="Shape 17"/>
          <p:cNvSpPr/>
          <p:nvPr/>
        </p:nvSpPr>
        <p:spPr>
          <a:xfrm>
            <a:off x="201168" y="402336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1" name="Shape 18"/>
          <p:cNvSpPr/>
          <p:nvPr/>
        </p:nvSpPr>
        <p:spPr>
          <a:xfrm>
            <a:off x="292608" y="4169664"/>
            <a:ext cx="420624" cy="420624"/>
          </a:xfrm>
          <a:prstGeom prst="ellipse">
            <a:avLst/>
          </a:prstGeom>
          <a:solidFill>
            <a:srgbClr val="1B5E20"/>
          </a:solidFill>
          <a:ln/>
        </p:spPr>
      </p:sp>
      <p:sp>
        <p:nvSpPr>
          <p:cNvPr id="22" name="Text 19"/>
          <p:cNvSpPr/>
          <p:nvPr/>
        </p:nvSpPr>
        <p:spPr>
          <a:xfrm>
            <a:off x="292608" y="416966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795528" y="413308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Configure Network</a:t>
            </a:r>
            <a:endParaRPr lang="en-US" sz="1200" dirty="0"/>
          </a:p>
        </p:txBody>
      </p:sp>
      <p:sp>
        <p:nvSpPr>
          <p:cNvPr id="24" name="Text 21"/>
          <p:cNvSpPr/>
          <p:nvPr/>
        </p:nvSpPr>
        <p:spPr>
          <a:xfrm>
            <a:off x="795528" y="440740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your VPC and Public Subnet. Enable Auto-assign Public IP</a:t>
            </a:r>
            <a:endParaRPr lang="en-US" sz="950" dirty="0"/>
          </a:p>
        </p:txBody>
      </p:sp>
      <p:sp>
        <p:nvSpPr>
          <p:cNvPr id="25" name="Shape 22"/>
          <p:cNvSpPr/>
          <p:nvPr/>
        </p:nvSpPr>
        <p:spPr>
          <a:xfrm>
            <a:off x="4727448" y="100584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6" name="Shape 23"/>
          <p:cNvSpPr/>
          <p:nvPr/>
        </p:nvSpPr>
        <p:spPr>
          <a:xfrm>
            <a:off x="4818888" y="1152144"/>
            <a:ext cx="420624" cy="420624"/>
          </a:xfrm>
          <a:prstGeom prst="ellipse">
            <a:avLst/>
          </a:prstGeom>
          <a:solidFill>
            <a:srgbClr val="1B5E20"/>
          </a:solidFill>
          <a:ln/>
        </p:spPr>
      </p:sp>
      <p:sp>
        <p:nvSpPr>
          <p:cNvPr id="27" name="Text 24"/>
          <p:cNvSpPr/>
          <p:nvPr/>
        </p:nvSpPr>
        <p:spPr>
          <a:xfrm>
            <a:off x="4818888" y="115214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5321808" y="111556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Add Storage</a:t>
            </a:r>
            <a:endParaRPr lang="en-US" sz="1200" dirty="0"/>
          </a:p>
        </p:txBody>
      </p:sp>
      <p:sp>
        <p:nvSpPr>
          <p:cNvPr id="29" name="Text 26"/>
          <p:cNvSpPr/>
          <p:nvPr/>
        </p:nvSpPr>
        <p:spPr>
          <a:xfrm>
            <a:off x="5321808" y="138988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Default 8 GiB gp3 SSD root volume (increase if needed)</a:t>
            </a:r>
            <a:endParaRPr lang="en-US" sz="950" dirty="0"/>
          </a:p>
        </p:txBody>
      </p:sp>
      <p:sp>
        <p:nvSpPr>
          <p:cNvPr id="30" name="Shape 27"/>
          <p:cNvSpPr/>
          <p:nvPr/>
        </p:nvSpPr>
        <p:spPr>
          <a:xfrm>
            <a:off x="4727448" y="201168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1" name="Shape 28"/>
          <p:cNvSpPr/>
          <p:nvPr/>
        </p:nvSpPr>
        <p:spPr>
          <a:xfrm>
            <a:off x="4818888" y="2157984"/>
            <a:ext cx="420624" cy="420624"/>
          </a:xfrm>
          <a:prstGeom prst="ellipse">
            <a:avLst/>
          </a:prstGeom>
          <a:solidFill>
            <a:srgbClr val="1B5E20"/>
          </a:solidFill>
          <a:ln/>
        </p:spPr>
      </p:sp>
      <p:sp>
        <p:nvSpPr>
          <p:cNvPr id="32" name="Text 29"/>
          <p:cNvSpPr/>
          <p:nvPr/>
        </p:nvSpPr>
        <p:spPr>
          <a:xfrm>
            <a:off x="4818888" y="215798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5321808" y="212140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Security Group</a:t>
            </a:r>
            <a:endParaRPr lang="en-US" sz="1200" dirty="0"/>
          </a:p>
        </p:txBody>
      </p:sp>
      <p:sp>
        <p:nvSpPr>
          <p:cNvPr id="34" name="Text 31"/>
          <p:cNvSpPr/>
          <p:nvPr/>
        </p:nvSpPr>
        <p:spPr>
          <a:xfrm>
            <a:off x="5321808" y="239572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Create new SG: Allow SSH (port 22) from your IP (e.g., 0.0.0.0/0 for lab)</a:t>
            </a:r>
            <a:endParaRPr lang="en-US" sz="950" dirty="0"/>
          </a:p>
        </p:txBody>
      </p:sp>
      <p:sp>
        <p:nvSpPr>
          <p:cNvPr id="35" name="Shape 32"/>
          <p:cNvSpPr/>
          <p:nvPr/>
        </p:nvSpPr>
        <p:spPr>
          <a:xfrm>
            <a:off x="4727448" y="301752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6" name="Shape 33"/>
          <p:cNvSpPr/>
          <p:nvPr/>
        </p:nvSpPr>
        <p:spPr>
          <a:xfrm>
            <a:off x="4818888" y="3163824"/>
            <a:ext cx="420624" cy="420624"/>
          </a:xfrm>
          <a:prstGeom prst="ellipse">
            <a:avLst/>
          </a:prstGeom>
          <a:solidFill>
            <a:srgbClr val="1B5E20"/>
          </a:solidFill>
          <a:ln/>
        </p:spPr>
      </p:sp>
      <p:sp>
        <p:nvSpPr>
          <p:cNvPr id="37" name="Text 34"/>
          <p:cNvSpPr/>
          <p:nvPr/>
        </p:nvSpPr>
        <p:spPr>
          <a:xfrm>
            <a:off x="4818888" y="3163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5321808" y="312724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Create Key Pair</a:t>
            </a:r>
            <a:endParaRPr lang="en-US" sz="1200" dirty="0"/>
          </a:p>
        </p:txBody>
      </p:sp>
      <p:sp>
        <p:nvSpPr>
          <p:cNvPr id="39" name="Text 36"/>
          <p:cNvSpPr/>
          <p:nvPr/>
        </p:nvSpPr>
        <p:spPr>
          <a:xfrm>
            <a:off x="5321808" y="340156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Create new RSA key pair → Download .pem file → Store securely</a:t>
            </a:r>
            <a:endParaRPr lang="en-US" sz="950" dirty="0"/>
          </a:p>
        </p:txBody>
      </p:sp>
      <p:sp>
        <p:nvSpPr>
          <p:cNvPr id="40" name="Shape 37"/>
          <p:cNvSpPr/>
          <p:nvPr/>
        </p:nvSpPr>
        <p:spPr>
          <a:xfrm>
            <a:off x="4727448" y="4023360"/>
            <a:ext cx="4315968" cy="1298448"/>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41" name="Shape 38"/>
          <p:cNvSpPr/>
          <p:nvPr/>
        </p:nvSpPr>
        <p:spPr>
          <a:xfrm>
            <a:off x="4818888" y="4169664"/>
            <a:ext cx="420624" cy="420624"/>
          </a:xfrm>
          <a:prstGeom prst="ellipse">
            <a:avLst/>
          </a:prstGeom>
          <a:solidFill>
            <a:srgbClr val="1B5E20"/>
          </a:solidFill>
          <a:ln/>
        </p:spPr>
      </p:sp>
      <p:sp>
        <p:nvSpPr>
          <p:cNvPr id="42" name="Text 39"/>
          <p:cNvSpPr/>
          <p:nvPr/>
        </p:nvSpPr>
        <p:spPr>
          <a:xfrm>
            <a:off x="4818888" y="416966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5321808" y="413308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Launch &amp; Connect via SSH</a:t>
            </a:r>
            <a:endParaRPr lang="en-US" sz="1200" dirty="0"/>
          </a:p>
        </p:txBody>
      </p:sp>
      <p:sp>
        <p:nvSpPr>
          <p:cNvPr id="44" name="Text 41"/>
          <p:cNvSpPr/>
          <p:nvPr/>
        </p:nvSpPr>
        <p:spPr>
          <a:xfrm>
            <a:off x="5321808" y="440740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Get Public IP from console. Connect using terminal:</a:t>
            </a:r>
            <a:endParaRPr lang="en-US" sz="950" dirty="0"/>
          </a:p>
        </p:txBody>
      </p:sp>
      <p:sp>
        <p:nvSpPr>
          <p:cNvPr id="45" name="Shape 42"/>
          <p:cNvSpPr/>
          <p:nvPr/>
        </p:nvSpPr>
        <p:spPr>
          <a:xfrm>
            <a:off x="4837176" y="4828032"/>
            <a:ext cx="4096512" cy="402336"/>
          </a:xfrm>
          <a:prstGeom prst="rect">
            <a:avLst/>
          </a:prstGeom>
          <a:solidFill>
            <a:srgbClr val="1C2B3A"/>
          </a:solidFill>
          <a:ln/>
        </p:spPr>
      </p:sp>
      <p:sp>
        <p:nvSpPr>
          <p:cNvPr id="46" name="Text 43"/>
          <p:cNvSpPr/>
          <p:nvPr/>
        </p:nvSpPr>
        <p:spPr>
          <a:xfrm>
            <a:off x="4928616" y="4837176"/>
            <a:ext cx="3931920" cy="384048"/>
          </a:xfrm>
          <a:prstGeom prst="rect">
            <a:avLst/>
          </a:prstGeom>
          <a:noFill/>
          <a:ln/>
        </p:spPr>
        <p:txBody>
          <a:bodyPr wrap="square" rtlCol="0" anchor="ctr"/>
          <a:lstStyle/>
          <a:p>
            <a:pPr indent="0" marL="0">
              <a:buNone/>
            </a:pPr>
            <a:r>
              <a:rPr lang="en-US" sz="900" dirty="0">
                <a:solidFill>
                  <a:srgbClr val="98FB98"/>
                </a:solidFill>
                <a:latin typeface="Consolas" pitchFamily="34" charset="0"/>
                <a:ea typeface="Consolas" pitchFamily="34" charset="-122"/>
                <a:cs typeface="Consolas" pitchFamily="34" charset="-120"/>
              </a:rPr>
              <a:t>chmod 400 my-key.pem</a:t>
            </a:r>
            <a:endParaRPr lang="en-US" sz="900" dirty="0"/>
          </a:p>
          <a:p>
            <a:pPr indent="0" marL="0">
              <a:buNone/>
            </a:pPr>
            <a:r>
              <a:rPr lang="en-US" sz="900" dirty="0">
                <a:solidFill>
                  <a:srgbClr val="98FB98"/>
                </a:solidFill>
                <a:latin typeface="Consolas" pitchFamily="34" charset="0"/>
                <a:ea typeface="Consolas" pitchFamily="34" charset="-122"/>
                <a:cs typeface="Consolas" pitchFamily="34" charset="-120"/>
              </a:rPr>
              <a:t>ssh -i my-key.pem ec2-user@&lt;Public-IP&gt;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3399"/>
          </a:solidFill>
          <a:ln/>
        </p:spPr>
      </p:sp>
      <p:pic>
        <p:nvPicPr>
          <p:cNvPr id="3" name="Image 0" descr="preencoded.png">    </p:cNvPr>
          <p:cNvPicPr>
            <a:picLocks noChangeAspect="1"/>
          </p:cNvPicPr>
          <p:nvPr/>
        </p:nvPicPr>
        <p:blipFill>
          <a:blip r:embed="rId1"/>
          <a:stretch>
            <a:fillRect/>
          </a:stretch>
        </p:blipFill>
        <p:spPr>
          <a:xfrm>
            <a:off x="182880" y="109728"/>
            <a:ext cx="658368" cy="658368"/>
          </a:xfrm>
          <a:prstGeom prst="rect">
            <a:avLst/>
          </a:prstGeom>
        </p:spPr>
      </p:pic>
      <p:sp>
        <p:nvSpPr>
          <p:cNvPr id="4" name="Text 1"/>
          <p:cNvSpPr/>
          <p:nvPr/>
        </p:nvSpPr>
        <p:spPr>
          <a:xfrm>
            <a:off x="1005840" y="109728"/>
            <a:ext cx="7863840" cy="69494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LAB: Launch Windows EC2 &amp; Connect via RDP</a:t>
            </a:r>
            <a:endParaRPr lang="en-US" sz="2200" dirty="0"/>
          </a:p>
        </p:txBody>
      </p:sp>
      <p:sp>
        <p:nvSpPr>
          <p:cNvPr id="5" name="Shape 2"/>
          <p:cNvSpPr/>
          <p:nvPr/>
        </p:nvSpPr>
        <p:spPr>
          <a:xfrm>
            <a:off x="201168" y="100584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6" name="Shape 3"/>
          <p:cNvSpPr/>
          <p:nvPr/>
        </p:nvSpPr>
        <p:spPr>
          <a:xfrm>
            <a:off x="292608" y="1152144"/>
            <a:ext cx="420624" cy="420624"/>
          </a:xfrm>
          <a:prstGeom prst="ellipse">
            <a:avLst/>
          </a:prstGeom>
          <a:solidFill>
            <a:srgbClr val="003399"/>
          </a:solidFill>
          <a:ln/>
        </p:spPr>
      </p:sp>
      <p:sp>
        <p:nvSpPr>
          <p:cNvPr id="7" name="Text 4"/>
          <p:cNvSpPr/>
          <p:nvPr/>
        </p:nvSpPr>
        <p:spPr>
          <a:xfrm>
            <a:off x="292608" y="115214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795528" y="111556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Open EC2 Console</a:t>
            </a:r>
            <a:endParaRPr lang="en-US" sz="1200" dirty="0"/>
          </a:p>
        </p:txBody>
      </p:sp>
      <p:sp>
        <p:nvSpPr>
          <p:cNvPr id="9" name="Text 6"/>
          <p:cNvSpPr/>
          <p:nvPr/>
        </p:nvSpPr>
        <p:spPr>
          <a:xfrm>
            <a:off x="795528" y="138988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AWS Console → EC2 → Click 'Launch Instance'</a:t>
            </a:r>
            <a:endParaRPr lang="en-US" sz="950" dirty="0"/>
          </a:p>
        </p:txBody>
      </p:sp>
      <p:sp>
        <p:nvSpPr>
          <p:cNvPr id="10" name="Shape 7"/>
          <p:cNvSpPr/>
          <p:nvPr/>
        </p:nvSpPr>
        <p:spPr>
          <a:xfrm>
            <a:off x="201168" y="201168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1" name="Shape 8"/>
          <p:cNvSpPr/>
          <p:nvPr/>
        </p:nvSpPr>
        <p:spPr>
          <a:xfrm>
            <a:off x="292608" y="2157984"/>
            <a:ext cx="420624" cy="420624"/>
          </a:xfrm>
          <a:prstGeom prst="ellipse">
            <a:avLst/>
          </a:prstGeom>
          <a:solidFill>
            <a:srgbClr val="003399"/>
          </a:solidFill>
          <a:ln/>
        </p:spPr>
      </p:sp>
      <p:sp>
        <p:nvSpPr>
          <p:cNvPr id="12" name="Text 9"/>
          <p:cNvSpPr/>
          <p:nvPr/>
        </p:nvSpPr>
        <p:spPr>
          <a:xfrm>
            <a:off x="292608" y="215798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795528" y="212140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Choose Windows AMI</a:t>
            </a:r>
            <a:endParaRPr lang="en-US" sz="1200" dirty="0"/>
          </a:p>
        </p:txBody>
      </p:sp>
      <p:sp>
        <p:nvSpPr>
          <p:cNvPr id="14" name="Text 11"/>
          <p:cNvSpPr/>
          <p:nvPr/>
        </p:nvSpPr>
        <p:spPr>
          <a:xfrm>
            <a:off x="795528" y="239572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'Windows Server 2022 Base' (Free tier eligible)</a:t>
            </a:r>
            <a:endParaRPr lang="en-US" sz="950" dirty="0"/>
          </a:p>
        </p:txBody>
      </p:sp>
      <p:sp>
        <p:nvSpPr>
          <p:cNvPr id="15" name="Shape 12"/>
          <p:cNvSpPr/>
          <p:nvPr/>
        </p:nvSpPr>
        <p:spPr>
          <a:xfrm>
            <a:off x="201168" y="301752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16" name="Shape 13"/>
          <p:cNvSpPr/>
          <p:nvPr/>
        </p:nvSpPr>
        <p:spPr>
          <a:xfrm>
            <a:off x="292608" y="3163824"/>
            <a:ext cx="420624" cy="420624"/>
          </a:xfrm>
          <a:prstGeom prst="ellipse">
            <a:avLst/>
          </a:prstGeom>
          <a:solidFill>
            <a:srgbClr val="003399"/>
          </a:solidFill>
          <a:ln/>
        </p:spPr>
      </p:sp>
      <p:sp>
        <p:nvSpPr>
          <p:cNvPr id="17" name="Text 14"/>
          <p:cNvSpPr/>
          <p:nvPr/>
        </p:nvSpPr>
        <p:spPr>
          <a:xfrm>
            <a:off x="292608" y="3163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795528" y="312724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Instance Type</a:t>
            </a:r>
            <a:endParaRPr lang="en-US" sz="1200" dirty="0"/>
          </a:p>
        </p:txBody>
      </p:sp>
      <p:sp>
        <p:nvSpPr>
          <p:cNvPr id="19" name="Text 16"/>
          <p:cNvSpPr/>
          <p:nvPr/>
        </p:nvSpPr>
        <p:spPr>
          <a:xfrm>
            <a:off x="795528" y="340156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Choose t2.micro or t3.micro (Free tier). Proceed to next step</a:t>
            </a:r>
            <a:endParaRPr lang="en-US" sz="950" dirty="0"/>
          </a:p>
        </p:txBody>
      </p:sp>
      <p:sp>
        <p:nvSpPr>
          <p:cNvPr id="20" name="Shape 17"/>
          <p:cNvSpPr/>
          <p:nvPr/>
        </p:nvSpPr>
        <p:spPr>
          <a:xfrm>
            <a:off x="201168" y="402336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1" name="Shape 18"/>
          <p:cNvSpPr/>
          <p:nvPr/>
        </p:nvSpPr>
        <p:spPr>
          <a:xfrm>
            <a:off x="292608" y="4169664"/>
            <a:ext cx="420624" cy="420624"/>
          </a:xfrm>
          <a:prstGeom prst="ellipse">
            <a:avLst/>
          </a:prstGeom>
          <a:solidFill>
            <a:srgbClr val="003399"/>
          </a:solidFill>
          <a:ln/>
        </p:spPr>
      </p:sp>
      <p:sp>
        <p:nvSpPr>
          <p:cNvPr id="22" name="Text 19"/>
          <p:cNvSpPr/>
          <p:nvPr/>
        </p:nvSpPr>
        <p:spPr>
          <a:xfrm>
            <a:off x="292608" y="416966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795528" y="413308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Network Settings</a:t>
            </a:r>
            <a:endParaRPr lang="en-US" sz="1200" dirty="0"/>
          </a:p>
        </p:txBody>
      </p:sp>
      <p:sp>
        <p:nvSpPr>
          <p:cNvPr id="24" name="Text 21"/>
          <p:cNvSpPr/>
          <p:nvPr/>
        </p:nvSpPr>
        <p:spPr>
          <a:xfrm>
            <a:off x="795528" y="440740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VPC, public subnet. Enable auto-assign public IP</a:t>
            </a:r>
            <a:endParaRPr lang="en-US" sz="950" dirty="0"/>
          </a:p>
        </p:txBody>
      </p:sp>
      <p:sp>
        <p:nvSpPr>
          <p:cNvPr id="25" name="Shape 22"/>
          <p:cNvSpPr/>
          <p:nvPr/>
        </p:nvSpPr>
        <p:spPr>
          <a:xfrm>
            <a:off x="4727448" y="100584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26" name="Shape 23"/>
          <p:cNvSpPr/>
          <p:nvPr/>
        </p:nvSpPr>
        <p:spPr>
          <a:xfrm>
            <a:off x="4818888" y="1152144"/>
            <a:ext cx="420624" cy="420624"/>
          </a:xfrm>
          <a:prstGeom prst="ellipse">
            <a:avLst/>
          </a:prstGeom>
          <a:solidFill>
            <a:srgbClr val="003399"/>
          </a:solidFill>
          <a:ln/>
        </p:spPr>
      </p:sp>
      <p:sp>
        <p:nvSpPr>
          <p:cNvPr id="27" name="Text 24"/>
          <p:cNvSpPr/>
          <p:nvPr/>
        </p:nvSpPr>
        <p:spPr>
          <a:xfrm>
            <a:off x="4818888" y="115214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5321808" y="111556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Storage</a:t>
            </a:r>
            <a:endParaRPr lang="en-US" sz="1200" dirty="0"/>
          </a:p>
        </p:txBody>
      </p:sp>
      <p:sp>
        <p:nvSpPr>
          <p:cNvPr id="29" name="Text 26"/>
          <p:cNvSpPr/>
          <p:nvPr/>
        </p:nvSpPr>
        <p:spPr>
          <a:xfrm>
            <a:off x="5321808" y="138988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Default 30 GiB gp3 root volume (minimum for Windows)</a:t>
            </a:r>
            <a:endParaRPr lang="en-US" sz="950" dirty="0"/>
          </a:p>
        </p:txBody>
      </p:sp>
      <p:sp>
        <p:nvSpPr>
          <p:cNvPr id="30" name="Shape 27"/>
          <p:cNvSpPr/>
          <p:nvPr/>
        </p:nvSpPr>
        <p:spPr>
          <a:xfrm>
            <a:off x="4727448" y="201168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1" name="Shape 28"/>
          <p:cNvSpPr/>
          <p:nvPr/>
        </p:nvSpPr>
        <p:spPr>
          <a:xfrm>
            <a:off x="4818888" y="2157984"/>
            <a:ext cx="420624" cy="420624"/>
          </a:xfrm>
          <a:prstGeom prst="ellipse">
            <a:avLst/>
          </a:prstGeom>
          <a:solidFill>
            <a:srgbClr val="003399"/>
          </a:solidFill>
          <a:ln/>
        </p:spPr>
      </p:sp>
      <p:sp>
        <p:nvSpPr>
          <p:cNvPr id="32" name="Text 29"/>
          <p:cNvSpPr/>
          <p:nvPr/>
        </p:nvSpPr>
        <p:spPr>
          <a:xfrm>
            <a:off x="4818888" y="215798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5321808" y="212140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Security Group</a:t>
            </a:r>
            <a:endParaRPr lang="en-US" sz="1200" dirty="0"/>
          </a:p>
        </p:txBody>
      </p:sp>
      <p:sp>
        <p:nvSpPr>
          <p:cNvPr id="34" name="Text 31"/>
          <p:cNvSpPr/>
          <p:nvPr/>
        </p:nvSpPr>
        <p:spPr>
          <a:xfrm>
            <a:off x="5321808" y="239572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Allow RDP (port 3389) from your IP address for secure access</a:t>
            </a:r>
            <a:endParaRPr lang="en-US" sz="950" dirty="0"/>
          </a:p>
        </p:txBody>
      </p:sp>
      <p:sp>
        <p:nvSpPr>
          <p:cNvPr id="35" name="Shape 32"/>
          <p:cNvSpPr/>
          <p:nvPr/>
        </p:nvSpPr>
        <p:spPr>
          <a:xfrm>
            <a:off x="4727448" y="3017520"/>
            <a:ext cx="4315968" cy="804672"/>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36" name="Shape 33"/>
          <p:cNvSpPr/>
          <p:nvPr/>
        </p:nvSpPr>
        <p:spPr>
          <a:xfrm>
            <a:off x="4818888" y="3163824"/>
            <a:ext cx="420624" cy="420624"/>
          </a:xfrm>
          <a:prstGeom prst="ellipse">
            <a:avLst/>
          </a:prstGeom>
          <a:solidFill>
            <a:srgbClr val="003399"/>
          </a:solidFill>
          <a:ln/>
        </p:spPr>
      </p:sp>
      <p:sp>
        <p:nvSpPr>
          <p:cNvPr id="37" name="Text 34"/>
          <p:cNvSpPr/>
          <p:nvPr/>
        </p:nvSpPr>
        <p:spPr>
          <a:xfrm>
            <a:off x="4818888" y="3163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5321808" y="312724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Key Pair &amp; Launch</a:t>
            </a:r>
            <a:endParaRPr lang="en-US" sz="1200" dirty="0"/>
          </a:p>
        </p:txBody>
      </p:sp>
      <p:sp>
        <p:nvSpPr>
          <p:cNvPr id="39" name="Text 36"/>
          <p:cNvSpPr/>
          <p:nvPr/>
        </p:nvSpPr>
        <p:spPr>
          <a:xfrm>
            <a:off x="5321808" y="340156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existing or create new key pair. Launch the instance</a:t>
            </a:r>
            <a:endParaRPr lang="en-US" sz="950" dirty="0"/>
          </a:p>
        </p:txBody>
      </p:sp>
      <p:sp>
        <p:nvSpPr>
          <p:cNvPr id="40" name="Shape 37"/>
          <p:cNvSpPr/>
          <p:nvPr/>
        </p:nvSpPr>
        <p:spPr>
          <a:xfrm>
            <a:off x="4727448" y="4023360"/>
            <a:ext cx="4315968" cy="1298448"/>
          </a:xfrm>
          <a:prstGeom prst="rect">
            <a:avLst/>
          </a:prstGeom>
          <a:solidFill>
            <a:srgbClr val="F5F7FA"/>
          </a:solidFill>
          <a:ln/>
          <a:effectLst>
            <a:outerShdw sx="100000" sy="100000" kx="0" ky="0" algn="bl" rotWithShape="0" blurRad="101600" dist="38100" dir="8100000">
              <a:srgbClr val="000000">
                <a:alpha val="12000"/>
              </a:srgbClr>
            </a:outerShdw>
          </a:effectLst>
        </p:spPr>
      </p:sp>
      <p:sp>
        <p:nvSpPr>
          <p:cNvPr id="41" name="Shape 38"/>
          <p:cNvSpPr/>
          <p:nvPr/>
        </p:nvSpPr>
        <p:spPr>
          <a:xfrm>
            <a:off x="4818888" y="4169664"/>
            <a:ext cx="420624" cy="420624"/>
          </a:xfrm>
          <a:prstGeom prst="ellipse">
            <a:avLst/>
          </a:prstGeom>
          <a:solidFill>
            <a:srgbClr val="003399"/>
          </a:solidFill>
          <a:ln/>
        </p:spPr>
      </p:sp>
      <p:sp>
        <p:nvSpPr>
          <p:cNvPr id="42" name="Text 39"/>
          <p:cNvSpPr/>
          <p:nvPr/>
        </p:nvSpPr>
        <p:spPr>
          <a:xfrm>
            <a:off x="4818888" y="416966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5321808" y="4133088"/>
            <a:ext cx="3566160" cy="274320"/>
          </a:xfrm>
          <a:prstGeom prst="rect">
            <a:avLst/>
          </a:prstGeom>
          <a:noFill/>
          <a:ln/>
        </p:spPr>
        <p:txBody>
          <a:bodyPr wrap="square" rtlCol="0" anchor="ctr"/>
          <a:lstStyle/>
          <a:p>
            <a:pPr indent="0" marL="0">
              <a:buNone/>
            </a:pPr>
            <a:r>
              <a:rPr lang="en-US" sz="1200" b="1" dirty="0">
                <a:solidFill>
                  <a:srgbClr val="232F3E"/>
                </a:solidFill>
                <a:latin typeface="Calibri" pitchFamily="34" charset="0"/>
                <a:ea typeface="Calibri" pitchFamily="34" charset="-122"/>
                <a:cs typeface="Calibri" pitchFamily="34" charset="-120"/>
              </a:rPr>
              <a:t>Get Password &amp; Connect</a:t>
            </a:r>
            <a:endParaRPr lang="en-US" sz="1200" dirty="0"/>
          </a:p>
        </p:txBody>
      </p:sp>
      <p:sp>
        <p:nvSpPr>
          <p:cNvPr id="44" name="Text 41"/>
          <p:cNvSpPr/>
          <p:nvPr/>
        </p:nvSpPr>
        <p:spPr>
          <a:xfrm>
            <a:off x="5321808" y="4407408"/>
            <a:ext cx="3566160" cy="32004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Instance running → Connect → RDP Client → Get Password using .pem key → Download RDP file → Open with Remote Desktop</a:t>
            </a:r>
            <a:endParaRPr lang="en-US" sz="950" dirty="0"/>
          </a:p>
        </p:txBody>
      </p:sp>
      <p:sp>
        <p:nvSpPr>
          <p:cNvPr id="45" name="Shape 42"/>
          <p:cNvSpPr/>
          <p:nvPr/>
        </p:nvSpPr>
        <p:spPr>
          <a:xfrm>
            <a:off x="4837176" y="4828032"/>
            <a:ext cx="4096512" cy="402336"/>
          </a:xfrm>
          <a:prstGeom prst="rect">
            <a:avLst/>
          </a:prstGeom>
          <a:solidFill>
            <a:srgbClr val="1C2B3A"/>
          </a:solidFill>
          <a:ln/>
        </p:spPr>
      </p:sp>
      <p:sp>
        <p:nvSpPr>
          <p:cNvPr id="46" name="Text 43"/>
          <p:cNvSpPr/>
          <p:nvPr/>
        </p:nvSpPr>
        <p:spPr>
          <a:xfrm>
            <a:off x="4928616" y="4837176"/>
            <a:ext cx="3931920" cy="384048"/>
          </a:xfrm>
          <a:prstGeom prst="rect">
            <a:avLst/>
          </a:prstGeom>
          <a:noFill/>
          <a:ln/>
        </p:spPr>
        <p:txBody>
          <a:bodyPr wrap="square" rtlCol="0" anchor="ctr"/>
          <a:lstStyle/>
          <a:p>
            <a:pPr indent="0" marL="0">
              <a:buNone/>
            </a:pPr>
            <a:r>
              <a:rPr lang="en-US" sz="900" dirty="0">
                <a:solidFill>
                  <a:srgbClr val="87CEEB"/>
                </a:solidFill>
                <a:latin typeface="Consolas" pitchFamily="34" charset="0"/>
                <a:ea typeface="Consolas" pitchFamily="34" charset="-122"/>
                <a:cs typeface="Consolas" pitchFamily="34" charset="-120"/>
              </a:rPr>
              <a:t>mstsc.exe /v:&lt;Public-IP&gt;:3389</a:t>
            </a:r>
            <a:endParaRPr lang="en-US" sz="900" dirty="0"/>
          </a:p>
          <a:p>
            <a:pPr indent="0" marL="0">
              <a:buNone/>
            </a:pPr>
            <a:r>
              <a:rPr lang="en-US" sz="900" dirty="0">
                <a:solidFill>
                  <a:srgbClr val="87CEEB"/>
                </a:solidFill>
                <a:latin typeface="Consolas" pitchFamily="34" charset="0"/>
                <a:ea typeface="Consolas" pitchFamily="34" charset="-122"/>
                <a:cs typeface="Consolas" pitchFamily="34" charset="-120"/>
              </a:rPr>
              <a:t># Or download .rdp file from console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2D12"/>
          </a:solidFill>
          <a:ln/>
        </p:spPr>
      </p:sp>
      <p:pic>
        <p:nvPicPr>
          <p:cNvPr id="3" name="Image 0" descr="preencoded.png">    </p:cNvPr>
          <p:cNvPicPr>
            <a:picLocks noChangeAspect="1"/>
          </p:cNvPicPr>
          <p:nvPr/>
        </p:nvPicPr>
        <p:blipFill>
          <a:blip r:embed="rId1"/>
          <a:stretch>
            <a:fillRect/>
          </a:stretch>
        </p:blipFill>
        <p:spPr>
          <a:xfrm>
            <a:off x="182880" y="109728"/>
            <a:ext cx="658368" cy="658368"/>
          </a:xfrm>
          <a:prstGeom prst="rect">
            <a:avLst/>
          </a:prstGeom>
        </p:spPr>
      </p:pic>
      <p:sp>
        <p:nvSpPr>
          <p:cNvPr id="4" name="Text 1"/>
          <p:cNvSpPr/>
          <p:nvPr/>
        </p:nvSpPr>
        <p:spPr>
          <a:xfrm>
            <a:off x="1005840" y="109728"/>
            <a:ext cx="7863840" cy="69494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LAB: Auto Scaling Group &amp; Elastic Load Balancer</a:t>
            </a:r>
            <a:endParaRPr lang="en-US" sz="2200" dirty="0"/>
          </a:p>
        </p:txBody>
      </p:sp>
      <p:sp>
        <p:nvSpPr>
          <p:cNvPr id="5" name="Shape 2"/>
          <p:cNvSpPr/>
          <p:nvPr/>
        </p:nvSpPr>
        <p:spPr>
          <a:xfrm>
            <a:off x="201168" y="1005840"/>
            <a:ext cx="8741664" cy="1417320"/>
          </a:xfrm>
          <a:prstGeom prst="rect">
            <a:avLst/>
          </a:prstGeom>
          <a:solidFill>
            <a:srgbClr val="FFF7ED"/>
          </a:solidFill>
          <a:ln/>
          <a:effectLst>
            <a:outerShdw sx="100000" sy="100000" kx="0" ky="0" algn="bl" rotWithShape="0" blurRad="101600" dist="38100" dir="8100000">
              <a:srgbClr val="000000">
                <a:alpha val="12000"/>
              </a:srgbClr>
            </a:outerShdw>
          </a:effectLst>
        </p:spPr>
      </p:sp>
      <p:sp>
        <p:nvSpPr>
          <p:cNvPr id="6" name="Text 3"/>
          <p:cNvSpPr/>
          <p:nvPr/>
        </p:nvSpPr>
        <p:spPr>
          <a:xfrm>
            <a:off x="320040" y="1042416"/>
            <a:ext cx="2011680" cy="274320"/>
          </a:xfrm>
          <a:prstGeom prst="rect">
            <a:avLst/>
          </a:prstGeom>
          <a:noFill/>
          <a:ln/>
        </p:spPr>
        <p:txBody>
          <a:bodyPr wrap="square" rtlCol="0" anchor="ctr"/>
          <a:lstStyle/>
          <a:p>
            <a:pPr indent="0" marL="0">
              <a:buNone/>
            </a:pPr>
            <a:r>
              <a:rPr lang="en-US" sz="1100" b="1" dirty="0">
                <a:solidFill>
                  <a:srgbClr val="7C2D12"/>
                </a:solidFill>
                <a:latin typeface="Calibri" pitchFamily="34" charset="0"/>
                <a:ea typeface="Calibri" pitchFamily="34" charset="-122"/>
                <a:cs typeface="Calibri" pitchFamily="34" charset="-120"/>
              </a:rPr>
              <a:t>Architecture Overview</a:t>
            </a:r>
            <a:endParaRPr lang="en-US" sz="1100" dirty="0"/>
          </a:p>
        </p:txBody>
      </p:sp>
      <p:sp>
        <p:nvSpPr>
          <p:cNvPr id="7" name="Shape 4"/>
          <p:cNvSpPr/>
          <p:nvPr/>
        </p:nvSpPr>
        <p:spPr>
          <a:xfrm>
            <a:off x="274320" y="1371600"/>
            <a:ext cx="1572768" cy="777240"/>
          </a:xfrm>
          <a:prstGeom prst="roundRect">
            <a:avLst>
              <a:gd name="adj" fmla="val 9412"/>
            </a:avLst>
          </a:prstGeom>
          <a:solidFill>
            <a:srgbClr val="3B82F6"/>
          </a:solidFill>
          <a:ln/>
        </p:spPr>
      </p:sp>
      <p:sp>
        <p:nvSpPr>
          <p:cNvPr id="8" name="Text 5"/>
          <p:cNvSpPr/>
          <p:nvPr/>
        </p:nvSpPr>
        <p:spPr>
          <a:xfrm>
            <a:off x="274320" y="1371600"/>
            <a:ext cx="1572768" cy="7772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Users / Internet</a:t>
            </a:r>
            <a:endParaRPr lang="en-US" sz="900" dirty="0"/>
          </a:p>
        </p:txBody>
      </p:sp>
      <p:sp>
        <p:nvSpPr>
          <p:cNvPr id="9" name="Shape 6"/>
          <p:cNvSpPr/>
          <p:nvPr/>
        </p:nvSpPr>
        <p:spPr>
          <a:xfrm>
            <a:off x="1856232" y="1764792"/>
            <a:ext cx="128016" cy="0"/>
          </a:xfrm>
          <a:prstGeom prst="line">
            <a:avLst/>
          </a:prstGeom>
          <a:noFill/>
          <a:ln w="25400">
            <a:solidFill>
              <a:srgbClr val="FF9900"/>
            </a:solidFill>
            <a:prstDash val="solid"/>
          </a:ln>
        </p:spPr>
      </p:sp>
      <p:sp>
        <p:nvSpPr>
          <p:cNvPr id="10" name="Shape 7"/>
          <p:cNvSpPr/>
          <p:nvPr/>
        </p:nvSpPr>
        <p:spPr>
          <a:xfrm>
            <a:off x="1993392" y="1371600"/>
            <a:ext cx="1572768" cy="777240"/>
          </a:xfrm>
          <a:prstGeom prst="roundRect">
            <a:avLst>
              <a:gd name="adj" fmla="val 9412"/>
            </a:avLst>
          </a:prstGeom>
          <a:solidFill>
            <a:srgbClr val="8B5CF6"/>
          </a:solidFill>
          <a:ln/>
        </p:spPr>
      </p:sp>
      <p:sp>
        <p:nvSpPr>
          <p:cNvPr id="11" name="Text 8"/>
          <p:cNvSpPr/>
          <p:nvPr/>
        </p:nvSpPr>
        <p:spPr>
          <a:xfrm>
            <a:off x="1993392" y="1371600"/>
            <a:ext cx="1572768" cy="7772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Route 53 DNS</a:t>
            </a:r>
            <a:endParaRPr lang="en-US" sz="900" dirty="0"/>
          </a:p>
        </p:txBody>
      </p:sp>
      <p:sp>
        <p:nvSpPr>
          <p:cNvPr id="12" name="Shape 9"/>
          <p:cNvSpPr/>
          <p:nvPr/>
        </p:nvSpPr>
        <p:spPr>
          <a:xfrm>
            <a:off x="3575304" y="1764792"/>
            <a:ext cx="128016" cy="0"/>
          </a:xfrm>
          <a:prstGeom prst="line">
            <a:avLst/>
          </a:prstGeom>
          <a:noFill/>
          <a:ln w="25400">
            <a:solidFill>
              <a:srgbClr val="FF9900"/>
            </a:solidFill>
            <a:prstDash val="solid"/>
          </a:ln>
        </p:spPr>
      </p:sp>
      <p:sp>
        <p:nvSpPr>
          <p:cNvPr id="13" name="Shape 10"/>
          <p:cNvSpPr/>
          <p:nvPr/>
        </p:nvSpPr>
        <p:spPr>
          <a:xfrm>
            <a:off x="3712464" y="1371600"/>
            <a:ext cx="1572768" cy="777240"/>
          </a:xfrm>
          <a:prstGeom prst="roundRect">
            <a:avLst>
              <a:gd name="adj" fmla="val 9412"/>
            </a:avLst>
          </a:prstGeom>
          <a:solidFill>
            <a:srgbClr val="F59E0B"/>
          </a:solidFill>
          <a:ln/>
        </p:spPr>
      </p:sp>
      <p:sp>
        <p:nvSpPr>
          <p:cNvPr id="14" name="Text 11"/>
          <p:cNvSpPr/>
          <p:nvPr/>
        </p:nvSpPr>
        <p:spPr>
          <a:xfrm>
            <a:off x="3712464" y="1371600"/>
            <a:ext cx="1572768" cy="7772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Application Load Balancer</a:t>
            </a:r>
            <a:endParaRPr lang="en-US" sz="900" dirty="0"/>
          </a:p>
        </p:txBody>
      </p:sp>
      <p:sp>
        <p:nvSpPr>
          <p:cNvPr id="15" name="Shape 12"/>
          <p:cNvSpPr/>
          <p:nvPr/>
        </p:nvSpPr>
        <p:spPr>
          <a:xfrm>
            <a:off x="5294376" y="1764792"/>
            <a:ext cx="128016" cy="0"/>
          </a:xfrm>
          <a:prstGeom prst="line">
            <a:avLst/>
          </a:prstGeom>
          <a:noFill/>
          <a:ln w="25400">
            <a:solidFill>
              <a:srgbClr val="FF9900"/>
            </a:solidFill>
            <a:prstDash val="solid"/>
          </a:ln>
        </p:spPr>
      </p:sp>
      <p:sp>
        <p:nvSpPr>
          <p:cNvPr id="16" name="Shape 13"/>
          <p:cNvSpPr/>
          <p:nvPr/>
        </p:nvSpPr>
        <p:spPr>
          <a:xfrm>
            <a:off x="5431536" y="1371600"/>
            <a:ext cx="1572768" cy="777240"/>
          </a:xfrm>
          <a:prstGeom prst="roundRect">
            <a:avLst>
              <a:gd name="adj" fmla="val 9412"/>
            </a:avLst>
          </a:prstGeom>
          <a:solidFill>
            <a:srgbClr val="EF4444"/>
          </a:solidFill>
          <a:ln/>
        </p:spPr>
      </p:sp>
      <p:sp>
        <p:nvSpPr>
          <p:cNvPr id="17" name="Text 14"/>
          <p:cNvSpPr/>
          <p:nvPr/>
        </p:nvSpPr>
        <p:spPr>
          <a:xfrm>
            <a:off x="5431536" y="1371600"/>
            <a:ext cx="1572768" cy="7772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 Scaling Group</a:t>
            </a:r>
            <a:endParaRPr lang="en-US" sz="900" dirty="0"/>
          </a:p>
        </p:txBody>
      </p:sp>
      <p:sp>
        <p:nvSpPr>
          <p:cNvPr id="18" name="Shape 15"/>
          <p:cNvSpPr/>
          <p:nvPr/>
        </p:nvSpPr>
        <p:spPr>
          <a:xfrm>
            <a:off x="7013448" y="1764792"/>
            <a:ext cx="128016" cy="0"/>
          </a:xfrm>
          <a:prstGeom prst="line">
            <a:avLst/>
          </a:prstGeom>
          <a:noFill/>
          <a:ln w="25400">
            <a:solidFill>
              <a:srgbClr val="FF9900"/>
            </a:solidFill>
            <a:prstDash val="solid"/>
          </a:ln>
        </p:spPr>
      </p:sp>
      <p:sp>
        <p:nvSpPr>
          <p:cNvPr id="19" name="Shape 16"/>
          <p:cNvSpPr/>
          <p:nvPr/>
        </p:nvSpPr>
        <p:spPr>
          <a:xfrm>
            <a:off x="7150608" y="1371600"/>
            <a:ext cx="1572768" cy="777240"/>
          </a:xfrm>
          <a:prstGeom prst="roundRect">
            <a:avLst>
              <a:gd name="adj" fmla="val 9412"/>
            </a:avLst>
          </a:prstGeom>
          <a:solidFill>
            <a:srgbClr val="22C55E"/>
          </a:solidFill>
          <a:ln/>
        </p:spPr>
      </p:sp>
      <p:sp>
        <p:nvSpPr>
          <p:cNvPr id="20" name="Text 17"/>
          <p:cNvSpPr/>
          <p:nvPr/>
        </p:nvSpPr>
        <p:spPr>
          <a:xfrm>
            <a:off x="7150608" y="1371600"/>
            <a:ext cx="1572768" cy="7772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EC2 Instances (2-6)</a:t>
            </a:r>
            <a:endParaRPr lang="en-US" sz="900" dirty="0"/>
          </a:p>
        </p:txBody>
      </p:sp>
      <p:sp>
        <p:nvSpPr>
          <p:cNvPr id="21" name="Shape 18"/>
          <p:cNvSpPr/>
          <p:nvPr/>
        </p:nvSpPr>
        <p:spPr>
          <a:xfrm>
            <a:off x="201168" y="2523744"/>
            <a:ext cx="4315968" cy="292608"/>
          </a:xfrm>
          <a:prstGeom prst="rect">
            <a:avLst/>
          </a:prstGeom>
          <a:solidFill>
            <a:srgbClr val="EF4444"/>
          </a:solidFill>
          <a:ln/>
        </p:spPr>
      </p:sp>
      <p:sp>
        <p:nvSpPr>
          <p:cNvPr id="22" name="Text 19"/>
          <p:cNvSpPr/>
          <p:nvPr/>
        </p:nvSpPr>
        <p:spPr>
          <a:xfrm>
            <a:off x="292608" y="2542032"/>
            <a:ext cx="4133088"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 A — Auto Scaling Group</a:t>
            </a:r>
            <a:endParaRPr lang="en-US" sz="1100" dirty="0"/>
          </a:p>
        </p:txBody>
      </p:sp>
      <p:sp>
        <p:nvSpPr>
          <p:cNvPr id="23" name="Shape 20"/>
          <p:cNvSpPr/>
          <p:nvPr/>
        </p:nvSpPr>
        <p:spPr>
          <a:xfrm>
            <a:off x="292608" y="2852928"/>
            <a:ext cx="201168" cy="201168"/>
          </a:xfrm>
          <a:prstGeom prst="ellipse">
            <a:avLst/>
          </a:prstGeom>
          <a:solidFill>
            <a:srgbClr val="EF4444"/>
          </a:solidFill>
          <a:ln/>
        </p:spPr>
      </p:sp>
      <p:sp>
        <p:nvSpPr>
          <p:cNvPr id="24" name="Text 21"/>
          <p:cNvSpPr/>
          <p:nvPr/>
        </p:nvSpPr>
        <p:spPr>
          <a:xfrm>
            <a:off x="292608" y="2852928"/>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5" name="Text 22"/>
          <p:cNvSpPr/>
          <p:nvPr/>
        </p:nvSpPr>
        <p:spPr>
          <a:xfrm>
            <a:off x="548640" y="2834640"/>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Create a Launch Template with AMI, instance type, SG, and Key Pair</a:t>
            </a:r>
            <a:endParaRPr lang="en-US" sz="950" dirty="0"/>
          </a:p>
        </p:txBody>
      </p:sp>
      <p:sp>
        <p:nvSpPr>
          <p:cNvPr id="26" name="Shape 23"/>
          <p:cNvSpPr/>
          <p:nvPr/>
        </p:nvSpPr>
        <p:spPr>
          <a:xfrm>
            <a:off x="292608" y="3236976"/>
            <a:ext cx="201168" cy="201168"/>
          </a:xfrm>
          <a:prstGeom prst="ellipse">
            <a:avLst/>
          </a:prstGeom>
          <a:solidFill>
            <a:srgbClr val="EF4444"/>
          </a:solidFill>
          <a:ln/>
        </p:spPr>
      </p:sp>
      <p:sp>
        <p:nvSpPr>
          <p:cNvPr id="27" name="Text 24"/>
          <p:cNvSpPr/>
          <p:nvPr/>
        </p:nvSpPr>
        <p:spPr>
          <a:xfrm>
            <a:off x="292608" y="3236976"/>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8" name="Text 25"/>
          <p:cNvSpPr/>
          <p:nvPr/>
        </p:nvSpPr>
        <p:spPr>
          <a:xfrm>
            <a:off x="548640" y="3218688"/>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EC2 → Auto Scaling Groups → Create ASG → Select Launch Template</a:t>
            </a:r>
            <a:endParaRPr lang="en-US" sz="950" dirty="0"/>
          </a:p>
        </p:txBody>
      </p:sp>
      <p:sp>
        <p:nvSpPr>
          <p:cNvPr id="29" name="Shape 26"/>
          <p:cNvSpPr/>
          <p:nvPr/>
        </p:nvSpPr>
        <p:spPr>
          <a:xfrm>
            <a:off x="292608" y="3621024"/>
            <a:ext cx="201168" cy="201168"/>
          </a:xfrm>
          <a:prstGeom prst="ellipse">
            <a:avLst/>
          </a:prstGeom>
          <a:solidFill>
            <a:srgbClr val="EF4444"/>
          </a:solidFill>
          <a:ln/>
        </p:spPr>
      </p:sp>
      <p:sp>
        <p:nvSpPr>
          <p:cNvPr id="30" name="Text 27"/>
          <p:cNvSpPr/>
          <p:nvPr/>
        </p:nvSpPr>
        <p:spPr>
          <a:xfrm>
            <a:off x="292608" y="3621024"/>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1" name="Text 28"/>
          <p:cNvSpPr/>
          <p:nvPr/>
        </p:nvSpPr>
        <p:spPr>
          <a:xfrm>
            <a:off x="548640" y="3602736"/>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Configure VPC and multiple Availability Zones (min 2 subnets)</a:t>
            </a:r>
            <a:endParaRPr lang="en-US" sz="950" dirty="0"/>
          </a:p>
        </p:txBody>
      </p:sp>
      <p:sp>
        <p:nvSpPr>
          <p:cNvPr id="32" name="Shape 29"/>
          <p:cNvSpPr/>
          <p:nvPr/>
        </p:nvSpPr>
        <p:spPr>
          <a:xfrm>
            <a:off x="292608" y="4005072"/>
            <a:ext cx="201168" cy="201168"/>
          </a:xfrm>
          <a:prstGeom prst="ellipse">
            <a:avLst/>
          </a:prstGeom>
          <a:solidFill>
            <a:srgbClr val="EF4444"/>
          </a:solidFill>
          <a:ln/>
        </p:spPr>
      </p:sp>
      <p:sp>
        <p:nvSpPr>
          <p:cNvPr id="33" name="Text 30"/>
          <p:cNvSpPr/>
          <p:nvPr/>
        </p:nvSpPr>
        <p:spPr>
          <a:xfrm>
            <a:off x="292608" y="4005072"/>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4" name="Text 31"/>
          <p:cNvSpPr/>
          <p:nvPr/>
        </p:nvSpPr>
        <p:spPr>
          <a:xfrm>
            <a:off x="548640" y="3986784"/>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Set Capacity: Desired=2, Minimum=1, Maximum=4 instances</a:t>
            </a:r>
            <a:endParaRPr lang="en-US" sz="950" dirty="0"/>
          </a:p>
        </p:txBody>
      </p:sp>
      <p:sp>
        <p:nvSpPr>
          <p:cNvPr id="35" name="Shape 32"/>
          <p:cNvSpPr/>
          <p:nvPr/>
        </p:nvSpPr>
        <p:spPr>
          <a:xfrm>
            <a:off x="292608" y="4389120"/>
            <a:ext cx="201168" cy="201168"/>
          </a:xfrm>
          <a:prstGeom prst="ellipse">
            <a:avLst/>
          </a:prstGeom>
          <a:solidFill>
            <a:srgbClr val="EF4444"/>
          </a:solidFill>
          <a:ln/>
        </p:spPr>
      </p:sp>
      <p:sp>
        <p:nvSpPr>
          <p:cNvPr id="36" name="Text 33"/>
          <p:cNvSpPr/>
          <p:nvPr/>
        </p:nvSpPr>
        <p:spPr>
          <a:xfrm>
            <a:off x="292608" y="4389120"/>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7" name="Text 34"/>
          <p:cNvSpPr/>
          <p:nvPr/>
        </p:nvSpPr>
        <p:spPr>
          <a:xfrm>
            <a:off x="548640" y="4370832"/>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Add Scaling Policies: Target Tracking on CPU (e.g., 60% threshold)</a:t>
            </a:r>
            <a:endParaRPr lang="en-US" sz="950" dirty="0"/>
          </a:p>
        </p:txBody>
      </p:sp>
      <p:sp>
        <p:nvSpPr>
          <p:cNvPr id="38" name="Shape 35"/>
          <p:cNvSpPr/>
          <p:nvPr/>
        </p:nvSpPr>
        <p:spPr>
          <a:xfrm>
            <a:off x="4626864" y="2523744"/>
            <a:ext cx="4315968" cy="292608"/>
          </a:xfrm>
          <a:prstGeom prst="rect">
            <a:avLst/>
          </a:prstGeom>
          <a:solidFill>
            <a:srgbClr val="F59E0B"/>
          </a:solidFill>
          <a:ln/>
        </p:spPr>
      </p:sp>
      <p:sp>
        <p:nvSpPr>
          <p:cNvPr id="39" name="Text 36"/>
          <p:cNvSpPr/>
          <p:nvPr/>
        </p:nvSpPr>
        <p:spPr>
          <a:xfrm>
            <a:off x="4718304" y="2542032"/>
            <a:ext cx="4133088"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 B — Elastic Load Balancer</a:t>
            </a:r>
            <a:endParaRPr lang="en-US" sz="1100" dirty="0"/>
          </a:p>
        </p:txBody>
      </p:sp>
      <p:sp>
        <p:nvSpPr>
          <p:cNvPr id="40" name="Shape 37"/>
          <p:cNvSpPr/>
          <p:nvPr/>
        </p:nvSpPr>
        <p:spPr>
          <a:xfrm>
            <a:off x="4718304" y="2852928"/>
            <a:ext cx="201168" cy="201168"/>
          </a:xfrm>
          <a:prstGeom prst="ellipse">
            <a:avLst/>
          </a:prstGeom>
          <a:solidFill>
            <a:srgbClr val="F59E0B"/>
          </a:solidFill>
          <a:ln/>
        </p:spPr>
      </p:sp>
      <p:sp>
        <p:nvSpPr>
          <p:cNvPr id="41" name="Text 38"/>
          <p:cNvSpPr/>
          <p:nvPr/>
        </p:nvSpPr>
        <p:spPr>
          <a:xfrm>
            <a:off x="4718304" y="2852928"/>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42" name="Text 39"/>
          <p:cNvSpPr/>
          <p:nvPr/>
        </p:nvSpPr>
        <p:spPr>
          <a:xfrm>
            <a:off x="4974336" y="2834640"/>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EC2 → Load Balancers → Create → Select Application Load Balancer (ALB)</a:t>
            </a:r>
            <a:endParaRPr lang="en-US" sz="950" dirty="0"/>
          </a:p>
        </p:txBody>
      </p:sp>
      <p:sp>
        <p:nvSpPr>
          <p:cNvPr id="43" name="Shape 40"/>
          <p:cNvSpPr/>
          <p:nvPr/>
        </p:nvSpPr>
        <p:spPr>
          <a:xfrm>
            <a:off x="4718304" y="3236976"/>
            <a:ext cx="201168" cy="201168"/>
          </a:xfrm>
          <a:prstGeom prst="ellipse">
            <a:avLst/>
          </a:prstGeom>
          <a:solidFill>
            <a:srgbClr val="F59E0B"/>
          </a:solidFill>
          <a:ln/>
        </p:spPr>
      </p:sp>
      <p:sp>
        <p:nvSpPr>
          <p:cNvPr id="44" name="Text 41"/>
          <p:cNvSpPr/>
          <p:nvPr/>
        </p:nvSpPr>
        <p:spPr>
          <a:xfrm>
            <a:off x="4718304" y="3236976"/>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45" name="Text 42"/>
          <p:cNvSpPr/>
          <p:nvPr/>
        </p:nvSpPr>
        <p:spPr>
          <a:xfrm>
            <a:off x="4974336" y="3218688"/>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Set Scheme: Internet-facing, IP type: IPv4</a:t>
            </a:r>
            <a:endParaRPr lang="en-US" sz="950" dirty="0"/>
          </a:p>
        </p:txBody>
      </p:sp>
      <p:sp>
        <p:nvSpPr>
          <p:cNvPr id="46" name="Shape 43"/>
          <p:cNvSpPr/>
          <p:nvPr/>
        </p:nvSpPr>
        <p:spPr>
          <a:xfrm>
            <a:off x="4718304" y="3621024"/>
            <a:ext cx="201168" cy="201168"/>
          </a:xfrm>
          <a:prstGeom prst="ellipse">
            <a:avLst/>
          </a:prstGeom>
          <a:solidFill>
            <a:srgbClr val="F59E0B"/>
          </a:solidFill>
          <a:ln/>
        </p:spPr>
      </p:sp>
      <p:sp>
        <p:nvSpPr>
          <p:cNvPr id="47" name="Text 44"/>
          <p:cNvSpPr/>
          <p:nvPr/>
        </p:nvSpPr>
        <p:spPr>
          <a:xfrm>
            <a:off x="4718304" y="3621024"/>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8" name="Text 45"/>
          <p:cNvSpPr/>
          <p:nvPr/>
        </p:nvSpPr>
        <p:spPr>
          <a:xfrm>
            <a:off x="4974336" y="3602736"/>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Select VPC and at least 2 public subnets (multi-AZ)</a:t>
            </a:r>
            <a:endParaRPr lang="en-US" sz="950" dirty="0"/>
          </a:p>
        </p:txBody>
      </p:sp>
      <p:sp>
        <p:nvSpPr>
          <p:cNvPr id="49" name="Shape 46"/>
          <p:cNvSpPr/>
          <p:nvPr/>
        </p:nvSpPr>
        <p:spPr>
          <a:xfrm>
            <a:off x="4718304" y="4005072"/>
            <a:ext cx="201168" cy="201168"/>
          </a:xfrm>
          <a:prstGeom prst="ellipse">
            <a:avLst/>
          </a:prstGeom>
          <a:solidFill>
            <a:srgbClr val="F59E0B"/>
          </a:solidFill>
          <a:ln/>
        </p:spPr>
      </p:sp>
      <p:sp>
        <p:nvSpPr>
          <p:cNvPr id="50" name="Text 47"/>
          <p:cNvSpPr/>
          <p:nvPr/>
        </p:nvSpPr>
        <p:spPr>
          <a:xfrm>
            <a:off x="4718304" y="4005072"/>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51" name="Text 48"/>
          <p:cNvSpPr/>
          <p:nvPr/>
        </p:nvSpPr>
        <p:spPr>
          <a:xfrm>
            <a:off x="4974336" y="3986784"/>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Create Target Group: Instance type, port 80, health check path /</a:t>
            </a:r>
            <a:endParaRPr lang="en-US" sz="950" dirty="0"/>
          </a:p>
        </p:txBody>
      </p:sp>
      <p:sp>
        <p:nvSpPr>
          <p:cNvPr id="52" name="Shape 49"/>
          <p:cNvSpPr/>
          <p:nvPr/>
        </p:nvSpPr>
        <p:spPr>
          <a:xfrm>
            <a:off x="4718304" y="4389120"/>
            <a:ext cx="201168" cy="201168"/>
          </a:xfrm>
          <a:prstGeom prst="ellipse">
            <a:avLst/>
          </a:prstGeom>
          <a:solidFill>
            <a:srgbClr val="F59E0B"/>
          </a:solidFill>
          <a:ln/>
        </p:spPr>
      </p:sp>
      <p:sp>
        <p:nvSpPr>
          <p:cNvPr id="53" name="Text 50"/>
          <p:cNvSpPr/>
          <p:nvPr/>
        </p:nvSpPr>
        <p:spPr>
          <a:xfrm>
            <a:off x="4718304" y="4389120"/>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54" name="Text 51"/>
          <p:cNvSpPr/>
          <p:nvPr/>
        </p:nvSpPr>
        <p:spPr>
          <a:xfrm>
            <a:off x="4974336" y="4370832"/>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Add HTTP Listener (port 80) → Forward to Target Group</a:t>
            </a:r>
            <a:endParaRPr lang="en-US" sz="950" dirty="0"/>
          </a:p>
        </p:txBody>
      </p:sp>
      <p:sp>
        <p:nvSpPr>
          <p:cNvPr id="55" name="Shape 52"/>
          <p:cNvSpPr/>
          <p:nvPr/>
        </p:nvSpPr>
        <p:spPr>
          <a:xfrm>
            <a:off x="4718304" y="4773168"/>
            <a:ext cx="201168" cy="201168"/>
          </a:xfrm>
          <a:prstGeom prst="ellipse">
            <a:avLst/>
          </a:prstGeom>
          <a:solidFill>
            <a:srgbClr val="F59E0B"/>
          </a:solidFill>
          <a:ln/>
        </p:spPr>
      </p:sp>
      <p:sp>
        <p:nvSpPr>
          <p:cNvPr id="56" name="Text 53"/>
          <p:cNvSpPr/>
          <p:nvPr/>
        </p:nvSpPr>
        <p:spPr>
          <a:xfrm>
            <a:off x="4718304" y="4773168"/>
            <a:ext cx="201168"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57" name="Text 54"/>
          <p:cNvSpPr/>
          <p:nvPr/>
        </p:nvSpPr>
        <p:spPr>
          <a:xfrm>
            <a:off x="4974336" y="4754880"/>
            <a:ext cx="3858768" cy="329184"/>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Attach ASG to Load Balancer via Target Group in ASG settings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1A2332"/>
          </a:solidFill>
          <a:ln/>
        </p:spPr>
      </p:sp>
      <p:pic>
        <p:nvPicPr>
          <p:cNvPr id="3" name="Image 0" descr="preencoded.png">    </p:cNvPr>
          <p:cNvPicPr>
            <a:picLocks noChangeAspect="1"/>
          </p:cNvPicPr>
          <p:nvPr/>
        </p:nvPicPr>
        <p:blipFill>
          <a:blip r:embed="rId1"/>
          <a:stretch>
            <a:fillRect/>
          </a:stretch>
        </p:blipFill>
        <p:spPr>
          <a:xfrm>
            <a:off x="457200" y="274320"/>
            <a:ext cx="1097280" cy="1097280"/>
          </a:xfrm>
          <a:prstGeom prst="rect">
            <a:avLst/>
          </a:prstGeom>
        </p:spPr>
      </p:pic>
      <p:sp>
        <p:nvSpPr>
          <p:cNvPr id="4" name="Text 1"/>
          <p:cNvSpPr/>
          <p:nvPr/>
        </p:nvSpPr>
        <p:spPr>
          <a:xfrm>
            <a:off x="1737360" y="320040"/>
            <a:ext cx="7132320" cy="64008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AWS EC2 — Key Takeaways</a:t>
            </a:r>
            <a:endParaRPr lang="en-US" sz="2800" dirty="0"/>
          </a:p>
        </p:txBody>
      </p:sp>
      <p:sp>
        <p:nvSpPr>
          <p:cNvPr id="5" name="Text 2"/>
          <p:cNvSpPr/>
          <p:nvPr/>
        </p:nvSpPr>
        <p:spPr>
          <a:xfrm>
            <a:off x="1737360" y="914400"/>
            <a:ext cx="7132320" cy="365760"/>
          </a:xfrm>
          <a:prstGeom prst="rect">
            <a:avLst/>
          </a:prstGeom>
          <a:noFill/>
          <a:ln/>
        </p:spPr>
        <p:txBody>
          <a:bodyPr wrap="square" rtlCol="0" anchor="ctr"/>
          <a:lstStyle/>
          <a:p>
            <a:pPr indent="0" marL="0">
              <a:buNone/>
            </a:pPr>
            <a:r>
              <a:rPr lang="en-US" sz="1400" i="1" dirty="0">
                <a:solidFill>
                  <a:srgbClr val="8A9BB0"/>
                </a:solidFill>
                <a:latin typeface="Calibri" pitchFamily="34" charset="0"/>
                <a:ea typeface="Calibri" pitchFamily="34" charset="-122"/>
                <a:cs typeface="Calibri" pitchFamily="34" charset="-120"/>
              </a:rPr>
              <a:t>You now have a complete understanding of Amazon EC2</a:t>
            </a:r>
            <a:endParaRPr lang="en-US" sz="1400" dirty="0"/>
          </a:p>
        </p:txBody>
      </p:sp>
      <p:sp>
        <p:nvSpPr>
          <p:cNvPr id="6" name="Shape 3"/>
          <p:cNvSpPr/>
          <p:nvPr/>
        </p:nvSpPr>
        <p:spPr>
          <a:xfrm>
            <a:off x="274320" y="1920240"/>
            <a:ext cx="8595360" cy="0"/>
          </a:xfrm>
          <a:prstGeom prst="line">
            <a:avLst/>
          </a:prstGeom>
          <a:noFill/>
          <a:ln w="25400">
            <a:solidFill>
              <a:srgbClr val="FF9900"/>
            </a:solidFill>
            <a:prstDash val="solid"/>
          </a:ln>
        </p:spPr>
      </p:sp>
      <p:sp>
        <p:nvSpPr>
          <p:cNvPr id="7" name="Shape 4"/>
          <p:cNvSpPr/>
          <p:nvPr/>
        </p:nvSpPr>
        <p:spPr>
          <a:xfrm>
            <a:off x="201168" y="205740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8" name="Shape 5"/>
          <p:cNvSpPr/>
          <p:nvPr/>
        </p:nvSpPr>
        <p:spPr>
          <a:xfrm>
            <a:off x="201168" y="2057400"/>
            <a:ext cx="2057400" cy="64008"/>
          </a:xfrm>
          <a:prstGeom prst="rect">
            <a:avLst/>
          </a:prstGeom>
          <a:solidFill>
            <a:srgbClr val="FF9900"/>
          </a:solidFill>
          <a:ln/>
        </p:spPr>
      </p:sp>
      <p:pic>
        <p:nvPicPr>
          <p:cNvPr id="9" name="Image 1" descr="preencoded.png">    </p:cNvPr>
          <p:cNvPicPr>
            <a:picLocks noChangeAspect="1"/>
          </p:cNvPicPr>
          <p:nvPr/>
        </p:nvPicPr>
        <p:blipFill>
          <a:blip r:embed="rId2"/>
          <a:stretch>
            <a:fillRect/>
          </a:stretch>
        </p:blipFill>
        <p:spPr>
          <a:xfrm>
            <a:off x="1005840" y="2167128"/>
            <a:ext cx="411480" cy="411480"/>
          </a:xfrm>
          <a:prstGeom prst="rect">
            <a:avLst/>
          </a:prstGeom>
        </p:spPr>
      </p:pic>
      <p:sp>
        <p:nvSpPr>
          <p:cNvPr id="10" name="Text 6"/>
          <p:cNvSpPr/>
          <p:nvPr/>
        </p:nvSpPr>
        <p:spPr>
          <a:xfrm>
            <a:off x="274320" y="262432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EC2 Introduction</a:t>
            </a:r>
            <a:endParaRPr lang="en-US" sz="1000" dirty="0"/>
          </a:p>
        </p:txBody>
      </p:sp>
      <p:sp>
        <p:nvSpPr>
          <p:cNvPr id="11" name="Text 7"/>
          <p:cNvSpPr/>
          <p:nvPr/>
        </p:nvSpPr>
        <p:spPr>
          <a:xfrm>
            <a:off x="274320" y="289864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Scalable virtual servers in the AWS Cloud with full control over OS, storage, and networking.</a:t>
            </a:r>
            <a:endParaRPr lang="en-US" sz="850" dirty="0"/>
          </a:p>
        </p:txBody>
      </p:sp>
      <p:sp>
        <p:nvSpPr>
          <p:cNvPr id="12" name="Shape 8"/>
          <p:cNvSpPr/>
          <p:nvPr/>
        </p:nvSpPr>
        <p:spPr>
          <a:xfrm>
            <a:off x="2414016" y="205740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13" name="Shape 9"/>
          <p:cNvSpPr/>
          <p:nvPr/>
        </p:nvSpPr>
        <p:spPr>
          <a:xfrm>
            <a:off x="2414016" y="2057400"/>
            <a:ext cx="2057400" cy="64008"/>
          </a:xfrm>
          <a:prstGeom prst="rect">
            <a:avLst/>
          </a:prstGeom>
          <a:solidFill>
            <a:srgbClr val="FF9900"/>
          </a:solidFill>
          <a:ln/>
        </p:spPr>
      </p:sp>
      <p:pic>
        <p:nvPicPr>
          <p:cNvPr id="14" name="Image 2" descr="preencoded.png">    </p:cNvPr>
          <p:cNvPicPr>
            <a:picLocks noChangeAspect="1"/>
          </p:cNvPicPr>
          <p:nvPr/>
        </p:nvPicPr>
        <p:blipFill>
          <a:blip r:embed="rId3"/>
          <a:stretch>
            <a:fillRect/>
          </a:stretch>
        </p:blipFill>
        <p:spPr>
          <a:xfrm>
            <a:off x="3218688" y="2167128"/>
            <a:ext cx="411480" cy="411480"/>
          </a:xfrm>
          <a:prstGeom prst="rect">
            <a:avLst/>
          </a:prstGeom>
        </p:spPr>
      </p:pic>
      <p:sp>
        <p:nvSpPr>
          <p:cNvPr id="15" name="Text 10"/>
          <p:cNvSpPr/>
          <p:nvPr/>
        </p:nvSpPr>
        <p:spPr>
          <a:xfrm>
            <a:off x="2487168" y="262432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Core Terminologies</a:t>
            </a:r>
            <a:endParaRPr lang="en-US" sz="1000" dirty="0"/>
          </a:p>
        </p:txBody>
      </p:sp>
      <p:sp>
        <p:nvSpPr>
          <p:cNvPr id="16" name="Text 11"/>
          <p:cNvSpPr/>
          <p:nvPr/>
        </p:nvSpPr>
        <p:spPr>
          <a:xfrm>
            <a:off x="2487168" y="289864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AMI, Key Pairs, Security Groups, VPC, Subnets, EBS Volumes, and Elastic IPs.</a:t>
            </a:r>
            <a:endParaRPr lang="en-US" sz="850" dirty="0"/>
          </a:p>
        </p:txBody>
      </p:sp>
      <p:sp>
        <p:nvSpPr>
          <p:cNvPr id="17" name="Shape 12"/>
          <p:cNvSpPr/>
          <p:nvPr/>
        </p:nvSpPr>
        <p:spPr>
          <a:xfrm>
            <a:off x="4626864" y="205740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18" name="Shape 13"/>
          <p:cNvSpPr/>
          <p:nvPr/>
        </p:nvSpPr>
        <p:spPr>
          <a:xfrm>
            <a:off x="4626864" y="2057400"/>
            <a:ext cx="2057400" cy="64008"/>
          </a:xfrm>
          <a:prstGeom prst="rect">
            <a:avLst/>
          </a:prstGeom>
          <a:solidFill>
            <a:srgbClr val="FF9900"/>
          </a:solidFill>
          <a:ln/>
        </p:spPr>
      </p:sp>
      <p:pic>
        <p:nvPicPr>
          <p:cNvPr id="19" name="Image 3" descr="preencoded.png">    </p:cNvPr>
          <p:cNvPicPr>
            <a:picLocks noChangeAspect="1"/>
          </p:cNvPicPr>
          <p:nvPr/>
        </p:nvPicPr>
        <p:blipFill>
          <a:blip r:embed="rId4"/>
          <a:stretch>
            <a:fillRect/>
          </a:stretch>
        </p:blipFill>
        <p:spPr>
          <a:xfrm>
            <a:off x="5431536" y="2167128"/>
            <a:ext cx="411480" cy="411480"/>
          </a:xfrm>
          <a:prstGeom prst="rect">
            <a:avLst/>
          </a:prstGeom>
        </p:spPr>
      </p:pic>
      <p:sp>
        <p:nvSpPr>
          <p:cNvPr id="20" name="Text 14"/>
          <p:cNvSpPr/>
          <p:nvPr/>
        </p:nvSpPr>
        <p:spPr>
          <a:xfrm>
            <a:off x="4700016" y="262432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Instance Types</a:t>
            </a:r>
            <a:endParaRPr lang="en-US" sz="1000" dirty="0"/>
          </a:p>
        </p:txBody>
      </p:sp>
      <p:sp>
        <p:nvSpPr>
          <p:cNvPr id="21" name="Text 15"/>
          <p:cNvSpPr/>
          <p:nvPr/>
        </p:nvSpPr>
        <p:spPr>
          <a:xfrm>
            <a:off x="4700016" y="289864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General, Compute, Memory, Storage, and Accelerated Computing families for all workloads.</a:t>
            </a:r>
            <a:endParaRPr lang="en-US" sz="850" dirty="0"/>
          </a:p>
        </p:txBody>
      </p:sp>
      <p:sp>
        <p:nvSpPr>
          <p:cNvPr id="22" name="Shape 16"/>
          <p:cNvSpPr/>
          <p:nvPr/>
        </p:nvSpPr>
        <p:spPr>
          <a:xfrm>
            <a:off x="6839712" y="205740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23" name="Shape 17"/>
          <p:cNvSpPr/>
          <p:nvPr/>
        </p:nvSpPr>
        <p:spPr>
          <a:xfrm>
            <a:off x="6839712" y="2057400"/>
            <a:ext cx="2057400" cy="64008"/>
          </a:xfrm>
          <a:prstGeom prst="rect">
            <a:avLst/>
          </a:prstGeom>
          <a:solidFill>
            <a:srgbClr val="FF9900"/>
          </a:solidFill>
          <a:ln/>
        </p:spPr>
      </p:sp>
      <p:pic>
        <p:nvPicPr>
          <p:cNvPr id="24" name="Image 4" descr="preencoded.png">    </p:cNvPr>
          <p:cNvPicPr>
            <a:picLocks noChangeAspect="1"/>
          </p:cNvPicPr>
          <p:nvPr/>
        </p:nvPicPr>
        <p:blipFill>
          <a:blip r:embed="rId5"/>
          <a:stretch>
            <a:fillRect/>
          </a:stretch>
        </p:blipFill>
        <p:spPr>
          <a:xfrm>
            <a:off x="7644384" y="2167128"/>
            <a:ext cx="411480" cy="411480"/>
          </a:xfrm>
          <a:prstGeom prst="rect">
            <a:avLst/>
          </a:prstGeom>
        </p:spPr>
      </p:pic>
      <p:sp>
        <p:nvSpPr>
          <p:cNvPr id="25" name="Text 18"/>
          <p:cNvSpPr/>
          <p:nvPr/>
        </p:nvSpPr>
        <p:spPr>
          <a:xfrm>
            <a:off x="6912864" y="262432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Pricing Models</a:t>
            </a:r>
            <a:endParaRPr lang="en-US" sz="1000" dirty="0"/>
          </a:p>
        </p:txBody>
      </p:sp>
      <p:sp>
        <p:nvSpPr>
          <p:cNvPr id="26" name="Text 19"/>
          <p:cNvSpPr/>
          <p:nvPr/>
        </p:nvSpPr>
        <p:spPr>
          <a:xfrm>
            <a:off x="6912864" y="289864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On-Demand, Reserved, Spot, Savings Plans, and Dedicated Hosts.</a:t>
            </a:r>
            <a:endParaRPr lang="en-US" sz="850" dirty="0"/>
          </a:p>
        </p:txBody>
      </p:sp>
      <p:sp>
        <p:nvSpPr>
          <p:cNvPr id="27" name="Shape 20"/>
          <p:cNvSpPr/>
          <p:nvPr/>
        </p:nvSpPr>
        <p:spPr>
          <a:xfrm>
            <a:off x="1307592" y="356616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28" name="Shape 21"/>
          <p:cNvSpPr/>
          <p:nvPr/>
        </p:nvSpPr>
        <p:spPr>
          <a:xfrm>
            <a:off x="1307592" y="3566160"/>
            <a:ext cx="2057400" cy="64008"/>
          </a:xfrm>
          <a:prstGeom prst="rect">
            <a:avLst/>
          </a:prstGeom>
          <a:solidFill>
            <a:srgbClr val="FF9900"/>
          </a:solidFill>
          <a:ln/>
        </p:spPr>
      </p:sp>
      <p:pic>
        <p:nvPicPr>
          <p:cNvPr id="29" name="Image 5" descr="preencoded.png">    </p:cNvPr>
          <p:cNvPicPr>
            <a:picLocks noChangeAspect="1"/>
          </p:cNvPicPr>
          <p:nvPr/>
        </p:nvPicPr>
        <p:blipFill>
          <a:blip r:embed="rId6"/>
          <a:stretch>
            <a:fillRect/>
          </a:stretch>
        </p:blipFill>
        <p:spPr>
          <a:xfrm>
            <a:off x="2112264" y="3675888"/>
            <a:ext cx="411480" cy="411480"/>
          </a:xfrm>
          <a:prstGeom prst="rect">
            <a:avLst/>
          </a:prstGeom>
        </p:spPr>
      </p:pic>
      <p:sp>
        <p:nvSpPr>
          <p:cNvPr id="30" name="Text 22"/>
          <p:cNvSpPr/>
          <p:nvPr/>
        </p:nvSpPr>
        <p:spPr>
          <a:xfrm>
            <a:off x="1380744" y="413308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Linux Lab</a:t>
            </a:r>
            <a:endParaRPr lang="en-US" sz="1000" dirty="0"/>
          </a:p>
        </p:txBody>
      </p:sp>
      <p:sp>
        <p:nvSpPr>
          <p:cNvPr id="31" name="Text 23"/>
          <p:cNvSpPr/>
          <p:nvPr/>
        </p:nvSpPr>
        <p:spPr>
          <a:xfrm>
            <a:off x="1380744" y="440740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Launched EC2, configured SG, created key pair, and connected via SSH terminal.</a:t>
            </a:r>
            <a:endParaRPr lang="en-US" sz="850" dirty="0"/>
          </a:p>
        </p:txBody>
      </p:sp>
      <p:sp>
        <p:nvSpPr>
          <p:cNvPr id="32" name="Shape 24"/>
          <p:cNvSpPr/>
          <p:nvPr/>
        </p:nvSpPr>
        <p:spPr>
          <a:xfrm>
            <a:off x="3520440" y="356616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33" name="Shape 25"/>
          <p:cNvSpPr/>
          <p:nvPr/>
        </p:nvSpPr>
        <p:spPr>
          <a:xfrm>
            <a:off x="3520440" y="3566160"/>
            <a:ext cx="2057400" cy="64008"/>
          </a:xfrm>
          <a:prstGeom prst="rect">
            <a:avLst/>
          </a:prstGeom>
          <a:solidFill>
            <a:srgbClr val="FF9900"/>
          </a:solidFill>
          <a:ln/>
        </p:spPr>
      </p:sp>
      <p:pic>
        <p:nvPicPr>
          <p:cNvPr id="34" name="Image 6" descr="preencoded.png">    </p:cNvPr>
          <p:cNvPicPr>
            <a:picLocks noChangeAspect="1"/>
          </p:cNvPicPr>
          <p:nvPr/>
        </p:nvPicPr>
        <p:blipFill>
          <a:blip r:embed="rId7"/>
          <a:stretch>
            <a:fillRect/>
          </a:stretch>
        </p:blipFill>
        <p:spPr>
          <a:xfrm>
            <a:off x="4325112" y="3675888"/>
            <a:ext cx="411480" cy="411480"/>
          </a:xfrm>
          <a:prstGeom prst="rect">
            <a:avLst/>
          </a:prstGeom>
        </p:spPr>
      </p:pic>
      <p:sp>
        <p:nvSpPr>
          <p:cNvPr id="35" name="Text 26"/>
          <p:cNvSpPr/>
          <p:nvPr/>
        </p:nvSpPr>
        <p:spPr>
          <a:xfrm>
            <a:off x="3593592" y="413308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Windows Lab</a:t>
            </a:r>
            <a:endParaRPr lang="en-US" sz="1000" dirty="0"/>
          </a:p>
        </p:txBody>
      </p:sp>
      <p:sp>
        <p:nvSpPr>
          <p:cNvPr id="36" name="Text 27"/>
          <p:cNvSpPr/>
          <p:nvPr/>
        </p:nvSpPr>
        <p:spPr>
          <a:xfrm>
            <a:off x="3593592" y="440740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Deployed Windows Server, decrypted RDP password, connected via Remote Desktop.</a:t>
            </a:r>
            <a:endParaRPr lang="en-US" sz="850" dirty="0"/>
          </a:p>
        </p:txBody>
      </p:sp>
      <p:sp>
        <p:nvSpPr>
          <p:cNvPr id="37" name="Shape 28"/>
          <p:cNvSpPr/>
          <p:nvPr/>
        </p:nvSpPr>
        <p:spPr>
          <a:xfrm>
            <a:off x="5733288" y="3566160"/>
            <a:ext cx="2057400" cy="1389888"/>
          </a:xfrm>
          <a:prstGeom prst="rect">
            <a:avLst/>
          </a:prstGeom>
          <a:solidFill>
            <a:srgbClr val="2A3F55"/>
          </a:solidFill>
          <a:ln/>
          <a:effectLst>
            <a:outerShdw sx="100000" sy="100000" kx="0" ky="0" algn="bl" rotWithShape="0" blurRad="101600" dist="38100" dir="8100000">
              <a:srgbClr val="000000">
                <a:alpha val="12000"/>
              </a:srgbClr>
            </a:outerShdw>
          </a:effectLst>
        </p:spPr>
      </p:sp>
      <p:sp>
        <p:nvSpPr>
          <p:cNvPr id="38" name="Shape 29"/>
          <p:cNvSpPr/>
          <p:nvPr/>
        </p:nvSpPr>
        <p:spPr>
          <a:xfrm>
            <a:off x="5733288" y="3566160"/>
            <a:ext cx="2057400" cy="64008"/>
          </a:xfrm>
          <a:prstGeom prst="rect">
            <a:avLst/>
          </a:prstGeom>
          <a:solidFill>
            <a:srgbClr val="FF9900"/>
          </a:solidFill>
          <a:ln/>
        </p:spPr>
      </p:sp>
      <p:pic>
        <p:nvPicPr>
          <p:cNvPr id="39" name="Image 7" descr="preencoded.png">    </p:cNvPr>
          <p:cNvPicPr>
            <a:picLocks noChangeAspect="1"/>
          </p:cNvPicPr>
          <p:nvPr/>
        </p:nvPicPr>
        <p:blipFill>
          <a:blip r:embed="rId8"/>
          <a:stretch>
            <a:fillRect/>
          </a:stretch>
        </p:blipFill>
        <p:spPr>
          <a:xfrm>
            <a:off x="6537960" y="3675888"/>
            <a:ext cx="411480" cy="411480"/>
          </a:xfrm>
          <a:prstGeom prst="rect">
            <a:avLst/>
          </a:prstGeom>
        </p:spPr>
      </p:pic>
      <p:sp>
        <p:nvSpPr>
          <p:cNvPr id="40" name="Text 30"/>
          <p:cNvSpPr/>
          <p:nvPr/>
        </p:nvSpPr>
        <p:spPr>
          <a:xfrm>
            <a:off x="5806440" y="4133088"/>
            <a:ext cx="1920240" cy="274320"/>
          </a:xfrm>
          <a:prstGeom prst="rect">
            <a:avLst/>
          </a:prstGeom>
          <a:noFill/>
          <a:ln/>
        </p:spPr>
        <p:txBody>
          <a:bodyPr wrap="square"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ASG + ELB Lab</a:t>
            </a:r>
            <a:endParaRPr lang="en-US" sz="1000" dirty="0"/>
          </a:p>
        </p:txBody>
      </p:sp>
      <p:sp>
        <p:nvSpPr>
          <p:cNvPr id="41" name="Text 31"/>
          <p:cNvSpPr/>
          <p:nvPr/>
        </p:nvSpPr>
        <p:spPr>
          <a:xfrm>
            <a:off x="5806440" y="4407408"/>
            <a:ext cx="1920240" cy="502920"/>
          </a:xfrm>
          <a:prstGeom prst="rect">
            <a:avLst/>
          </a:prstGeom>
          <a:noFill/>
          <a:ln/>
        </p:spPr>
        <p:txBody>
          <a:bodyPr wrap="square" rtlCol="0" anchor="ctr"/>
          <a:lstStyle/>
          <a:p>
            <a:pPr algn="ctr" indent="0" marL="0">
              <a:buNone/>
            </a:pPr>
            <a:r>
              <a:rPr lang="en-US" sz="850" dirty="0">
                <a:solidFill>
                  <a:srgbClr val="C0D0E0"/>
                </a:solidFill>
                <a:latin typeface="Calibri" pitchFamily="34" charset="0"/>
                <a:ea typeface="Calibri" pitchFamily="34" charset="-122"/>
                <a:cs typeface="Calibri" pitchFamily="34" charset="-120"/>
              </a:rPr>
              <a:t>Built highly available infrastructure with Auto Scaling and Application Load Balancer.</a:t>
            </a:r>
            <a:endParaRPr lang="en-US" sz="850" dirty="0"/>
          </a:p>
        </p:txBody>
      </p:sp>
      <p:sp>
        <p:nvSpPr>
          <p:cNvPr id="42" name="Shape 32"/>
          <p:cNvSpPr/>
          <p:nvPr/>
        </p:nvSpPr>
        <p:spPr>
          <a:xfrm>
            <a:off x="0" y="4754880"/>
            <a:ext cx="9144000" cy="388620"/>
          </a:xfrm>
          <a:prstGeom prst="rect">
            <a:avLst/>
          </a:prstGeom>
          <a:solidFill>
            <a:srgbClr val="FF9900"/>
          </a:solidFill>
          <a:ln/>
        </p:spPr>
      </p:sp>
      <p:sp>
        <p:nvSpPr>
          <p:cNvPr id="43" name="Text 33"/>
          <p:cNvSpPr/>
          <p:nvPr/>
        </p:nvSpPr>
        <p:spPr>
          <a:xfrm>
            <a:off x="274320" y="4773168"/>
            <a:ext cx="8595360" cy="347472"/>
          </a:xfrm>
          <a:prstGeom prst="rect">
            <a:avLst/>
          </a:prstGeom>
          <a:noFill/>
          <a:ln/>
        </p:spPr>
        <p:txBody>
          <a:bodyPr wrap="square" rtlCol="0" anchor="ctr"/>
          <a:lstStyle/>
          <a:p>
            <a:pPr algn="ctr" indent="0" marL="0">
              <a:buNone/>
            </a:pPr>
            <a:r>
              <a:rPr lang="en-US" sz="1200" b="1" dirty="0">
                <a:solidFill>
                  <a:srgbClr val="232F3E"/>
                </a:solidFill>
                <a:latin typeface="Calibri" pitchFamily="34" charset="0"/>
                <a:ea typeface="Calibri" pitchFamily="34" charset="-122"/>
                <a:cs typeface="Calibri" pitchFamily="34" charset="-120"/>
              </a:rPr>
              <a:t>aws.amazon.com/ec2  |  AWS Training &amp; Certification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EC2 - Elastic Compute Cloud</dc:title>
  <dc:subject>PptxGenJS Presentation</dc:subject>
  <dc:creator>Cloud Training</dc:creator>
  <cp:lastModifiedBy>Cloud Training</cp:lastModifiedBy>
  <cp:revision>1</cp:revision>
  <dcterms:created xsi:type="dcterms:W3CDTF">2026-05-14T09:10:50Z</dcterms:created>
  <dcterms:modified xsi:type="dcterms:W3CDTF">2026-05-14T09:10:50Z</dcterms:modified>
</cp:coreProperties>
</file>