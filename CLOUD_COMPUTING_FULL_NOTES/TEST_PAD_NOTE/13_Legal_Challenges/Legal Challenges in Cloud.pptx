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58" r:id="rId5"/>
    <p:sldId id="269" r:id="rId6"/>
    <p:sldId id="268" r:id="rId7"/>
    <p:sldId id="259" r:id="rId8"/>
    <p:sldId id="263" r:id="rId9"/>
    <p:sldId id="264" r:id="rId10"/>
    <p:sldId id="265" r:id="rId11"/>
    <p:sldId id="266" r:id="rId12"/>
    <p:sldId id="260" r:id="rId13"/>
    <p:sldId id="261" r:id="rId14"/>
    <p:sldId id="262"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18FC0-50E2-2B61-9A5F-6CC8DEA1BA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BA5D9A-178D-63D6-C6FA-058D864464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5ED4FC9-C24C-756C-F8F7-A63D1BCB0B04}"/>
              </a:ext>
            </a:extLst>
          </p:cNvPr>
          <p:cNvSpPr>
            <a:spLocks noGrp="1"/>
          </p:cNvSpPr>
          <p:nvPr>
            <p:ph type="dt" sz="half" idx="10"/>
          </p:nvPr>
        </p:nvSpPr>
        <p:spPr/>
        <p:txBody>
          <a:bodyPr/>
          <a:lstStyle/>
          <a:p>
            <a:fld id="{A9F6A832-AB4E-477E-B123-89F4A6E69F27}" type="datetimeFigureOut">
              <a:rPr lang="en-IN" smtClean="0"/>
              <a:t>09-05-2026</a:t>
            </a:fld>
            <a:endParaRPr lang="en-IN"/>
          </a:p>
        </p:txBody>
      </p:sp>
      <p:sp>
        <p:nvSpPr>
          <p:cNvPr id="5" name="Footer Placeholder 4">
            <a:extLst>
              <a:ext uri="{FF2B5EF4-FFF2-40B4-BE49-F238E27FC236}">
                <a16:creationId xmlns:a16="http://schemas.microsoft.com/office/drawing/2014/main" id="{4257573A-2B21-84E5-28B3-CA48AE74A5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957CEB-49CB-30D8-8489-600DC770626A}"/>
              </a:ext>
            </a:extLst>
          </p:cNvPr>
          <p:cNvSpPr>
            <a:spLocks noGrp="1"/>
          </p:cNvSpPr>
          <p:nvPr>
            <p:ph type="sldNum" sz="quarter" idx="12"/>
          </p:nvPr>
        </p:nvSpPr>
        <p:spPr/>
        <p:txBody>
          <a:bodyPr/>
          <a:lstStyle/>
          <a:p>
            <a:fld id="{7E76685F-81A1-4C06-B40A-456CC723A3F5}" type="slidenum">
              <a:rPr lang="en-IN" smtClean="0"/>
              <a:t>‹#›</a:t>
            </a:fld>
            <a:endParaRPr lang="en-IN"/>
          </a:p>
        </p:txBody>
      </p:sp>
    </p:spTree>
    <p:extLst>
      <p:ext uri="{BB962C8B-B14F-4D97-AF65-F5344CB8AC3E}">
        <p14:creationId xmlns:p14="http://schemas.microsoft.com/office/powerpoint/2010/main" val="1177530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3F68A-93A3-3EAB-B6F8-041015B6DE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E22D04-F098-9B4C-557A-D4B7C47FCE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C37E1B-EA3B-0E8A-9F4C-620A522E7C18}"/>
              </a:ext>
            </a:extLst>
          </p:cNvPr>
          <p:cNvSpPr>
            <a:spLocks noGrp="1"/>
          </p:cNvSpPr>
          <p:nvPr>
            <p:ph type="dt" sz="half" idx="10"/>
          </p:nvPr>
        </p:nvSpPr>
        <p:spPr/>
        <p:txBody>
          <a:bodyPr/>
          <a:lstStyle/>
          <a:p>
            <a:fld id="{A9F6A832-AB4E-477E-B123-89F4A6E69F27}" type="datetimeFigureOut">
              <a:rPr lang="en-IN" smtClean="0"/>
              <a:t>09-05-2026</a:t>
            </a:fld>
            <a:endParaRPr lang="en-IN"/>
          </a:p>
        </p:txBody>
      </p:sp>
      <p:sp>
        <p:nvSpPr>
          <p:cNvPr id="5" name="Footer Placeholder 4">
            <a:extLst>
              <a:ext uri="{FF2B5EF4-FFF2-40B4-BE49-F238E27FC236}">
                <a16:creationId xmlns:a16="http://schemas.microsoft.com/office/drawing/2014/main" id="{67202B46-2FD4-053F-18CC-F9CAF11ABA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6628DB-161B-328A-A7AD-D3D848C5BFD1}"/>
              </a:ext>
            </a:extLst>
          </p:cNvPr>
          <p:cNvSpPr>
            <a:spLocks noGrp="1"/>
          </p:cNvSpPr>
          <p:nvPr>
            <p:ph type="sldNum" sz="quarter" idx="12"/>
          </p:nvPr>
        </p:nvSpPr>
        <p:spPr/>
        <p:txBody>
          <a:bodyPr/>
          <a:lstStyle/>
          <a:p>
            <a:fld id="{7E76685F-81A1-4C06-B40A-456CC723A3F5}" type="slidenum">
              <a:rPr lang="en-IN" smtClean="0"/>
              <a:t>‹#›</a:t>
            </a:fld>
            <a:endParaRPr lang="en-IN"/>
          </a:p>
        </p:txBody>
      </p:sp>
    </p:spTree>
    <p:extLst>
      <p:ext uri="{BB962C8B-B14F-4D97-AF65-F5344CB8AC3E}">
        <p14:creationId xmlns:p14="http://schemas.microsoft.com/office/powerpoint/2010/main" val="1157688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38644-9FC9-E331-548B-1C7957D991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54285EB-D76D-E299-83A5-4EF1AADB8D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F6AB6C-DE59-C143-8699-4DDB9E96F580}"/>
              </a:ext>
            </a:extLst>
          </p:cNvPr>
          <p:cNvSpPr>
            <a:spLocks noGrp="1"/>
          </p:cNvSpPr>
          <p:nvPr>
            <p:ph type="dt" sz="half" idx="10"/>
          </p:nvPr>
        </p:nvSpPr>
        <p:spPr/>
        <p:txBody>
          <a:bodyPr/>
          <a:lstStyle/>
          <a:p>
            <a:fld id="{A9F6A832-AB4E-477E-B123-89F4A6E69F27}" type="datetimeFigureOut">
              <a:rPr lang="en-IN" smtClean="0"/>
              <a:t>09-05-2026</a:t>
            </a:fld>
            <a:endParaRPr lang="en-IN"/>
          </a:p>
        </p:txBody>
      </p:sp>
      <p:sp>
        <p:nvSpPr>
          <p:cNvPr id="5" name="Footer Placeholder 4">
            <a:extLst>
              <a:ext uri="{FF2B5EF4-FFF2-40B4-BE49-F238E27FC236}">
                <a16:creationId xmlns:a16="http://schemas.microsoft.com/office/drawing/2014/main" id="{E5754716-684C-FC5B-8117-81BB9FE4CC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1B9972-F0A9-14C8-B1B5-F5C8A0D997F9}"/>
              </a:ext>
            </a:extLst>
          </p:cNvPr>
          <p:cNvSpPr>
            <a:spLocks noGrp="1"/>
          </p:cNvSpPr>
          <p:nvPr>
            <p:ph type="sldNum" sz="quarter" idx="12"/>
          </p:nvPr>
        </p:nvSpPr>
        <p:spPr/>
        <p:txBody>
          <a:bodyPr/>
          <a:lstStyle/>
          <a:p>
            <a:fld id="{7E76685F-81A1-4C06-B40A-456CC723A3F5}" type="slidenum">
              <a:rPr lang="en-IN" smtClean="0"/>
              <a:t>‹#›</a:t>
            </a:fld>
            <a:endParaRPr lang="en-IN"/>
          </a:p>
        </p:txBody>
      </p:sp>
    </p:spTree>
    <p:extLst>
      <p:ext uri="{BB962C8B-B14F-4D97-AF65-F5344CB8AC3E}">
        <p14:creationId xmlns:p14="http://schemas.microsoft.com/office/powerpoint/2010/main" val="2005178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B98EE-3041-9A35-9684-13D2E13B97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434ABD-AFB8-514D-656B-3DAA4A6797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142D55-0C76-A135-AD71-F0C15A939F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FC249DC-5A90-252D-888B-04B5A7B50515}"/>
              </a:ext>
            </a:extLst>
          </p:cNvPr>
          <p:cNvSpPr>
            <a:spLocks noGrp="1"/>
          </p:cNvSpPr>
          <p:nvPr>
            <p:ph type="dt" sz="half" idx="10"/>
          </p:nvPr>
        </p:nvSpPr>
        <p:spPr/>
        <p:txBody>
          <a:bodyPr/>
          <a:lstStyle/>
          <a:p>
            <a:fld id="{A9F6A832-AB4E-477E-B123-89F4A6E69F27}" type="datetimeFigureOut">
              <a:rPr lang="en-IN" smtClean="0"/>
              <a:t>09-05-2026</a:t>
            </a:fld>
            <a:endParaRPr lang="en-IN"/>
          </a:p>
        </p:txBody>
      </p:sp>
      <p:sp>
        <p:nvSpPr>
          <p:cNvPr id="6" name="Footer Placeholder 5">
            <a:extLst>
              <a:ext uri="{FF2B5EF4-FFF2-40B4-BE49-F238E27FC236}">
                <a16:creationId xmlns:a16="http://schemas.microsoft.com/office/drawing/2014/main" id="{DDA3C065-95D2-0BCC-8F09-7523DE0BBA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415843-2D74-5E5A-DAF2-DAAF888D3805}"/>
              </a:ext>
            </a:extLst>
          </p:cNvPr>
          <p:cNvSpPr>
            <a:spLocks noGrp="1"/>
          </p:cNvSpPr>
          <p:nvPr>
            <p:ph type="sldNum" sz="quarter" idx="12"/>
          </p:nvPr>
        </p:nvSpPr>
        <p:spPr/>
        <p:txBody>
          <a:bodyPr/>
          <a:lstStyle/>
          <a:p>
            <a:fld id="{7E76685F-81A1-4C06-B40A-456CC723A3F5}" type="slidenum">
              <a:rPr lang="en-IN" smtClean="0"/>
              <a:t>‹#›</a:t>
            </a:fld>
            <a:endParaRPr lang="en-IN"/>
          </a:p>
        </p:txBody>
      </p:sp>
    </p:spTree>
    <p:extLst>
      <p:ext uri="{BB962C8B-B14F-4D97-AF65-F5344CB8AC3E}">
        <p14:creationId xmlns:p14="http://schemas.microsoft.com/office/powerpoint/2010/main" val="344672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F660F-4FF2-CDF8-7AD0-323EABC701D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937789-8B9B-3888-B4CC-31179B296A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7F30B-3BF7-52DC-1F4A-B7F8BEB13B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F0EAE8D-A459-A379-5A67-BC8FBC4927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A6028A-E2B9-A56C-AC91-ED951D02C7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2A510F4-B063-66ED-BA86-5D285F96D2EA}"/>
              </a:ext>
            </a:extLst>
          </p:cNvPr>
          <p:cNvSpPr>
            <a:spLocks noGrp="1"/>
          </p:cNvSpPr>
          <p:nvPr>
            <p:ph type="dt" sz="half" idx="10"/>
          </p:nvPr>
        </p:nvSpPr>
        <p:spPr/>
        <p:txBody>
          <a:bodyPr/>
          <a:lstStyle/>
          <a:p>
            <a:fld id="{A9F6A832-AB4E-477E-B123-89F4A6E69F27}" type="datetimeFigureOut">
              <a:rPr lang="en-IN" smtClean="0"/>
              <a:t>09-05-2026</a:t>
            </a:fld>
            <a:endParaRPr lang="en-IN"/>
          </a:p>
        </p:txBody>
      </p:sp>
      <p:sp>
        <p:nvSpPr>
          <p:cNvPr id="8" name="Footer Placeholder 7">
            <a:extLst>
              <a:ext uri="{FF2B5EF4-FFF2-40B4-BE49-F238E27FC236}">
                <a16:creationId xmlns:a16="http://schemas.microsoft.com/office/drawing/2014/main" id="{AC310F12-4BE3-0753-FEE0-70AB35CBFA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08885A-03EB-93FE-A11A-6BBD50687BF5}"/>
              </a:ext>
            </a:extLst>
          </p:cNvPr>
          <p:cNvSpPr>
            <a:spLocks noGrp="1"/>
          </p:cNvSpPr>
          <p:nvPr>
            <p:ph type="sldNum" sz="quarter" idx="12"/>
          </p:nvPr>
        </p:nvSpPr>
        <p:spPr/>
        <p:txBody>
          <a:bodyPr/>
          <a:lstStyle/>
          <a:p>
            <a:fld id="{7E76685F-81A1-4C06-B40A-456CC723A3F5}" type="slidenum">
              <a:rPr lang="en-IN" smtClean="0"/>
              <a:t>‹#›</a:t>
            </a:fld>
            <a:endParaRPr lang="en-IN"/>
          </a:p>
        </p:txBody>
      </p:sp>
    </p:spTree>
    <p:extLst>
      <p:ext uri="{BB962C8B-B14F-4D97-AF65-F5344CB8AC3E}">
        <p14:creationId xmlns:p14="http://schemas.microsoft.com/office/powerpoint/2010/main" val="1346457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D3E68-096A-391F-8F2C-B24B1CE0082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3B98079-548C-B249-6B22-A852E48CAAC4}"/>
              </a:ext>
            </a:extLst>
          </p:cNvPr>
          <p:cNvSpPr>
            <a:spLocks noGrp="1"/>
          </p:cNvSpPr>
          <p:nvPr>
            <p:ph type="dt" sz="half" idx="10"/>
          </p:nvPr>
        </p:nvSpPr>
        <p:spPr/>
        <p:txBody>
          <a:bodyPr/>
          <a:lstStyle/>
          <a:p>
            <a:fld id="{A9F6A832-AB4E-477E-B123-89F4A6E69F27}" type="datetimeFigureOut">
              <a:rPr lang="en-IN" smtClean="0"/>
              <a:t>09-05-2026</a:t>
            </a:fld>
            <a:endParaRPr lang="en-IN"/>
          </a:p>
        </p:txBody>
      </p:sp>
      <p:sp>
        <p:nvSpPr>
          <p:cNvPr id="4" name="Footer Placeholder 3">
            <a:extLst>
              <a:ext uri="{FF2B5EF4-FFF2-40B4-BE49-F238E27FC236}">
                <a16:creationId xmlns:a16="http://schemas.microsoft.com/office/drawing/2014/main" id="{44BF8A0B-417E-82ED-1838-0DE024FE73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0832A7D-F574-0C9F-FF44-19F993B6C44E}"/>
              </a:ext>
            </a:extLst>
          </p:cNvPr>
          <p:cNvSpPr>
            <a:spLocks noGrp="1"/>
          </p:cNvSpPr>
          <p:nvPr>
            <p:ph type="sldNum" sz="quarter" idx="12"/>
          </p:nvPr>
        </p:nvSpPr>
        <p:spPr/>
        <p:txBody>
          <a:bodyPr/>
          <a:lstStyle/>
          <a:p>
            <a:fld id="{7E76685F-81A1-4C06-B40A-456CC723A3F5}" type="slidenum">
              <a:rPr lang="en-IN" smtClean="0"/>
              <a:t>‹#›</a:t>
            </a:fld>
            <a:endParaRPr lang="en-IN"/>
          </a:p>
        </p:txBody>
      </p:sp>
    </p:spTree>
    <p:extLst>
      <p:ext uri="{BB962C8B-B14F-4D97-AF65-F5344CB8AC3E}">
        <p14:creationId xmlns:p14="http://schemas.microsoft.com/office/powerpoint/2010/main" val="2080885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A7D270-5DE1-3287-EC60-92CA3203970A}"/>
              </a:ext>
            </a:extLst>
          </p:cNvPr>
          <p:cNvSpPr>
            <a:spLocks noGrp="1"/>
          </p:cNvSpPr>
          <p:nvPr>
            <p:ph type="dt" sz="half" idx="10"/>
          </p:nvPr>
        </p:nvSpPr>
        <p:spPr/>
        <p:txBody>
          <a:bodyPr/>
          <a:lstStyle/>
          <a:p>
            <a:fld id="{A9F6A832-AB4E-477E-B123-89F4A6E69F27}" type="datetimeFigureOut">
              <a:rPr lang="en-IN" smtClean="0"/>
              <a:t>09-05-2026</a:t>
            </a:fld>
            <a:endParaRPr lang="en-IN"/>
          </a:p>
        </p:txBody>
      </p:sp>
      <p:sp>
        <p:nvSpPr>
          <p:cNvPr id="3" name="Footer Placeholder 2">
            <a:extLst>
              <a:ext uri="{FF2B5EF4-FFF2-40B4-BE49-F238E27FC236}">
                <a16:creationId xmlns:a16="http://schemas.microsoft.com/office/drawing/2014/main" id="{DA9DEB90-0A7C-5A10-C274-339086C4B4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0A3DCB5-8ECB-D8FA-9BFB-A5CFF572C96B}"/>
              </a:ext>
            </a:extLst>
          </p:cNvPr>
          <p:cNvSpPr>
            <a:spLocks noGrp="1"/>
          </p:cNvSpPr>
          <p:nvPr>
            <p:ph type="sldNum" sz="quarter" idx="12"/>
          </p:nvPr>
        </p:nvSpPr>
        <p:spPr/>
        <p:txBody>
          <a:bodyPr/>
          <a:lstStyle/>
          <a:p>
            <a:fld id="{7E76685F-81A1-4C06-B40A-456CC723A3F5}" type="slidenum">
              <a:rPr lang="en-IN" smtClean="0"/>
              <a:t>‹#›</a:t>
            </a:fld>
            <a:endParaRPr lang="en-IN"/>
          </a:p>
        </p:txBody>
      </p:sp>
    </p:spTree>
    <p:extLst>
      <p:ext uri="{BB962C8B-B14F-4D97-AF65-F5344CB8AC3E}">
        <p14:creationId xmlns:p14="http://schemas.microsoft.com/office/powerpoint/2010/main" val="581123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78AE4-6117-39C4-0CB4-CBC30F60F0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A99ED1-0138-CFC0-0043-A3AD2E6000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575CC88-C74E-C8B9-C28A-8344098FC0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EFA241-68A3-9ED5-6968-B1BBCE845404}"/>
              </a:ext>
            </a:extLst>
          </p:cNvPr>
          <p:cNvSpPr>
            <a:spLocks noGrp="1"/>
          </p:cNvSpPr>
          <p:nvPr>
            <p:ph type="dt" sz="half" idx="10"/>
          </p:nvPr>
        </p:nvSpPr>
        <p:spPr/>
        <p:txBody>
          <a:bodyPr/>
          <a:lstStyle/>
          <a:p>
            <a:fld id="{A9F6A832-AB4E-477E-B123-89F4A6E69F27}" type="datetimeFigureOut">
              <a:rPr lang="en-IN" smtClean="0"/>
              <a:t>09-05-2026</a:t>
            </a:fld>
            <a:endParaRPr lang="en-IN"/>
          </a:p>
        </p:txBody>
      </p:sp>
      <p:sp>
        <p:nvSpPr>
          <p:cNvPr id="6" name="Footer Placeholder 5">
            <a:extLst>
              <a:ext uri="{FF2B5EF4-FFF2-40B4-BE49-F238E27FC236}">
                <a16:creationId xmlns:a16="http://schemas.microsoft.com/office/drawing/2014/main" id="{43492525-1721-EC00-9F3A-6CBAD76471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0DADDA-2D39-174F-9D63-C4F78E111FB2}"/>
              </a:ext>
            </a:extLst>
          </p:cNvPr>
          <p:cNvSpPr>
            <a:spLocks noGrp="1"/>
          </p:cNvSpPr>
          <p:nvPr>
            <p:ph type="sldNum" sz="quarter" idx="12"/>
          </p:nvPr>
        </p:nvSpPr>
        <p:spPr/>
        <p:txBody>
          <a:bodyPr/>
          <a:lstStyle/>
          <a:p>
            <a:fld id="{7E76685F-81A1-4C06-B40A-456CC723A3F5}" type="slidenum">
              <a:rPr lang="en-IN" smtClean="0"/>
              <a:t>‹#›</a:t>
            </a:fld>
            <a:endParaRPr lang="en-IN"/>
          </a:p>
        </p:txBody>
      </p:sp>
    </p:spTree>
    <p:extLst>
      <p:ext uri="{BB962C8B-B14F-4D97-AF65-F5344CB8AC3E}">
        <p14:creationId xmlns:p14="http://schemas.microsoft.com/office/powerpoint/2010/main" val="3530779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1C8A7-33EC-3A5F-7486-3807D72BD6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DC04B24-C39B-8CFA-23CA-B5075D7927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E9EB37-2B06-76B9-18A5-FFF71D5348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0DAE50-C87B-9E42-F629-70E97F7B7B95}"/>
              </a:ext>
            </a:extLst>
          </p:cNvPr>
          <p:cNvSpPr>
            <a:spLocks noGrp="1"/>
          </p:cNvSpPr>
          <p:nvPr>
            <p:ph type="dt" sz="half" idx="10"/>
          </p:nvPr>
        </p:nvSpPr>
        <p:spPr/>
        <p:txBody>
          <a:bodyPr/>
          <a:lstStyle/>
          <a:p>
            <a:fld id="{A9F6A832-AB4E-477E-B123-89F4A6E69F27}" type="datetimeFigureOut">
              <a:rPr lang="en-IN" smtClean="0"/>
              <a:t>09-05-2026</a:t>
            </a:fld>
            <a:endParaRPr lang="en-IN"/>
          </a:p>
        </p:txBody>
      </p:sp>
      <p:sp>
        <p:nvSpPr>
          <p:cNvPr id="6" name="Footer Placeholder 5">
            <a:extLst>
              <a:ext uri="{FF2B5EF4-FFF2-40B4-BE49-F238E27FC236}">
                <a16:creationId xmlns:a16="http://schemas.microsoft.com/office/drawing/2014/main" id="{5804AF48-402E-C015-7426-D276D39E96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73A0E3-D5B5-7440-3B70-2A0401911F21}"/>
              </a:ext>
            </a:extLst>
          </p:cNvPr>
          <p:cNvSpPr>
            <a:spLocks noGrp="1"/>
          </p:cNvSpPr>
          <p:nvPr>
            <p:ph type="sldNum" sz="quarter" idx="12"/>
          </p:nvPr>
        </p:nvSpPr>
        <p:spPr/>
        <p:txBody>
          <a:bodyPr/>
          <a:lstStyle/>
          <a:p>
            <a:fld id="{7E76685F-81A1-4C06-B40A-456CC723A3F5}" type="slidenum">
              <a:rPr lang="en-IN" smtClean="0"/>
              <a:t>‹#›</a:t>
            </a:fld>
            <a:endParaRPr lang="en-IN"/>
          </a:p>
        </p:txBody>
      </p:sp>
    </p:spTree>
    <p:extLst>
      <p:ext uri="{BB962C8B-B14F-4D97-AF65-F5344CB8AC3E}">
        <p14:creationId xmlns:p14="http://schemas.microsoft.com/office/powerpoint/2010/main" val="4151741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82A47-C801-79EB-D167-D0D02FA5E2A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52B6FB-B30B-40F8-484E-27F2505D2F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23E46F-FCCB-96FB-EC40-D2967AE738D1}"/>
              </a:ext>
            </a:extLst>
          </p:cNvPr>
          <p:cNvSpPr>
            <a:spLocks noGrp="1"/>
          </p:cNvSpPr>
          <p:nvPr>
            <p:ph type="dt" sz="half" idx="10"/>
          </p:nvPr>
        </p:nvSpPr>
        <p:spPr/>
        <p:txBody>
          <a:bodyPr/>
          <a:lstStyle/>
          <a:p>
            <a:fld id="{A9F6A832-AB4E-477E-B123-89F4A6E69F27}" type="datetimeFigureOut">
              <a:rPr lang="en-IN" smtClean="0"/>
              <a:t>09-05-2026</a:t>
            </a:fld>
            <a:endParaRPr lang="en-IN"/>
          </a:p>
        </p:txBody>
      </p:sp>
      <p:sp>
        <p:nvSpPr>
          <p:cNvPr id="5" name="Footer Placeholder 4">
            <a:extLst>
              <a:ext uri="{FF2B5EF4-FFF2-40B4-BE49-F238E27FC236}">
                <a16:creationId xmlns:a16="http://schemas.microsoft.com/office/drawing/2014/main" id="{944BA45A-8D5C-3F17-0B11-4E491FB7E9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DBA2C6-F022-6435-0ECE-B1CDC17B1B95}"/>
              </a:ext>
            </a:extLst>
          </p:cNvPr>
          <p:cNvSpPr>
            <a:spLocks noGrp="1"/>
          </p:cNvSpPr>
          <p:nvPr>
            <p:ph type="sldNum" sz="quarter" idx="12"/>
          </p:nvPr>
        </p:nvSpPr>
        <p:spPr/>
        <p:txBody>
          <a:bodyPr/>
          <a:lstStyle/>
          <a:p>
            <a:fld id="{7E76685F-81A1-4C06-B40A-456CC723A3F5}" type="slidenum">
              <a:rPr lang="en-IN" smtClean="0"/>
              <a:t>‹#›</a:t>
            </a:fld>
            <a:endParaRPr lang="en-IN"/>
          </a:p>
        </p:txBody>
      </p:sp>
    </p:spTree>
    <p:extLst>
      <p:ext uri="{BB962C8B-B14F-4D97-AF65-F5344CB8AC3E}">
        <p14:creationId xmlns:p14="http://schemas.microsoft.com/office/powerpoint/2010/main" val="705060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E9828-E43A-1AEB-41C6-07E7EC6407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8A21F9-8FFC-402F-ABEF-BC647F3AE3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FD8716-C7C2-C774-9C97-A74975B1C1FA}"/>
              </a:ext>
            </a:extLst>
          </p:cNvPr>
          <p:cNvSpPr>
            <a:spLocks noGrp="1"/>
          </p:cNvSpPr>
          <p:nvPr>
            <p:ph type="dt" sz="half" idx="10"/>
          </p:nvPr>
        </p:nvSpPr>
        <p:spPr/>
        <p:txBody>
          <a:bodyPr/>
          <a:lstStyle/>
          <a:p>
            <a:fld id="{A9F6A832-AB4E-477E-B123-89F4A6E69F27}" type="datetimeFigureOut">
              <a:rPr lang="en-IN" smtClean="0"/>
              <a:t>09-05-2026</a:t>
            </a:fld>
            <a:endParaRPr lang="en-IN"/>
          </a:p>
        </p:txBody>
      </p:sp>
      <p:sp>
        <p:nvSpPr>
          <p:cNvPr id="5" name="Footer Placeholder 4">
            <a:extLst>
              <a:ext uri="{FF2B5EF4-FFF2-40B4-BE49-F238E27FC236}">
                <a16:creationId xmlns:a16="http://schemas.microsoft.com/office/drawing/2014/main" id="{39ACAFC4-3FB6-2504-C91E-F871BAA73C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CC39D6-DEB7-952C-EDC5-2EBB0A922B38}"/>
              </a:ext>
            </a:extLst>
          </p:cNvPr>
          <p:cNvSpPr>
            <a:spLocks noGrp="1"/>
          </p:cNvSpPr>
          <p:nvPr>
            <p:ph type="sldNum" sz="quarter" idx="12"/>
          </p:nvPr>
        </p:nvSpPr>
        <p:spPr/>
        <p:txBody>
          <a:bodyPr/>
          <a:lstStyle/>
          <a:p>
            <a:fld id="{7E76685F-81A1-4C06-B40A-456CC723A3F5}" type="slidenum">
              <a:rPr lang="en-IN" smtClean="0"/>
              <a:t>‹#›</a:t>
            </a:fld>
            <a:endParaRPr lang="en-IN"/>
          </a:p>
        </p:txBody>
      </p:sp>
    </p:spTree>
    <p:extLst>
      <p:ext uri="{BB962C8B-B14F-4D97-AF65-F5344CB8AC3E}">
        <p14:creationId xmlns:p14="http://schemas.microsoft.com/office/powerpoint/2010/main" val="3058400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5E59C9-94C6-3A73-F20B-5875BA302B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5043DD-186F-69F9-EF94-B23ED0E6F2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6DB05E-F61B-B7B2-1578-8DFABB552B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F6A832-AB4E-477E-B123-89F4A6E69F27}" type="datetimeFigureOut">
              <a:rPr lang="en-IN" smtClean="0"/>
              <a:t>09-05-2026</a:t>
            </a:fld>
            <a:endParaRPr lang="en-IN"/>
          </a:p>
        </p:txBody>
      </p:sp>
      <p:sp>
        <p:nvSpPr>
          <p:cNvPr id="5" name="Footer Placeholder 4">
            <a:extLst>
              <a:ext uri="{FF2B5EF4-FFF2-40B4-BE49-F238E27FC236}">
                <a16:creationId xmlns:a16="http://schemas.microsoft.com/office/drawing/2014/main" id="{CF1158C0-94FA-F76E-F878-B688C10E87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896016D-EB63-C80E-DC4A-0B45DC9DB5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76685F-81A1-4C06-B40A-456CC723A3F5}" type="slidenum">
              <a:rPr lang="en-IN" smtClean="0"/>
              <a:t>‹#›</a:t>
            </a:fld>
            <a:endParaRPr lang="en-IN"/>
          </a:p>
        </p:txBody>
      </p:sp>
    </p:spTree>
    <p:extLst>
      <p:ext uri="{BB962C8B-B14F-4D97-AF65-F5344CB8AC3E}">
        <p14:creationId xmlns:p14="http://schemas.microsoft.com/office/powerpoint/2010/main" val="1495943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sentinelone.com/blog/two-month-later-sentinelone-gdpr/"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sentinelone.com/cybersecurity-101/cybersecurity/what-is-risk-assessmen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sentinelone.com/cybersecurity-101/cybersecurity/what-is-vulnerability-managemen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DCD7D-CFFA-EBA2-BEA7-B768CAEE1030}"/>
              </a:ext>
            </a:extLst>
          </p:cNvPr>
          <p:cNvSpPr>
            <a:spLocks noGrp="1"/>
          </p:cNvSpPr>
          <p:nvPr>
            <p:ph type="ctrTitle"/>
          </p:nvPr>
        </p:nvSpPr>
        <p:spPr/>
        <p:txBody>
          <a:bodyPr>
            <a:normAutofit/>
          </a:bodyPr>
          <a:lstStyle/>
          <a:p>
            <a:r>
              <a:rPr lang="en-US" sz="3200" dirty="0"/>
              <a:t>Legal challenges involved in Cloud</a:t>
            </a:r>
            <a:endParaRPr lang="en-IN" sz="3200" dirty="0"/>
          </a:p>
        </p:txBody>
      </p:sp>
      <p:sp>
        <p:nvSpPr>
          <p:cNvPr id="3" name="Subtitle 2">
            <a:extLst>
              <a:ext uri="{FF2B5EF4-FFF2-40B4-BE49-F238E27FC236}">
                <a16:creationId xmlns:a16="http://schemas.microsoft.com/office/drawing/2014/main" id="{5B305759-2E23-DB38-0D2C-8D0DA6521DEE}"/>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093320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59A3-A57E-20FF-CA5C-E38F3BB41AF8}"/>
              </a:ext>
            </a:extLst>
          </p:cNvPr>
          <p:cNvSpPr>
            <a:spLocks noGrp="1"/>
          </p:cNvSpPr>
          <p:nvPr>
            <p:ph type="title"/>
          </p:nvPr>
        </p:nvSpPr>
        <p:spPr/>
        <p:txBody>
          <a:bodyPr>
            <a:normAutofit/>
          </a:bodyPr>
          <a:lstStyle/>
          <a:p>
            <a:r>
              <a:rPr lang="en-US" dirty="0"/>
              <a:t>Legal challenges involved in Cloud- Data breaches</a:t>
            </a:r>
            <a:endParaRPr lang="en-IN" dirty="0"/>
          </a:p>
        </p:txBody>
      </p:sp>
      <p:sp>
        <p:nvSpPr>
          <p:cNvPr id="3" name="Content Placeholder 2">
            <a:extLst>
              <a:ext uri="{FF2B5EF4-FFF2-40B4-BE49-F238E27FC236}">
                <a16:creationId xmlns:a16="http://schemas.microsoft.com/office/drawing/2014/main" id="{5DFAFF21-ABF5-3F3F-C9BB-EBE1F264C70D}"/>
              </a:ext>
            </a:extLst>
          </p:cNvPr>
          <p:cNvSpPr>
            <a:spLocks noGrp="1"/>
          </p:cNvSpPr>
          <p:nvPr>
            <p:ph idx="1"/>
          </p:nvPr>
        </p:nvSpPr>
        <p:spPr/>
        <p:txBody>
          <a:bodyPr>
            <a:normAutofit fontScale="70000" lnSpcReduction="20000"/>
          </a:bodyPr>
          <a:lstStyle/>
          <a:p>
            <a:pPr marL="0" indent="0" fontAlgn="base">
              <a:buNone/>
            </a:pPr>
            <a:r>
              <a:rPr lang="en-US" sz="2900" b="1" dirty="0">
                <a:latin typeface="Arial" panose="020B0604020202020204" pitchFamily="34" charset="0"/>
                <a:cs typeface="Arial" panose="020B0604020202020204" pitchFamily="34" charset="0"/>
              </a:rPr>
              <a:t>Data breaches in cloud computing</a:t>
            </a:r>
            <a:r>
              <a:rPr lang="en-US" sz="2900" dirty="0">
                <a:latin typeface="Arial" panose="020B0604020202020204" pitchFamily="34" charset="0"/>
                <a:cs typeface="Arial" panose="020B0604020202020204" pitchFamily="34" charset="0"/>
              </a:rPr>
              <a:t> security remain a primary point of concern due to misconfigured cloud storage, as organizations end up exposing sensitive data to illegal access.</a:t>
            </a:r>
          </a:p>
          <a:p>
            <a:pPr marL="0" indent="0" fontAlgn="base">
              <a:buNone/>
            </a:pPr>
            <a:endParaRPr lang="en-US" sz="2900" dirty="0">
              <a:latin typeface="Arial" panose="020B0604020202020204" pitchFamily="34" charset="0"/>
              <a:cs typeface="Arial" panose="020B0604020202020204" pitchFamily="34" charset="0"/>
            </a:endParaRPr>
          </a:p>
          <a:p>
            <a:pPr fontAlgn="base"/>
            <a:r>
              <a:rPr lang="en-US" sz="2900" b="1" dirty="0">
                <a:latin typeface="Arial" panose="020B0604020202020204" pitchFamily="34" charset="0"/>
                <a:cs typeface="Arial" panose="020B0604020202020204" pitchFamily="34" charset="0"/>
              </a:rPr>
              <a:t>Public storage containers</a:t>
            </a:r>
            <a:r>
              <a:rPr lang="en-US" sz="2900" dirty="0">
                <a:latin typeface="Arial" panose="020B0604020202020204" pitchFamily="34" charset="0"/>
                <a:cs typeface="Arial" panose="020B0604020202020204" pitchFamily="34" charset="0"/>
              </a:rPr>
              <a:t>: Unsecured S3 buckets, Azure Blob storage, and Google Cloud Storage boxes in the open leave terabytes of sensitive data, such as customer records and intellectual property, exposed.</a:t>
            </a:r>
          </a:p>
          <a:p>
            <a:pPr fontAlgn="base"/>
            <a:r>
              <a:rPr lang="en-US" sz="2900" b="1" dirty="0">
                <a:latin typeface="Arial" panose="020B0604020202020204" pitchFamily="34" charset="0"/>
                <a:cs typeface="Arial" panose="020B0604020202020204" pitchFamily="34" charset="0"/>
              </a:rPr>
              <a:t>Default security settings</a:t>
            </a:r>
            <a:r>
              <a:rPr lang="en-US" sz="2900" dirty="0">
                <a:latin typeface="Arial" panose="020B0604020202020204" pitchFamily="34" charset="0"/>
                <a:cs typeface="Arial" panose="020B0604020202020204" pitchFamily="34" charset="0"/>
              </a:rPr>
              <a:t>: It has been observed that most often organizations use standard configurations within cloud services, which do not offer maximum protection because they customize them with the view of increasing accessibility rather than the safety of the information concerned.</a:t>
            </a:r>
          </a:p>
          <a:p>
            <a:pPr fontAlgn="base"/>
            <a:r>
              <a:rPr lang="en-US" sz="2900" b="1" dirty="0">
                <a:latin typeface="Arial" panose="020B0604020202020204" pitchFamily="34" charset="0"/>
                <a:cs typeface="Arial" panose="020B0604020202020204" pitchFamily="34" charset="0"/>
              </a:rPr>
              <a:t>Overpermissive access controls</a:t>
            </a:r>
            <a:r>
              <a:rPr lang="en-US" sz="2900" dirty="0">
                <a:latin typeface="Arial" panose="020B0604020202020204" pitchFamily="34" charset="0"/>
                <a:cs typeface="Arial" panose="020B0604020202020204" pitchFamily="34" charset="0"/>
              </a:rPr>
              <a:t>: Permission levels set during the initial configuration remain unchanged and allow the wrong people to gain sensitive information.</a:t>
            </a:r>
          </a:p>
          <a:p>
            <a:pPr fontAlgn="base"/>
            <a:r>
              <a:rPr lang="en-US" sz="2900" b="1" dirty="0">
                <a:latin typeface="Arial" panose="020B0604020202020204" pitchFamily="34" charset="0"/>
                <a:cs typeface="Arial" panose="020B0604020202020204" pitchFamily="34" charset="0"/>
              </a:rPr>
              <a:t>Automated discovery by attackers</a:t>
            </a:r>
            <a:r>
              <a:rPr lang="en-US" sz="2900" dirty="0">
                <a:latin typeface="Arial" panose="020B0604020202020204" pitchFamily="34" charset="0"/>
                <a:cs typeface="Arial" panose="020B0604020202020204" pitchFamily="34" charset="0"/>
              </a:rPr>
              <a:t>: Malicious actors have automated ways of scanning publicly available cloud storage containers, increasing the efficiency of the discovery of vulnerable data.</a:t>
            </a:r>
          </a:p>
          <a:p>
            <a:endParaRPr lang="en-IN" dirty="0"/>
          </a:p>
        </p:txBody>
      </p:sp>
    </p:spTree>
    <p:extLst>
      <p:ext uri="{BB962C8B-B14F-4D97-AF65-F5344CB8AC3E}">
        <p14:creationId xmlns:p14="http://schemas.microsoft.com/office/powerpoint/2010/main" val="2394143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62007-E2A8-081D-1C26-F8E4BB046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2DEC66-4BD5-92E3-7CEA-48993C6C922B}"/>
              </a:ext>
            </a:extLst>
          </p:cNvPr>
          <p:cNvSpPr>
            <a:spLocks noGrp="1"/>
          </p:cNvSpPr>
          <p:nvPr>
            <p:ph type="title"/>
          </p:nvPr>
        </p:nvSpPr>
        <p:spPr/>
        <p:txBody>
          <a:bodyPr>
            <a:normAutofit/>
          </a:bodyPr>
          <a:lstStyle/>
          <a:p>
            <a:r>
              <a:rPr lang="en-US" dirty="0"/>
              <a:t>Legal challenges involved in Cloud- Privacy violations</a:t>
            </a:r>
            <a:endParaRPr lang="en-IN" dirty="0"/>
          </a:p>
        </p:txBody>
      </p:sp>
      <p:sp>
        <p:nvSpPr>
          <p:cNvPr id="4" name="Rectangle 1">
            <a:extLst>
              <a:ext uri="{FF2B5EF4-FFF2-40B4-BE49-F238E27FC236}">
                <a16:creationId xmlns:a16="http://schemas.microsoft.com/office/drawing/2014/main" id="{555A2CF7-F9E2-9A70-4B5A-E46CF8884F06}"/>
              </a:ext>
            </a:extLst>
          </p:cNvPr>
          <p:cNvSpPr>
            <a:spLocks noGrp="1" noChangeArrowheads="1"/>
          </p:cNvSpPr>
          <p:nvPr>
            <p:ph idx="1"/>
          </p:nvPr>
        </p:nvSpPr>
        <p:spPr bwMode="auto">
          <a:xfrm>
            <a:off x="838200" y="1877637"/>
            <a:ext cx="10714703" cy="424731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 the context of cloud infrastructure and disaster recovery,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cloud privacy violations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often arise from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human actions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such as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unauthorized access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by outside parties or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inadvertent misconfigurations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These violations can compromise sensitive data, especially when modern monitoring systems collect vast amounts of operational information.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Key Indicators and Risks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Continuous Monitoring:</a:t>
            </a:r>
            <a:r>
              <a:rPr kumimoji="0" lang="en-US" altLang="en-US" sz="18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While essential for "intelligent" disaster recovery, the continuous collection of </a:t>
            </a:r>
            <a:r>
              <a:rPr kumimoji="0" lang="en-US" altLang="en-US" sz="18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system logs and user activity</a:t>
            </a:r>
            <a:r>
              <a:rPr kumimoji="0" lang="en-US" altLang="en-US" sz="18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records can raise significant privacy concerns if the data is not handled according to strict security and compliance standards.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30303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Malicious Actors:</a:t>
            </a:r>
            <a:r>
              <a:rPr kumimoji="0" lang="en-US" altLang="en-US" sz="18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In the event of a security breach, a malicious actor who gains access to an AWS account could perform unauthorized actions, such as deleting </a:t>
            </a:r>
            <a:r>
              <a:rPr kumimoji="0" lang="en-US" altLang="en-US" sz="18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Point-In-Time (PIT) snapshots</a:t>
            </a:r>
            <a:r>
              <a:rPr kumimoji="0" lang="en-US" altLang="en-US" sz="18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which results in the loss of historical data states required for recovery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0606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C1A01-1553-7873-DCA9-3E2E439A5B74}"/>
              </a:ext>
            </a:extLst>
          </p:cNvPr>
          <p:cNvSpPr>
            <a:spLocks noGrp="1"/>
          </p:cNvSpPr>
          <p:nvPr>
            <p:ph type="title"/>
          </p:nvPr>
        </p:nvSpPr>
        <p:spPr/>
        <p:txBody>
          <a:bodyPr>
            <a:normAutofit/>
          </a:bodyPr>
          <a:lstStyle/>
          <a:p>
            <a:r>
              <a:rPr lang="en-US" dirty="0"/>
              <a:t>Legal challenges involved in Cloud- Privacy violations</a:t>
            </a:r>
            <a:endParaRPr lang="en-IN" dirty="0"/>
          </a:p>
        </p:txBody>
      </p:sp>
      <p:sp>
        <p:nvSpPr>
          <p:cNvPr id="3" name="Content Placeholder 2">
            <a:extLst>
              <a:ext uri="{FF2B5EF4-FFF2-40B4-BE49-F238E27FC236}">
                <a16:creationId xmlns:a16="http://schemas.microsoft.com/office/drawing/2014/main" id="{657C6CC2-8344-0969-0A36-E003501D3C0B}"/>
              </a:ext>
            </a:extLst>
          </p:cNvPr>
          <p:cNvSpPr>
            <a:spLocks noGrp="1"/>
          </p:cNvSpPr>
          <p:nvPr>
            <p:ph idx="1"/>
          </p:nvPr>
        </p:nvSpPr>
        <p:spPr/>
        <p:txBody>
          <a:bodyPr>
            <a:normAutofit/>
          </a:bodyPr>
          <a:lstStyle/>
          <a:p>
            <a:pPr marL="0" lvl="0" indent="0" algn="just" eaLnBrk="0" fontAlgn="base" hangingPunct="0">
              <a:lnSpc>
                <a:spcPct val="100000"/>
              </a:lnSpc>
              <a:spcBef>
                <a:spcPct val="0"/>
              </a:spcBef>
              <a:spcAft>
                <a:spcPct val="0"/>
              </a:spcAft>
              <a:buNone/>
            </a:pPr>
            <a:r>
              <a:rPr lang="en-US" altLang="en-US" sz="2000" dirty="0">
                <a:latin typeface="Arial" panose="020B0604020202020204" pitchFamily="34" charset="0"/>
              </a:rPr>
              <a:t>A privacy violation can occur if an unauthorized party gains access to your AWS environment. This actor could not only access sensitive production data but also </a:t>
            </a:r>
            <a:r>
              <a:rPr lang="en-US" altLang="en-US" sz="2000" b="1" dirty="0">
                <a:latin typeface="Arial" panose="020B0604020202020204" pitchFamily="34" charset="0"/>
              </a:rPr>
              <a:t>delete existing EBS snapshots</a:t>
            </a:r>
            <a:r>
              <a:rPr lang="en-US" altLang="en-US" sz="2000" dirty="0">
                <a:latin typeface="Arial" panose="020B0604020202020204" pitchFamily="34" charset="0"/>
              </a:rPr>
              <a:t> used for recovery. If these snapshots contain sensitive </a:t>
            </a:r>
            <a:r>
              <a:rPr lang="en-US" altLang="en-US" sz="2000" b="1" dirty="0">
                <a:latin typeface="Arial" panose="020B0604020202020204" pitchFamily="34" charset="0"/>
              </a:rPr>
              <a:t>Personally Identifiable Information (PII)</a:t>
            </a:r>
            <a:r>
              <a:rPr lang="en-US" altLang="en-US" sz="2000" dirty="0">
                <a:latin typeface="Arial" panose="020B0604020202020204" pitchFamily="34" charset="0"/>
              </a:rPr>
              <a:t> and are accessed or tampered with before deletion, it constitutes both a security breach and a privacy violation. Such actions prevent an organization from restoring its system to a "clean" state and potentially expose private data to the attacker.</a:t>
            </a:r>
          </a:p>
          <a:p>
            <a:pPr marL="0" lvl="0" indent="0" algn="just" eaLnBrk="0" fontAlgn="base" hangingPunct="0">
              <a:lnSpc>
                <a:spcPct val="100000"/>
              </a:lnSpc>
              <a:spcBef>
                <a:spcPct val="0"/>
              </a:spcBef>
              <a:spcAft>
                <a:spcPct val="0"/>
              </a:spcAft>
              <a:buNone/>
            </a:pPr>
            <a:endParaRPr lang="en-US" altLang="en-US" sz="2000" dirty="0">
              <a:latin typeface="Arial" panose="020B0604020202020204" pitchFamily="34" charset="0"/>
            </a:endParaRPr>
          </a:p>
          <a:p>
            <a:endParaRPr lang="en-IN" dirty="0"/>
          </a:p>
        </p:txBody>
      </p:sp>
    </p:spTree>
    <p:extLst>
      <p:ext uri="{BB962C8B-B14F-4D97-AF65-F5344CB8AC3E}">
        <p14:creationId xmlns:p14="http://schemas.microsoft.com/office/powerpoint/2010/main" val="4147200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EBCAB-08B5-42BF-097D-278B58DDA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C6A5B-99E9-5AF3-919D-B9D87C05D42F}"/>
              </a:ext>
            </a:extLst>
          </p:cNvPr>
          <p:cNvSpPr>
            <a:spLocks noGrp="1"/>
          </p:cNvSpPr>
          <p:nvPr>
            <p:ph type="title"/>
          </p:nvPr>
        </p:nvSpPr>
        <p:spPr/>
        <p:txBody>
          <a:bodyPr>
            <a:normAutofit/>
          </a:bodyPr>
          <a:lstStyle/>
          <a:p>
            <a:r>
              <a:rPr lang="en-US" dirty="0"/>
              <a:t>Legal challenges involved in Cloud- Privacy violations</a:t>
            </a:r>
            <a:endParaRPr lang="en-IN" dirty="0"/>
          </a:p>
        </p:txBody>
      </p:sp>
      <p:sp>
        <p:nvSpPr>
          <p:cNvPr id="4" name="Rectangle 1">
            <a:extLst>
              <a:ext uri="{FF2B5EF4-FFF2-40B4-BE49-F238E27FC236}">
                <a16:creationId xmlns:a16="http://schemas.microsoft.com/office/drawing/2014/main" id="{4947D274-099B-7028-B2F4-5CAF344D0107}"/>
              </a:ext>
            </a:extLst>
          </p:cNvPr>
          <p:cNvSpPr>
            <a:spLocks noGrp="1" noChangeArrowheads="1"/>
          </p:cNvSpPr>
          <p:nvPr>
            <p:ph idx="1"/>
          </p:nvPr>
        </p:nvSpPr>
        <p:spPr bwMode="auto">
          <a:xfrm>
            <a:off x="838201" y="1739138"/>
            <a:ext cx="10515600" cy="45243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Preventive Concepts in Cloud Privacy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To mitigate these risks, the sources define several key data-handling practices: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Data Minimization:</a:t>
            </a:r>
            <a:r>
              <a:rPr kumimoji="0" lang="en-US" altLang="en-US" sz="16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The principle of collecting and processing </a:t>
            </a:r>
            <a:r>
              <a:rPr kumimoji="0" lang="en-US" altLang="en-US" sz="16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only the data that is strictly necessary</a:t>
            </a:r>
            <a:r>
              <a:rPr kumimoji="0" lang="en-US" altLang="en-US" sz="16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which reduces privacy risks and costs.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30303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Anonymization:</a:t>
            </a:r>
            <a:r>
              <a:rPr kumimoji="0" lang="en-US" altLang="en-US" sz="16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The process of </a:t>
            </a:r>
            <a:r>
              <a:rPr kumimoji="0" lang="en-US" altLang="en-US" sz="16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permanently deleting personal information</a:t>
            </a:r>
            <a:r>
              <a:rPr kumimoji="0" lang="en-US" altLang="en-US" sz="16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from a dataset so that the data is no longer considered personal.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30303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Pseudonymization:</a:t>
            </a:r>
            <a:r>
              <a:rPr kumimoji="0" lang="en-US" altLang="en-US" sz="16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Replacing personal identifiers with </a:t>
            </a:r>
            <a:r>
              <a:rPr kumimoji="0" lang="en-US" altLang="en-US" sz="16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placeholder values</a:t>
            </a:r>
            <a:r>
              <a:rPr kumimoji="0" lang="en-US" altLang="en-US" sz="16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to protect individual privacy while keeping the data usable for processing.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30303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Data Classification:</a:t>
            </a:r>
            <a:r>
              <a:rPr kumimoji="0" lang="en-US" altLang="en-US" sz="16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A critical process for identifying and categorizing data based on its </a:t>
            </a:r>
            <a:r>
              <a:rPr kumimoji="0" lang="en-US" altLang="en-US" sz="16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criticality and sensitivity</a:t>
            </a:r>
            <a:r>
              <a:rPr kumimoji="0" lang="en-US" altLang="en-US" sz="16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allowing for the application of appropriate protection and retention controls.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30303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For enhanced security, organizations are encouraged to use </a:t>
            </a: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Identity and Access Management (IAM)</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grant only the </a:t>
            </a: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least privilege</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required for tasks and to use </a:t>
            </a: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temporary credentials</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whenever possible</a:t>
            </a:r>
          </a:p>
        </p:txBody>
      </p:sp>
    </p:spTree>
    <p:extLst>
      <p:ext uri="{BB962C8B-B14F-4D97-AF65-F5344CB8AC3E}">
        <p14:creationId xmlns:p14="http://schemas.microsoft.com/office/powerpoint/2010/main" val="2463519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4EEBE-016E-ABC1-8763-8561F14B4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07039-13B6-BC38-7315-7B4072A5A399}"/>
              </a:ext>
            </a:extLst>
          </p:cNvPr>
          <p:cNvSpPr>
            <a:spLocks noGrp="1"/>
          </p:cNvSpPr>
          <p:nvPr>
            <p:ph type="title"/>
          </p:nvPr>
        </p:nvSpPr>
        <p:spPr/>
        <p:txBody>
          <a:bodyPr>
            <a:normAutofit/>
          </a:bodyPr>
          <a:lstStyle/>
          <a:p>
            <a:r>
              <a:rPr lang="en-US" dirty="0"/>
              <a:t>Legal challenges involved in Cloud- Privacy violations</a:t>
            </a:r>
            <a:endParaRPr lang="en-IN" dirty="0"/>
          </a:p>
        </p:txBody>
      </p:sp>
      <p:sp>
        <p:nvSpPr>
          <p:cNvPr id="4" name="Rectangle 1">
            <a:extLst>
              <a:ext uri="{FF2B5EF4-FFF2-40B4-BE49-F238E27FC236}">
                <a16:creationId xmlns:a16="http://schemas.microsoft.com/office/drawing/2014/main" id="{61BF2549-EC53-9541-0B64-D74F3EA98302}"/>
              </a:ext>
            </a:extLst>
          </p:cNvPr>
          <p:cNvSpPr>
            <a:spLocks noGrp="1" noChangeArrowheads="1"/>
          </p:cNvSpPr>
          <p:nvPr>
            <p:ph idx="1"/>
          </p:nvPr>
        </p:nvSpPr>
        <p:spPr bwMode="auto">
          <a:xfrm>
            <a:off x="960748" y="1690688"/>
            <a:ext cx="10746657" cy="43396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In the context of cloud infrastructure and disaster recovery, </a:t>
            </a:r>
            <a:r>
              <a:rPr kumimoji="0" lang="en-US" altLang="en-US" sz="1800" b="1" i="0" u="none" strike="noStrike" cap="none" normalizeH="0" baseline="0" dirty="0">
                <a:ln>
                  <a:noFill/>
                </a:ln>
                <a:solidFill>
                  <a:schemeClr val="tx1"/>
                </a:solidFill>
                <a:effectLst/>
                <a:latin typeface="Arial" panose="020B0604020202020204" pitchFamily="34" charset="0"/>
              </a:rPr>
              <a:t>cloud privacy violations</a:t>
            </a:r>
            <a:r>
              <a:rPr kumimoji="0" lang="en-US" altLang="en-US" sz="1800" b="0" i="0" u="none" strike="noStrike" cap="none" normalizeH="0" baseline="0" dirty="0">
                <a:ln>
                  <a:noFill/>
                </a:ln>
                <a:solidFill>
                  <a:schemeClr val="tx1"/>
                </a:solidFill>
                <a:effectLst/>
                <a:latin typeface="Arial" panose="020B0604020202020204" pitchFamily="34" charset="0"/>
              </a:rPr>
              <a:t> often arise from </a:t>
            </a:r>
            <a:r>
              <a:rPr kumimoji="0" lang="en-US" altLang="en-US" sz="1800" b="1" i="0" u="none" strike="noStrike" cap="none" normalizeH="0" baseline="0" dirty="0">
                <a:ln>
                  <a:noFill/>
                </a:ln>
                <a:solidFill>
                  <a:schemeClr val="tx1"/>
                </a:solidFill>
                <a:effectLst/>
                <a:latin typeface="Arial" panose="020B0604020202020204" pitchFamily="34" charset="0"/>
              </a:rPr>
              <a:t>human actions</a:t>
            </a:r>
            <a:r>
              <a:rPr kumimoji="0" lang="en-US" altLang="en-US" sz="1800" b="0" i="0" u="none" strike="noStrike" cap="none" normalizeH="0" baseline="0" dirty="0">
                <a:ln>
                  <a:noFill/>
                </a:ln>
                <a:solidFill>
                  <a:schemeClr val="tx1"/>
                </a:solidFill>
                <a:effectLst/>
                <a:latin typeface="Arial" panose="020B0604020202020204" pitchFamily="34" charset="0"/>
              </a:rPr>
              <a:t>, such as </a:t>
            </a:r>
            <a:r>
              <a:rPr kumimoji="0" lang="en-US" altLang="en-US" sz="1800" b="1" i="0" u="none" strike="noStrike" cap="none" normalizeH="0" baseline="0" dirty="0">
                <a:ln>
                  <a:noFill/>
                </a:ln>
                <a:solidFill>
                  <a:schemeClr val="tx1"/>
                </a:solidFill>
                <a:effectLst/>
                <a:latin typeface="Arial" panose="020B0604020202020204" pitchFamily="34" charset="0"/>
              </a:rPr>
              <a:t>unauthorized access</a:t>
            </a:r>
            <a:r>
              <a:rPr kumimoji="0" lang="en-US" altLang="en-US" sz="1800" b="0" i="0" u="none" strike="noStrike" cap="none" normalizeH="0" baseline="0" dirty="0">
                <a:ln>
                  <a:noFill/>
                </a:ln>
                <a:solidFill>
                  <a:schemeClr val="tx1"/>
                </a:solidFill>
                <a:effectLst/>
                <a:latin typeface="Arial" panose="020B0604020202020204" pitchFamily="34" charset="0"/>
              </a:rPr>
              <a:t> by outside parties or </a:t>
            </a:r>
            <a:r>
              <a:rPr kumimoji="0" lang="en-US" altLang="en-US" sz="1800" b="1" i="0" u="none" strike="noStrike" cap="none" normalizeH="0" baseline="0" dirty="0">
                <a:ln>
                  <a:noFill/>
                </a:ln>
                <a:solidFill>
                  <a:schemeClr val="tx1"/>
                </a:solidFill>
                <a:effectLst/>
                <a:latin typeface="Arial" panose="020B0604020202020204" pitchFamily="34" charset="0"/>
              </a:rPr>
              <a:t>inadvertent misconfigurations</a:t>
            </a:r>
            <a:r>
              <a:rPr kumimoji="0" lang="en-US" altLang="en-US" sz="1800" b="0" i="0" u="none" strike="noStrike" cap="none" normalizeH="0" baseline="0" dirty="0">
                <a:ln>
                  <a:noFill/>
                </a:ln>
                <a:solidFill>
                  <a:schemeClr val="tx1"/>
                </a:solidFill>
                <a:effectLst/>
                <a:latin typeface="Arial" panose="020B0604020202020204" pitchFamily="34" charset="0"/>
              </a:rPr>
              <a:t>. These violations can compromise sensitive data, especially when modern monitoring systems collect vast amounts of operational information.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Key Indicators and Risks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Continuous Monitoring:</a:t>
            </a:r>
            <a:r>
              <a:rPr kumimoji="0" lang="en-US" altLang="en-US" sz="18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While essential for "intelligent" disaster recovery, the continuous collection of </a:t>
            </a:r>
            <a:r>
              <a:rPr kumimoji="0" lang="en-US" altLang="en-US" sz="18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system logs and user activity</a:t>
            </a:r>
            <a:r>
              <a:rPr kumimoji="0" lang="en-US" altLang="en-US" sz="18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records can raise significant privacy concerns if the data is not handled according to strict security and compliance standards.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rgbClr val="30303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Malicious Actors:</a:t>
            </a:r>
            <a:r>
              <a:rPr kumimoji="0" lang="en-US" altLang="en-US" sz="18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In the event of a security breach, a malicious actor who gains access to an AWS account could perform unauthorized actions, such as deleting </a:t>
            </a:r>
            <a:r>
              <a:rPr kumimoji="0" lang="en-US" altLang="en-US" sz="18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Point-In-Time (PIT) snapshots</a:t>
            </a:r>
            <a:r>
              <a:rPr kumimoji="0" lang="en-US" altLang="en-US" sz="18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which results in the loss of historical data states required for recovery.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Example: Malicious Data Deletion and Exposure</a:t>
            </a:r>
          </a:p>
        </p:txBody>
      </p:sp>
    </p:spTree>
    <p:extLst>
      <p:ext uri="{BB962C8B-B14F-4D97-AF65-F5344CB8AC3E}">
        <p14:creationId xmlns:p14="http://schemas.microsoft.com/office/powerpoint/2010/main" val="2914805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BEA73-BF71-C424-4CA9-538BAF98904C}"/>
              </a:ext>
            </a:extLst>
          </p:cNvPr>
          <p:cNvSpPr>
            <a:spLocks noGrp="1"/>
          </p:cNvSpPr>
          <p:nvPr>
            <p:ph type="title"/>
          </p:nvPr>
        </p:nvSpPr>
        <p:spPr/>
        <p:txBody>
          <a:bodyPr>
            <a:normAutofit/>
          </a:bodyPr>
          <a:lstStyle/>
          <a:p>
            <a:r>
              <a:rPr lang="en-US" dirty="0"/>
              <a:t>Legal challenges involved in Cloud- Compliance</a:t>
            </a:r>
            <a:endParaRPr lang="en-IN" dirty="0"/>
          </a:p>
        </p:txBody>
      </p:sp>
      <p:sp>
        <p:nvSpPr>
          <p:cNvPr id="3" name="Content Placeholder 2">
            <a:extLst>
              <a:ext uri="{FF2B5EF4-FFF2-40B4-BE49-F238E27FC236}">
                <a16:creationId xmlns:a16="http://schemas.microsoft.com/office/drawing/2014/main" id="{4C58CEE6-DB12-DDC4-25C1-32A4B9F93F80}"/>
              </a:ext>
            </a:extLst>
          </p:cNvPr>
          <p:cNvSpPr>
            <a:spLocks noGrp="1"/>
          </p:cNvSpPr>
          <p:nvPr>
            <p:ph idx="1"/>
          </p:nvPr>
        </p:nvSpPr>
        <p:spPr/>
        <p:txBody>
          <a:bodyPr>
            <a:normAutofit/>
          </a:bodyPr>
          <a:lstStyle/>
          <a:p>
            <a:pPr marL="0" indent="0">
              <a:buNone/>
            </a:pPr>
            <a:r>
              <a:rPr lang="en-US" sz="2400" dirty="0">
                <a:latin typeface="Arial" panose="020B0604020202020204" pitchFamily="34" charset="0"/>
                <a:cs typeface="Arial" panose="020B0604020202020204" pitchFamily="34" charset="0"/>
              </a:rPr>
              <a:t>There are regulatory standards that are required to be followed by organizations that use cloud solutions. To make the cloud a legal, secure, and ethical environment, organizations are required to implement security measures. This whole process is called cloud compliance.</a:t>
            </a:r>
          </a:p>
          <a:p>
            <a:pPr marL="0" indent="0">
              <a:buNone/>
            </a:pP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0220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749BF-7CFB-1093-43FF-BFDF0C3D63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7AD71-C48A-FCFE-6870-EB03EF42310B}"/>
              </a:ext>
            </a:extLst>
          </p:cNvPr>
          <p:cNvSpPr>
            <a:spLocks noGrp="1"/>
          </p:cNvSpPr>
          <p:nvPr>
            <p:ph type="title"/>
          </p:nvPr>
        </p:nvSpPr>
        <p:spPr/>
        <p:txBody>
          <a:bodyPr>
            <a:normAutofit/>
          </a:bodyPr>
          <a:lstStyle/>
          <a:p>
            <a:r>
              <a:rPr lang="en-US" dirty="0"/>
              <a:t>Legal challenges involved in Cloud- Compliance</a:t>
            </a:r>
            <a:endParaRPr lang="en-IN" dirty="0"/>
          </a:p>
        </p:txBody>
      </p:sp>
      <p:sp>
        <p:nvSpPr>
          <p:cNvPr id="3" name="Content Placeholder 2">
            <a:extLst>
              <a:ext uri="{FF2B5EF4-FFF2-40B4-BE49-F238E27FC236}">
                <a16:creationId xmlns:a16="http://schemas.microsoft.com/office/drawing/2014/main" id="{653A2033-57B4-184D-DAA8-3A62C32CB194}"/>
              </a:ext>
            </a:extLst>
          </p:cNvPr>
          <p:cNvSpPr>
            <a:spLocks noGrp="1"/>
          </p:cNvSpPr>
          <p:nvPr>
            <p:ph idx="1"/>
          </p:nvPr>
        </p:nvSpPr>
        <p:spPr/>
        <p:txBody>
          <a:bodyPr>
            <a:normAutofit fontScale="62500" lnSpcReduction="20000"/>
          </a:bodyPr>
          <a:lstStyle/>
          <a:p>
            <a:pPr marL="0" indent="0">
              <a:buNone/>
            </a:pPr>
            <a:r>
              <a:rPr lang="en-US" dirty="0"/>
              <a:t>There are some cloud compliance standards that should be followed by organizations to be compliant with regulatory bodies. Some of the most common standards are as follows:</a:t>
            </a:r>
          </a:p>
          <a:p>
            <a:pPr marL="0" indent="0">
              <a:buNone/>
            </a:pPr>
            <a:r>
              <a:rPr lang="en-US" b="1" dirty="0"/>
              <a:t>#1. GDPR (General Data Protection Regulation)</a:t>
            </a:r>
          </a:p>
          <a:p>
            <a:r>
              <a:rPr lang="en-US" dirty="0"/>
              <a:t>Organizations that store and process the personal data of EU residents need to follow data protection laws known as </a:t>
            </a:r>
            <a:r>
              <a:rPr lang="en-US" u="sng" dirty="0">
                <a:hlinkClick r:id="rId2"/>
              </a:rPr>
              <a:t>GDPR</a:t>
            </a:r>
            <a:r>
              <a:rPr lang="en-US" dirty="0"/>
              <a:t>. These rules should be followed even if the organization itself is not based out of the EU. There is a set of requirements stated by GDPR to address cloud compliance challenges:</a:t>
            </a:r>
          </a:p>
          <a:p>
            <a:r>
              <a:rPr lang="en-US" dirty="0"/>
              <a:t>Organizations must obtain explicit consent from the user to collect and process their data.</a:t>
            </a:r>
          </a:p>
          <a:p>
            <a:r>
              <a:rPr lang="en-US" dirty="0"/>
              <a:t>Since organizations will be processing sensitive data, they should implement data protection standards for security.</a:t>
            </a:r>
          </a:p>
          <a:p>
            <a:r>
              <a:rPr lang="en-US" dirty="0"/>
              <a:t>Data should be portable and should be able to get deleted if requested by the governing body or the user itself.</a:t>
            </a:r>
          </a:p>
          <a:p>
            <a:r>
              <a:rPr lang="en-US" dirty="0"/>
              <a:t>In order to follow all security rules and implementation, some organizations might also require a Data Protection officer to be appointed.</a:t>
            </a:r>
          </a:p>
          <a:p>
            <a:r>
              <a:rPr lang="en-US" dirty="0"/>
              <a:t>If there is any data breach because of security issues, it should not be kept hidden and should be reported in under 72 hours.</a:t>
            </a:r>
          </a:p>
          <a:p>
            <a:pPr marL="0" indent="0">
              <a:buNone/>
            </a:pP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2232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B6D0-28D3-1E7C-77EE-EA2F8A281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018A7-48BE-5B03-5939-CFF63129B28F}"/>
              </a:ext>
            </a:extLst>
          </p:cNvPr>
          <p:cNvSpPr>
            <a:spLocks noGrp="1"/>
          </p:cNvSpPr>
          <p:nvPr>
            <p:ph type="title"/>
          </p:nvPr>
        </p:nvSpPr>
        <p:spPr/>
        <p:txBody>
          <a:bodyPr>
            <a:normAutofit/>
          </a:bodyPr>
          <a:lstStyle/>
          <a:p>
            <a:r>
              <a:rPr lang="en-US" dirty="0"/>
              <a:t>Legal challenges involved in Cloud- Compliance</a:t>
            </a:r>
            <a:endParaRPr lang="en-IN" dirty="0"/>
          </a:p>
        </p:txBody>
      </p:sp>
      <p:sp>
        <p:nvSpPr>
          <p:cNvPr id="3" name="Content Placeholder 2">
            <a:extLst>
              <a:ext uri="{FF2B5EF4-FFF2-40B4-BE49-F238E27FC236}">
                <a16:creationId xmlns:a16="http://schemas.microsoft.com/office/drawing/2014/main" id="{621338F6-047F-E22A-402E-16AD3F25C210}"/>
              </a:ext>
            </a:extLst>
          </p:cNvPr>
          <p:cNvSpPr>
            <a:spLocks noGrp="1"/>
          </p:cNvSpPr>
          <p:nvPr>
            <p:ph idx="1"/>
          </p:nvPr>
        </p:nvSpPr>
        <p:spPr/>
        <p:txBody>
          <a:bodyPr>
            <a:normAutofit fontScale="77500" lnSpcReduction="20000"/>
          </a:bodyPr>
          <a:lstStyle/>
          <a:p>
            <a:pPr marL="0" indent="0">
              <a:buNone/>
            </a:pPr>
            <a:r>
              <a:rPr lang="en-US" b="1" dirty="0"/>
              <a:t>#2. HIPAA (Health Insurance Portability and Accountability Act)</a:t>
            </a:r>
          </a:p>
          <a:p>
            <a:r>
              <a:rPr lang="en-US" dirty="0"/>
              <a:t>Organizations that store sensitive patient health information need to follow HIPAA as per U.S. regulations to prevent cloud compliance challenges. This act imposes the following requirements to be followed:</a:t>
            </a:r>
          </a:p>
          <a:p>
            <a:r>
              <a:rPr lang="en-US" dirty="0"/>
              <a:t>Access control should be in place to avoid unauthorized access to data for misuse, and all the data that is stored should be encrypted.</a:t>
            </a:r>
          </a:p>
          <a:p>
            <a:r>
              <a:rPr lang="en-US" dirty="0"/>
              <a:t>Regular </a:t>
            </a:r>
            <a:r>
              <a:rPr lang="en-US" dirty="0">
                <a:hlinkClick r:id="rId2"/>
              </a:rPr>
              <a:t>risk assessments</a:t>
            </a:r>
            <a:r>
              <a:rPr lang="en-US" dirty="0"/>
              <a:t> should be conducted in order to avoid any data breaches.</a:t>
            </a:r>
          </a:p>
          <a:p>
            <a:r>
              <a:rPr lang="en-US" dirty="0"/>
              <a:t>Proper logging should be implemented. In case of any mishappening, there should be a proper trail of logs on who accessed and modified the data.</a:t>
            </a:r>
          </a:p>
          <a:p>
            <a:r>
              <a:rPr lang="en-US" dirty="0"/>
              <a:t>If there is electronic protected health information(ePHI), organizations should make sure that it is properly disposed of.</a:t>
            </a:r>
          </a:p>
          <a:p>
            <a:r>
              <a:rPr lang="en-US" dirty="0"/>
              <a:t>To be certain that the cloud service provider follows the regulations, organizations can create associate agreements.</a:t>
            </a:r>
          </a:p>
          <a:p>
            <a:pPr marL="0" indent="0">
              <a:buNone/>
            </a:pP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226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D2F40-38EE-F95D-4D84-6B9C74304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BB0451-3A08-5F62-F32A-79738CB06722}"/>
              </a:ext>
            </a:extLst>
          </p:cNvPr>
          <p:cNvSpPr>
            <a:spLocks noGrp="1"/>
          </p:cNvSpPr>
          <p:nvPr>
            <p:ph type="title"/>
          </p:nvPr>
        </p:nvSpPr>
        <p:spPr/>
        <p:txBody>
          <a:bodyPr>
            <a:normAutofit/>
          </a:bodyPr>
          <a:lstStyle/>
          <a:p>
            <a:r>
              <a:rPr lang="en-US" dirty="0"/>
              <a:t>Legal challenges involved in Cloud- Compliance</a:t>
            </a:r>
            <a:endParaRPr lang="en-IN" dirty="0"/>
          </a:p>
        </p:txBody>
      </p:sp>
      <p:sp>
        <p:nvSpPr>
          <p:cNvPr id="3" name="Content Placeholder 2">
            <a:extLst>
              <a:ext uri="{FF2B5EF4-FFF2-40B4-BE49-F238E27FC236}">
                <a16:creationId xmlns:a16="http://schemas.microsoft.com/office/drawing/2014/main" id="{91F267A1-583C-2DEA-4AE8-56E5F0371679}"/>
              </a:ext>
            </a:extLst>
          </p:cNvPr>
          <p:cNvSpPr>
            <a:spLocks noGrp="1"/>
          </p:cNvSpPr>
          <p:nvPr>
            <p:ph idx="1"/>
          </p:nvPr>
        </p:nvSpPr>
        <p:spPr/>
        <p:txBody>
          <a:bodyPr>
            <a:normAutofit fontScale="77500" lnSpcReduction="20000"/>
          </a:bodyPr>
          <a:lstStyle/>
          <a:p>
            <a:pPr marL="0" indent="0">
              <a:buNone/>
            </a:pPr>
            <a:r>
              <a:rPr lang="en-US" b="1" dirty="0"/>
              <a:t>#3. PCI DSS (Payment Card Industry Data Security Standard)</a:t>
            </a:r>
          </a:p>
          <a:p>
            <a:r>
              <a:rPr lang="en-US" dirty="0"/>
              <a:t>To secure the credit card data, PCI DSS security standards should be followed. Some of the main criteria of this standard are as follows:</a:t>
            </a:r>
          </a:p>
          <a:p>
            <a:r>
              <a:rPr lang="en-US" dirty="0"/>
              <a:t>During the transit and storage state of cardholder data, it should always be encrypted</a:t>
            </a:r>
          </a:p>
          <a:p>
            <a:r>
              <a:rPr lang="en-US" dirty="0"/>
              <a:t>Access control mechanisms should be in place to prevent unauthorized access to user credit card data.</a:t>
            </a:r>
          </a:p>
          <a:p>
            <a:r>
              <a:rPr lang="en-US" dirty="0"/>
              <a:t>Regular assessment of security systems and processes should be done to avoid any mishappening.</a:t>
            </a:r>
          </a:p>
          <a:p>
            <a:r>
              <a:rPr lang="en-US" dirty="0"/>
              <a:t>There should be a </a:t>
            </a:r>
            <a:r>
              <a:rPr lang="en-US" dirty="0">
                <a:hlinkClick r:id="rId2"/>
              </a:rPr>
              <a:t>vulnerability management</a:t>
            </a:r>
            <a:r>
              <a:rPr lang="en-US" dirty="0"/>
              <a:t> program in place to identify and resolve vulnerabilities in time.</a:t>
            </a:r>
          </a:p>
          <a:p>
            <a:r>
              <a:rPr lang="en-US" dirty="0"/>
              <a:t>Cloud providers that handle payment card data should undergo regular PCI DSS assessments and create detailed documentation of how they follow compliance rules for their clients.</a:t>
            </a:r>
          </a:p>
          <a:p>
            <a:pPr marL="0" indent="0">
              <a:buNone/>
            </a:pP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7416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9DF4B-3A26-51DF-5649-DCBC5C6B3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F8B20-357F-F57B-CD8C-AC4E45E05BC2}"/>
              </a:ext>
            </a:extLst>
          </p:cNvPr>
          <p:cNvSpPr>
            <a:spLocks noGrp="1"/>
          </p:cNvSpPr>
          <p:nvPr>
            <p:ph type="title"/>
          </p:nvPr>
        </p:nvSpPr>
        <p:spPr/>
        <p:txBody>
          <a:bodyPr>
            <a:normAutofit/>
          </a:bodyPr>
          <a:lstStyle/>
          <a:p>
            <a:r>
              <a:rPr lang="en-US" dirty="0"/>
              <a:t>Legal challenges involved in Cloud- Compliance</a:t>
            </a:r>
            <a:endParaRPr lang="en-IN" dirty="0"/>
          </a:p>
        </p:txBody>
      </p:sp>
      <p:sp>
        <p:nvSpPr>
          <p:cNvPr id="3" name="Content Placeholder 2">
            <a:extLst>
              <a:ext uri="{FF2B5EF4-FFF2-40B4-BE49-F238E27FC236}">
                <a16:creationId xmlns:a16="http://schemas.microsoft.com/office/drawing/2014/main" id="{FB2D3819-F14F-7408-902D-A14260179A97}"/>
              </a:ext>
            </a:extLst>
          </p:cNvPr>
          <p:cNvSpPr>
            <a:spLocks noGrp="1"/>
          </p:cNvSpPr>
          <p:nvPr>
            <p:ph idx="1"/>
          </p:nvPr>
        </p:nvSpPr>
        <p:spPr/>
        <p:txBody>
          <a:bodyPr>
            <a:normAutofit fontScale="85000" lnSpcReduction="20000"/>
          </a:bodyPr>
          <a:lstStyle/>
          <a:p>
            <a:pPr marL="0" indent="0">
              <a:buNone/>
            </a:pPr>
            <a:r>
              <a:rPr lang="en-US" b="1" dirty="0"/>
              <a:t>#4. ISO 27001 (International Organization for Standardization 27001)</a:t>
            </a:r>
          </a:p>
          <a:p>
            <a:r>
              <a:rPr lang="en-US" dirty="0"/>
              <a:t>ISO 27001 is an international standard for information security management systems (ISMS). It provides a framework for organizations that helps them identify information security risks, cloud compliance challenges, and select appropriate security controls. It also states that continuous monitoring and improvement of the ISMS should be followed.</a:t>
            </a:r>
          </a:p>
          <a:p>
            <a:pPr marL="0" indent="0">
              <a:buNone/>
            </a:pPr>
            <a:r>
              <a:rPr lang="en-US" b="1" dirty="0"/>
              <a:t>#5. SOC 2 (Service Organization Control 2)</a:t>
            </a:r>
          </a:p>
          <a:p>
            <a:r>
              <a:rPr lang="en-US" u="sng" dirty="0"/>
              <a:t>SOC 2</a:t>
            </a:r>
            <a:r>
              <a:rPr lang="en-US" dirty="0"/>
              <a:t> is an auditing procedure developed by the American Institute of CPAs (AICPA) that ensures service providers securely manage data to protect the interests of their organization and the privacy of their clients. SOC 2 defines criteria for managing customer data based on five trust service principles, which are security, availability, processing integrity, confidentiality, and privacy.</a:t>
            </a:r>
          </a:p>
          <a:p>
            <a:pPr marL="0" indent="0">
              <a:buNone/>
            </a:pPr>
            <a:r>
              <a:rPr lang="en-US" sz="2400" dirty="0">
                <a:latin typeface="Arial" panose="020B0604020202020204" pitchFamily="34" charset="0"/>
                <a:cs typeface="Arial" panose="020B0604020202020204" pitchFamily="34" charset="0"/>
              </a:rPr>
              <a:t>.</a:t>
            </a:r>
          </a:p>
          <a:p>
            <a:pPr marL="0" indent="0">
              <a:buNone/>
            </a:pP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2958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31C50-9FE2-B2C3-CC91-81E4D9C9B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1FE37-1140-18EA-C5F7-1611FE6E4172}"/>
              </a:ext>
            </a:extLst>
          </p:cNvPr>
          <p:cNvSpPr>
            <a:spLocks noGrp="1"/>
          </p:cNvSpPr>
          <p:nvPr>
            <p:ph type="title"/>
          </p:nvPr>
        </p:nvSpPr>
        <p:spPr/>
        <p:txBody>
          <a:bodyPr>
            <a:normAutofit/>
          </a:bodyPr>
          <a:lstStyle/>
          <a:p>
            <a:r>
              <a:rPr lang="en-US" dirty="0"/>
              <a:t>Legal challenges involved in Cloud- Copyright issues</a:t>
            </a:r>
            <a:endParaRPr lang="en-IN" dirty="0"/>
          </a:p>
        </p:txBody>
      </p:sp>
      <p:sp>
        <p:nvSpPr>
          <p:cNvPr id="5" name="Rectangle 2">
            <a:extLst>
              <a:ext uri="{FF2B5EF4-FFF2-40B4-BE49-F238E27FC236}">
                <a16:creationId xmlns:a16="http://schemas.microsoft.com/office/drawing/2014/main" id="{8FB0929C-5503-0619-4F5C-CC252F1F2D96}"/>
              </a:ext>
            </a:extLst>
          </p:cNvPr>
          <p:cNvSpPr>
            <a:spLocks noGrp="1" noChangeArrowheads="1"/>
          </p:cNvSpPr>
          <p:nvPr>
            <p:ph idx="1"/>
          </p:nvPr>
        </p:nvSpPr>
        <p:spPr bwMode="auto">
          <a:xfrm>
            <a:off x="838201" y="1877638"/>
            <a:ext cx="10439399" cy="424731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Legal challenges in the cloud, specifically regarding </a:t>
            </a:r>
            <a:r>
              <a:rPr kumimoji="0" lang="en-US" altLang="en-US" sz="1800" b="1" i="0" u="none" strike="noStrike" cap="none" normalizeH="0" baseline="0" dirty="0">
                <a:ln>
                  <a:noFill/>
                </a:ln>
                <a:solidFill>
                  <a:schemeClr val="tx1"/>
                </a:solidFill>
                <a:effectLst/>
                <a:latin typeface="Arial" panose="020B0604020202020204" pitchFamily="34" charset="0"/>
              </a:rPr>
              <a:t>copyright and licensing</a:t>
            </a:r>
            <a:r>
              <a:rPr kumimoji="0" lang="en-US" altLang="en-US" sz="1800" b="0" i="0" u="none" strike="noStrike" cap="none" normalizeH="0" baseline="0" dirty="0">
                <a:ln>
                  <a:noFill/>
                </a:ln>
                <a:solidFill>
                  <a:schemeClr val="tx1"/>
                </a:solidFill>
                <a:effectLst/>
                <a:latin typeface="Arial" panose="020B0604020202020204" pitchFamily="34" charset="0"/>
              </a:rPr>
              <a:t>, primarily involve the protection of the provider's intellectual property and the management of software licenses when migrating or recovering workloads. The sources outline several key areas where these challenges arise: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Ownership and Intellectual Property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303030"/>
                </a:solidFill>
                <a:effectLst/>
                <a:latin typeface="Google Sans Text"/>
              </a:rPr>
              <a:t>Provider Copyrights:</a:t>
            </a:r>
            <a:r>
              <a:rPr kumimoji="0" lang="en-US" altLang="en-US" sz="1800" b="0" i="0" u="none" strike="noStrike" cap="none" normalizeH="0" baseline="0" dirty="0">
                <a:ln>
                  <a:noFill/>
                </a:ln>
                <a:solidFill>
                  <a:srgbClr val="303030"/>
                </a:solidFill>
                <a:effectLst/>
                <a:latin typeface="Google Sans Text"/>
              </a:rPr>
              <a:t> AWS documentation explicitly states that its materials, such as user guides and prescriptive guidance, are </a:t>
            </a:r>
            <a:r>
              <a:rPr kumimoji="0" lang="en-US" altLang="en-US" sz="1800" b="1" i="0" u="none" strike="noStrike" cap="none" normalizeH="0" baseline="0" dirty="0">
                <a:ln>
                  <a:noFill/>
                </a:ln>
                <a:solidFill>
                  <a:srgbClr val="303030"/>
                </a:solidFill>
                <a:effectLst/>
                <a:latin typeface="Google Sans Text"/>
              </a:rPr>
              <a:t>protected by copyright</a:t>
            </a:r>
            <a:r>
              <a:rPr kumimoji="0" lang="en-US" altLang="en-US" sz="1800" b="0" i="0" u="none" strike="noStrike" cap="none" normalizeH="0" baseline="0" dirty="0">
                <a:ln>
                  <a:noFill/>
                </a:ln>
                <a:solidFill>
                  <a:srgbClr val="303030"/>
                </a:solidFill>
                <a:effectLst/>
                <a:latin typeface="Google Sans Text"/>
              </a:rPr>
              <a:t> (e.g., Copyright © 2026 Amazon Web Services, Inc.) and that all rights are reserved.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30303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303030"/>
                </a:solidFill>
                <a:effectLst/>
                <a:latin typeface="Google Sans Text"/>
              </a:rPr>
              <a:t>Trademarks:</a:t>
            </a:r>
            <a:r>
              <a:rPr kumimoji="0" lang="en-US" altLang="en-US" sz="1800" b="0" i="0" u="none" strike="noStrike" cap="none" normalizeH="0" baseline="0" dirty="0">
                <a:ln>
                  <a:noFill/>
                </a:ln>
                <a:solidFill>
                  <a:srgbClr val="303030"/>
                </a:solidFill>
                <a:effectLst/>
                <a:latin typeface="Google Sans Text"/>
              </a:rPr>
              <a:t> Legal restrictions apply to the use of a provider's </a:t>
            </a:r>
            <a:r>
              <a:rPr kumimoji="0" lang="en-US" altLang="en-US" sz="1800" b="1" i="0" u="none" strike="noStrike" cap="none" normalizeH="0" baseline="0" dirty="0">
                <a:ln>
                  <a:noFill/>
                </a:ln>
                <a:solidFill>
                  <a:srgbClr val="303030"/>
                </a:solidFill>
                <a:effectLst/>
                <a:latin typeface="Google Sans Text"/>
              </a:rPr>
              <a:t>trademarks and trade dress</a:t>
            </a:r>
            <a:r>
              <a:rPr kumimoji="0" lang="en-US" altLang="en-US" sz="1800" b="0" i="0" u="none" strike="noStrike" cap="none" normalizeH="0" baseline="0" dirty="0">
                <a:ln>
                  <a:noFill/>
                </a:ln>
                <a:solidFill>
                  <a:srgbClr val="303030"/>
                </a:solidFill>
                <a:effectLst/>
                <a:latin typeface="Google Sans Text"/>
              </a:rPr>
              <a:t>, which may not be used in connection with any non-Amazon product or service in a way that causes customer confusion or disparages the company.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7094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E3CE3-12AF-5D70-7D50-DC7A837CD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32E7F-D58A-6313-F2F0-59BE178DC8B0}"/>
              </a:ext>
            </a:extLst>
          </p:cNvPr>
          <p:cNvSpPr>
            <a:spLocks noGrp="1"/>
          </p:cNvSpPr>
          <p:nvPr>
            <p:ph type="title"/>
          </p:nvPr>
        </p:nvSpPr>
        <p:spPr/>
        <p:txBody>
          <a:bodyPr>
            <a:normAutofit/>
          </a:bodyPr>
          <a:lstStyle/>
          <a:p>
            <a:r>
              <a:rPr lang="en-US" sz="4000" dirty="0"/>
              <a:t>Legal challenges involved in Cloud- Software Licensing</a:t>
            </a:r>
            <a:endParaRPr lang="en-IN" sz="4000" dirty="0"/>
          </a:p>
        </p:txBody>
      </p:sp>
      <p:sp>
        <p:nvSpPr>
          <p:cNvPr id="4" name="Rectangle 1">
            <a:extLst>
              <a:ext uri="{FF2B5EF4-FFF2-40B4-BE49-F238E27FC236}">
                <a16:creationId xmlns:a16="http://schemas.microsoft.com/office/drawing/2014/main" id="{6FF76EE8-ADA5-41AA-56D5-AD8C961CF072}"/>
              </a:ext>
            </a:extLst>
          </p:cNvPr>
          <p:cNvSpPr>
            <a:spLocks noGrp="1" noChangeArrowheads="1"/>
          </p:cNvSpPr>
          <p:nvPr>
            <p:ph idx="1"/>
          </p:nvPr>
        </p:nvSpPr>
        <p:spPr bwMode="auto">
          <a:xfrm>
            <a:off x="838200" y="1908416"/>
            <a:ext cx="10841610" cy="418576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Software Licensing Challenges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 major legal hurdle involves ensuring that third-party software used in the cloud complies with its original licensing terms, especially during </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disaster recovery (DR) events</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Bring Your Own License (BYOL):</a:t>
            </a:r>
            <a:r>
              <a:rPr kumimoji="0" lang="en-US" altLang="en-US" sz="14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When using the </a:t>
            </a:r>
            <a:r>
              <a:rPr kumimoji="0" lang="en-US" altLang="en-US" sz="14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BYOL model</a:t>
            </a:r>
            <a:r>
              <a:rPr kumimoji="0" lang="en-US" altLang="en-US" sz="14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to migrate Linux or Windows servers, organizations must manually verify that their existing license terms legally allow for the transfer of the license to a cloud-based instance.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rgbClr val="30303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License Activation:</a:t>
            </a:r>
            <a:r>
              <a:rPr kumimoji="0" lang="en-US" altLang="en-US" sz="14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During a failover, AWS Elastic Disaster Recovery can convert and activate certain Windows OS licenses against AWS KMS, but during a </a:t>
            </a:r>
            <a:r>
              <a:rPr kumimoji="0" lang="en-US" altLang="en-US" sz="14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failback</a:t>
            </a:r>
            <a:r>
              <a:rPr kumimoji="0" lang="en-US" altLang="en-US" sz="14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(returning to original hardware), the service cannot activate customer licenses, requiring manual intervention to remain compliant.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rgbClr val="30303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Tenancy Requirements:</a:t>
            </a:r>
            <a:r>
              <a:rPr kumimoji="0" lang="en-US" altLang="en-US" sz="14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Certain licenses, particularly Windows Desktop Editions or specific RHEL licenses, have legal or technical requirements to be run on </a:t>
            </a:r>
            <a:r>
              <a:rPr kumimoji="0" lang="en-US" altLang="en-US" sz="14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Dedicated Hosts</a:t>
            </a:r>
            <a:r>
              <a:rPr kumimoji="0" lang="en-US" altLang="en-US" sz="14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and failing to configure this correctly can lead to failed launches or licensing violations.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rgbClr val="30303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Marketplace Licenses:</a:t>
            </a:r>
            <a:r>
              <a:rPr kumimoji="0" lang="en-US" altLang="en-US" sz="14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AWS does not automatically verify if a </a:t>
            </a:r>
            <a:r>
              <a:rPr kumimoji="0" lang="en-US" altLang="en-US" sz="1400" b="1" i="0" u="none" strike="noStrike" cap="none" normalizeH="0" baseline="0" dirty="0">
                <a:ln>
                  <a:noFill/>
                </a:ln>
                <a:solidFill>
                  <a:srgbClr val="303030"/>
                </a:solidFill>
                <a:effectLst/>
                <a:latin typeface="Arial" panose="020B0604020202020204" pitchFamily="34" charset="0"/>
                <a:cs typeface="Arial" panose="020B0604020202020204" pitchFamily="34" charset="0"/>
              </a:rPr>
              <a:t>Marketplace product license</a:t>
            </a:r>
            <a:r>
              <a:rPr kumimoji="0" lang="en-US" altLang="en-US" sz="1400" b="0" i="0" u="none" strike="noStrike" cap="none" normalizeH="0" baseline="0" dirty="0">
                <a:ln>
                  <a:noFill/>
                </a:ln>
                <a:solidFill>
                  <a:srgbClr val="303030"/>
                </a:solidFill>
                <a:effectLst/>
                <a:latin typeface="Arial" panose="020B0604020202020204" pitchFamily="34" charset="0"/>
                <a:cs typeface="Arial" panose="020B0604020202020204" pitchFamily="34" charset="0"/>
              </a:rPr>
              <a:t> is compatible with a specific instance type or region; the customer holds the legal responsibility to ensure compatibility</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4051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0C84-6AEF-F194-4F91-BD9CDCED0611}"/>
              </a:ext>
            </a:extLst>
          </p:cNvPr>
          <p:cNvSpPr>
            <a:spLocks noGrp="1"/>
          </p:cNvSpPr>
          <p:nvPr>
            <p:ph type="title"/>
          </p:nvPr>
        </p:nvSpPr>
        <p:spPr/>
        <p:txBody>
          <a:bodyPr>
            <a:normAutofit/>
          </a:bodyPr>
          <a:lstStyle/>
          <a:p>
            <a:r>
              <a:rPr lang="en-US" dirty="0"/>
              <a:t>Legal challenges involved in Cloud- Data confidentiality &amp; Data governance</a:t>
            </a:r>
            <a:endParaRPr lang="en-IN" dirty="0"/>
          </a:p>
        </p:txBody>
      </p:sp>
      <p:sp>
        <p:nvSpPr>
          <p:cNvPr id="4" name="Rectangle 1">
            <a:extLst>
              <a:ext uri="{FF2B5EF4-FFF2-40B4-BE49-F238E27FC236}">
                <a16:creationId xmlns:a16="http://schemas.microsoft.com/office/drawing/2014/main" id="{D7FF20E1-86FD-9DA8-025E-058851E548B8}"/>
              </a:ext>
            </a:extLst>
          </p:cNvPr>
          <p:cNvSpPr>
            <a:spLocks noGrp="1" noChangeArrowheads="1"/>
          </p:cNvSpPr>
          <p:nvPr>
            <p:ph idx="1"/>
          </p:nvPr>
        </p:nvSpPr>
        <p:spPr bwMode="auto">
          <a:xfrm>
            <a:off x="960749" y="2290140"/>
            <a:ext cx="10134600" cy="163121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03030"/>
                </a:solidFill>
                <a:effectLst/>
                <a:latin typeface="Google Sans Text"/>
              </a:rPr>
              <a:t>In the context of cloud operations and disaster recovery, </a:t>
            </a:r>
            <a:r>
              <a:rPr kumimoji="0" lang="en-US" altLang="en-US" sz="2000" b="1" i="0" u="none" strike="noStrike" cap="none" normalizeH="0" baseline="0" dirty="0">
                <a:ln>
                  <a:noFill/>
                </a:ln>
                <a:solidFill>
                  <a:srgbClr val="303030"/>
                </a:solidFill>
                <a:effectLst/>
                <a:latin typeface="Google Sans Text"/>
              </a:rPr>
              <a:t>data confidentiality</a:t>
            </a:r>
            <a:r>
              <a:rPr kumimoji="0" lang="en-US" altLang="en-US" sz="2000" b="0" i="0" u="none" strike="noStrike" cap="none" normalizeH="0" baseline="0" dirty="0">
                <a:ln>
                  <a:noFill/>
                </a:ln>
                <a:solidFill>
                  <a:srgbClr val="303030"/>
                </a:solidFill>
                <a:effectLst/>
                <a:latin typeface="Google Sans Text"/>
              </a:rPr>
              <a:t> and </a:t>
            </a:r>
            <a:r>
              <a:rPr kumimoji="0" lang="en-US" altLang="en-US" sz="2000" b="1" i="0" u="none" strike="noStrike" cap="none" normalizeH="0" baseline="0" dirty="0">
                <a:ln>
                  <a:noFill/>
                </a:ln>
                <a:solidFill>
                  <a:srgbClr val="303030"/>
                </a:solidFill>
                <a:effectLst/>
                <a:latin typeface="Google Sans Text"/>
              </a:rPr>
              <a:t>data governance</a:t>
            </a:r>
            <a:r>
              <a:rPr kumimoji="0" lang="en-US" altLang="en-US" sz="2000" b="0" i="0" u="none" strike="noStrike" cap="none" normalizeH="0" baseline="0" dirty="0">
                <a:ln>
                  <a:noFill/>
                </a:ln>
                <a:solidFill>
                  <a:srgbClr val="303030"/>
                </a:solidFill>
                <a:effectLst/>
                <a:latin typeface="Google Sans Text"/>
              </a:rPr>
              <a:t> are fundamental components of a robust security posture, managed through a </a:t>
            </a:r>
            <a:r>
              <a:rPr kumimoji="0" lang="en-US" altLang="en-US" sz="2000" b="1" i="0" u="none" strike="noStrike" cap="none" normalizeH="0" baseline="0" dirty="0">
                <a:ln>
                  <a:noFill/>
                </a:ln>
                <a:solidFill>
                  <a:srgbClr val="303030"/>
                </a:solidFill>
                <a:effectLst/>
                <a:latin typeface="Google Sans Text"/>
              </a:rPr>
              <a:t>shared responsibility model</a:t>
            </a:r>
            <a:r>
              <a:rPr kumimoji="0" lang="en-US" altLang="en-US" sz="2000" b="0" i="0" u="none" strike="noStrike" cap="none" normalizeH="0" baseline="0" dirty="0">
                <a:ln>
                  <a:noFill/>
                </a:ln>
                <a:solidFill>
                  <a:srgbClr val="303030"/>
                </a:solidFill>
                <a:effectLst/>
                <a:latin typeface="Google Sans Text"/>
              </a:rPr>
              <a:t> where the provider secures the infrastructure and the customer secures the data within it</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49760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F3BD6-F474-ED01-9E47-BC46A32F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DD683-E187-2939-D57C-547FB1F3D51B}"/>
              </a:ext>
            </a:extLst>
          </p:cNvPr>
          <p:cNvSpPr>
            <a:spLocks noGrp="1"/>
          </p:cNvSpPr>
          <p:nvPr>
            <p:ph type="title"/>
          </p:nvPr>
        </p:nvSpPr>
        <p:spPr/>
        <p:txBody>
          <a:bodyPr>
            <a:normAutofit/>
          </a:bodyPr>
          <a:lstStyle/>
          <a:p>
            <a:r>
              <a:rPr lang="en-US" dirty="0"/>
              <a:t>Legal challenges involved in Cloud- Data confidentiality &amp; Data governance</a:t>
            </a:r>
            <a:endParaRPr lang="en-IN" dirty="0"/>
          </a:p>
        </p:txBody>
      </p:sp>
      <p:sp>
        <p:nvSpPr>
          <p:cNvPr id="5" name="Rectangle 2">
            <a:extLst>
              <a:ext uri="{FF2B5EF4-FFF2-40B4-BE49-F238E27FC236}">
                <a16:creationId xmlns:a16="http://schemas.microsoft.com/office/drawing/2014/main" id="{F506C853-B9D0-435E-56F0-1DC50CD3FF08}"/>
              </a:ext>
            </a:extLst>
          </p:cNvPr>
          <p:cNvSpPr>
            <a:spLocks noGrp="1" noChangeArrowheads="1"/>
          </p:cNvSpPr>
          <p:nvPr>
            <p:ph idx="1"/>
          </p:nvPr>
        </p:nvSpPr>
        <p:spPr bwMode="auto">
          <a:xfrm>
            <a:off x="838200" y="1821383"/>
            <a:ext cx="10515600" cy="418576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Data Confidentiality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Data confidentiality ensures that sensitive information is accessible only to authorized parties. The sources outline several technical mechanisms to achieve this: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303030"/>
                </a:solidFill>
                <a:effectLst/>
                <a:latin typeface="Google Sans Text"/>
              </a:rPr>
              <a:t>Encryption at Rest and in Transit:</a:t>
            </a:r>
            <a:r>
              <a:rPr kumimoji="0" lang="en-US" altLang="en-US" sz="1400" b="0" i="0" u="none" strike="noStrike" cap="none" normalizeH="0" baseline="0" dirty="0">
                <a:ln>
                  <a:noFill/>
                </a:ln>
                <a:solidFill>
                  <a:srgbClr val="303030"/>
                </a:solidFill>
                <a:effectLst/>
                <a:latin typeface="Google Sans Text"/>
              </a:rPr>
              <a:t> All communication between replication agents and servers is encrypted using </a:t>
            </a:r>
            <a:r>
              <a:rPr kumimoji="0" lang="en-US" altLang="en-US" sz="1400" b="1" i="0" u="none" strike="noStrike" cap="none" normalizeH="0" baseline="0" dirty="0">
                <a:ln>
                  <a:noFill/>
                </a:ln>
                <a:solidFill>
                  <a:srgbClr val="303030"/>
                </a:solidFill>
                <a:effectLst/>
                <a:latin typeface="Google Sans Text"/>
              </a:rPr>
              <a:t>TLS 1.2</a:t>
            </a:r>
            <a:r>
              <a:rPr kumimoji="0" lang="en-US" altLang="en-US" sz="1400" b="0" i="0" u="none" strike="noStrike" cap="none" normalizeH="0" baseline="0" dirty="0">
                <a:ln>
                  <a:noFill/>
                </a:ln>
                <a:solidFill>
                  <a:srgbClr val="303030"/>
                </a:solidFill>
                <a:effectLst/>
                <a:latin typeface="Google Sans Text"/>
              </a:rPr>
              <a:t> with perfect forward secrecy. At rest, replicated data is protected using </a:t>
            </a:r>
            <a:r>
              <a:rPr kumimoji="0" lang="en-US" altLang="en-US" sz="1400" b="1" i="0" u="none" strike="noStrike" cap="none" normalizeH="0" baseline="0" dirty="0">
                <a:ln>
                  <a:noFill/>
                </a:ln>
                <a:solidFill>
                  <a:srgbClr val="303030"/>
                </a:solidFill>
                <a:effectLst/>
                <a:latin typeface="Google Sans Text"/>
              </a:rPr>
              <a:t>Amazon EBS encryption</a:t>
            </a:r>
            <a:r>
              <a:rPr kumimoji="0" lang="en-US" altLang="en-US" sz="1400" b="0" i="0" u="none" strike="noStrike" cap="none" normalizeH="0" baseline="0" dirty="0">
                <a:ln>
                  <a:noFill/>
                </a:ln>
                <a:solidFill>
                  <a:srgbClr val="303030"/>
                </a:solidFill>
                <a:effectLst/>
                <a:latin typeface="Google Sans Text"/>
              </a:rPr>
              <a:t>, utilizing either default or customer-managed KMS keys.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rgbClr val="30303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303030"/>
                </a:solidFill>
                <a:effectLst/>
                <a:latin typeface="Google Sans Text"/>
              </a:rPr>
              <a:t>Identity and Access Management (IAM):</a:t>
            </a:r>
            <a:r>
              <a:rPr kumimoji="0" lang="en-US" altLang="en-US" sz="1400" b="0" i="0" u="none" strike="noStrike" cap="none" normalizeH="0" baseline="0" dirty="0">
                <a:ln>
                  <a:noFill/>
                </a:ln>
                <a:solidFill>
                  <a:srgbClr val="303030"/>
                </a:solidFill>
                <a:effectLst/>
                <a:latin typeface="Google Sans Text"/>
              </a:rPr>
              <a:t> Confidentiality is maintained by applying the </a:t>
            </a:r>
            <a:r>
              <a:rPr kumimoji="0" lang="en-US" altLang="en-US" sz="1400" b="1" i="0" u="none" strike="noStrike" cap="none" normalizeH="0" baseline="0" dirty="0">
                <a:ln>
                  <a:noFill/>
                </a:ln>
                <a:solidFill>
                  <a:srgbClr val="303030"/>
                </a:solidFill>
                <a:effectLst/>
                <a:latin typeface="Google Sans Text"/>
              </a:rPr>
              <a:t>principle of least privilege</a:t>
            </a:r>
            <a:r>
              <a:rPr kumimoji="0" lang="en-US" altLang="en-US" sz="1400" b="0" i="0" u="none" strike="noStrike" cap="none" normalizeH="0" baseline="0" dirty="0">
                <a:ln>
                  <a:noFill/>
                </a:ln>
                <a:solidFill>
                  <a:srgbClr val="303030"/>
                </a:solidFill>
                <a:effectLst/>
                <a:latin typeface="Google Sans Text"/>
              </a:rPr>
              <a:t>, granting users only the minimum permissions necessary. This includes using </a:t>
            </a:r>
            <a:r>
              <a:rPr kumimoji="0" lang="en-US" altLang="en-US" sz="1400" b="1" i="0" u="none" strike="noStrike" cap="none" normalizeH="0" baseline="0" dirty="0">
                <a:ln>
                  <a:noFill/>
                </a:ln>
                <a:solidFill>
                  <a:srgbClr val="303030"/>
                </a:solidFill>
                <a:effectLst/>
                <a:latin typeface="Google Sans Text"/>
              </a:rPr>
              <a:t>temporary security credentials</a:t>
            </a:r>
            <a:r>
              <a:rPr kumimoji="0" lang="en-US" altLang="en-US" sz="1400" b="0" i="0" u="none" strike="noStrike" cap="none" normalizeH="0" baseline="0" dirty="0">
                <a:ln>
                  <a:noFill/>
                </a:ln>
                <a:solidFill>
                  <a:srgbClr val="303030"/>
                </a:solidFill>
                <a:effectLst/>
                <a:latin typeface="Google Sans Text"/>
              </a:rPr>
              <a:t> (via AWS STS) for sensitive tasks like agent installation, which are more secure than long-term access keys.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rgbClr val="30303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303030"/>
                </a:solidFill>
                <a:effectLst/>
                <a:latin typeface="Google Sans Text"/>
              </a:rPr>
              <a:t>VPC Isolation:</a:t>
            </a:r>
            <a:r>
              <a:rPr kumimoji="0" lang="en-US" altLang="en-US" sz="1400" b="0" i="0" u="none" strike="noStrike" cap="none" normalizeH="0" baseline="0" dirty="0">
                <a:ln>
                  <a:noFill/>
                </a:ln>
                <a:solidFill>
                  <a:srgbClr val="303030"/>
                </a:solidFill>
                <a:effectLst/>
                <a:latin typeface="Google Sans Text"/>
              </a:rPr>
              <a:t> Replicated data is stored within the customer’s own </a:t>
            </a:r>
            <a:r>
              <a:rPr kumimoji="0" lang="en-US" altLang="en-US" sz="1400" b="1" i="0" u="none" strike="noStrike" cap="none" normalizeH="0" baseline="0" dirty="0">
                <a:ln>
                  <a:noFill/>
                </a:ln>
                <a:solidFill>
                  <a:srgbClr val="303030"/>
                </a:solidFill>
                <a:effectLst/>
                <a:latin typeface="Google Sans Text"/>
              </a:rPr>
              <a:t>Virtual Private Cloud (VPC)</a:t>
            </a:r>
            <a:r>
              <a:rPr kumimoji="0" lang="en-US" altLang="en-US" sz="1400" b="0" i="0" u="none" strike="noStrike" cap="none" normalizeH="0" baseline="0" dirty="0">
                <a:ln>
                  <a:noFill/>
                </a:ln>
                <a:solidFill>
                  <a:srgbClr val="303030"/>
                </a:solidFill>
                <a:effectLst/>
                <a:latin typeface="Google Sans Text"/>
              </a:rPr>
              <a:t>, ensuring it remains isolated from the service provider's internal servers.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rgbClr val="30303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303030"/>
                </a:solidFill>
                <a:effectLst/>
                <a:latin typeface="Google Sans Text"/>
              </a:rPr>
              <a:t>Confused Deputy Prevention:</a:t>
            </a:r>
            <a:r>
              <a:rPr kumimoji="0" lang="en-US" altLang="en-US" sz="1400" b="0" i="0" u="none" strike="noStrike" cap="none" normalizeH="0" baseline="0" dirty="0">
                <a:ln>
                  <a:noFill/>
                </a:ln>
                <a:solidFill>
                  <a:srgbClr val="303030"/>
                </a:solidFill>
                <a:effectLst/>
                <a:latin typeface="Google Sans Text"/>
              </a:rPr>
              <a:t> To prevent cross-service impersonation where one service might be coerced into acting on another's resources, AWS provides global condition context keys like </a:t>
            </a:r>
            <a:r>
              <a:rPr kumimoji="0" lang="en-US" altLang="en-US" sz="1400" b="0" i="0" u="none" strike="noStrike" cap="none" normalizeH="0" baseline="0" dirty="0" err="1">
                <a:ln>
                  <a:noFill/>
                </a:ln>
                <a:solidFill>
                  <a:srgbClr val="303030"/>
                </a:solidFill>
                <a:effectLst/>
                <a:latin typeface="Google Sans Code"/>
              </a:rPr>
              <a:t>aws:SourceArn</a:t>
            </a:r>
            <a:r>
              <a:rPr kumimoji="0" lang="en-US" altLang="en-US" sz="1400" b="0" i="0" u="none" strike="noStrike" cap="none" normalizeH="0" baseline="0" dirty="0">
                <a:ln>
                  <a:noFill/>
                </a:ln>
                <a:solidFill>
                  <a:srgbClr val="303030"/>
                </a:solidFill>
                <a:effectLst/>
                <a:latin typeface="Google Sans Text"/>
              </a:rPr>
              <a:t> to limit service permissions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dirty="0">
                <a:ln>
                  <a:noFill/>
                </a:ln>
                <a:solidFill>
                  <a:schemeClr val="tx1"/>
                </a:solidFill>
                <a:effectLst/>
              </a:rPr>
            </a:b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18585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D250F-CBC6-F4B4-737A-D885EA1AC959}"/>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35F92E87-4350-7D23-F640-476F519BBD94}"/>
              </a:ext>
            </a:extLst>
          </p:cNvPr>
          <p:cNvSpPr>
            <a:spLocks noGrp="1" noChangeArrowheads="1"/>
          </p:cNvSpPr>
          <p:nvPr>
            <p:ph idx="1"/>
          </p:nvPr>
        </p:nvSpPr>
        <p:spPr bwMode="auto">
          <a:xfrm>
            <a:off x="753397" y="405850"/>
            <a:ext cx="10685206" cy="646330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Data Governance</a:t>
            </a: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Data governance refers to the framework of policies, processes, and standards used to manage and protect data assets throughout their lifecycle.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303030"/>
                </a:solidFill>
                <a:effectLst/>
                <a:latin typeface="Google Sans Text"/>
              </a:rPr>
              <a:t>Data Classification:</a:t>
            </a:r>
            <a:r>
              <a:rPr kumimoji="0" lang="en-US" altLang="en-US" sz="1800" b="0" i="0" u="none" strike="noStrike" cap="none" normalizeH="0" baseline="0" dirty="0">
                <a:ln>
                  <a:noFill/>
                </a:ln>
                <a:solidFill>
                  <a:srgbClr val="303030"/>
                </a:solidFill>
                <a:effectLst/>
                <a:latin typeface="Google Sans Text"/>
              </a:rPr>
              <a:t> This critical process identifies and categorizes data based on its </a:t>
            </a:r>
            <a:r>
              <a:rPr kumimoji="0" lang="en-US" altLang="en-US" sz="1800" b="1" i="0" u="none" strike="noStrike" cap="none" normalizeH="0" baseline="0" dirty="0">
                <a:ln>
                  <a:noFill/>
                </a:ln>
                <a:solidFill>
                  <a:srgbClr val="303030"/>
                </a:solidFill>
                <a:effectLst/>
                <a:latin typeface="Google Sans Text"/>
              </a:rPr>
              <a:t>criticality and sensitivity</a:t>
            </a:r>
            <a:r>
              <a:rPr kumimoji="0" lang="en-US" altLang="en-US" sz="1800" b="0" i="0" u="none" strike="noStrike" cap="none" normalizeH="0" baseline="0" dirty="0">
                <a:ln>
                  <a:noFill/>
                </a:ln>
                <a:solidFill>
                  <a:srgbClr val="303030"/>
                </a:solidFill>
                <a:effectLst/>
                <a:latin typeface="Google Sans Text"/>
              </a:rPr>
              <a:t> (e.g., PII), which determines the appropriate protection, retention, and access controls.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rgbClr val="30303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303030"/>
                </a:solidFill>
                <a:effectLst/>
                <a:latin typeface="Google Sans Text"/>
              </a:rPr>
              <a:t>Data Minimization:</a:t>
            </a:r>
            <a:r>
              <a:rPr kumimoji="0" lang="en-US" altLang="en-US" sz="1800" b="0" i="0" u="none" strike="noStrike" cap="none" normalizeH="0" baseline="0" dirty="0">
                <a:ln>
                  <a:noFill/>
                </a:ln>
                <a:solidFill>
                  <a:srgbClr val="303030"/>
                </a:solidFill>
                <a:effectLst/>
                <a:latin typeface="Google Sans Text"/>
              </a:rPr>
              <a:t> Organizations are encouraged to collect and process </a:t>
            </a:r>
            <a:r>
              <a:rPr kumimoji="0" lang="en-US" altLang="en-US" sz="1800" b="1" i="0" u="none" strike="noStrike" cap="none" normalizeH="0" baseline="0" dirty="0">
                <a:ln>
                  <a:noFill/>
                </a:ln>
                <a:solidFill>
                  <a:srgbClr val="303030"/>
                </a:solidFill>
                <a:effectLst/>
                <a:latin typeface="Google Sans Text"/>
              </a:rPr>
              <a:t>only the data that is strictly necessary</a:t>
            </a:r>
            <a:r>
              <a:rPr kumimoji="0" lang="en-US" altLang="en-US" sz="1800" b="0" i="0" u="none" strike="noStrike" cap="none" normalizeH="0" baseline="0" dirty="0">
                <a:ln>
                  <a:noFill/>
                </a:ln>
                <a:solidFill>
                  <a:srgbClr val="303030"/>
                </a:solidFill>
                <a:effectLst/>
                <a:latin typeface="Google Sans Text"/>
              </a:rPr>
              <a:t>, reducing privacy risks, storage costs, and the overall attack surface.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rgbClr val="30303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303030"/>
                </a:solidFill>
                <a:effectLst/>
                <a:latin typeface="Google Sans Text"/>
              </a:rPr>
              <a:t>Data Sovereignty:</a:t>
            </a:r>
            <a:r>
              <a:rPr kumimoji="0" lang="en-US" altLang="en-US" sz="1800" b="0" i="0" u="none" strike="noStrike" cap="none" normalizeH="0" baseline="0" dirty="0">
                <a:ln>
                  <a:noFill/>
                </a:ln>
                <a:solidFill>
                  <a:srgbClr val="303030"/>
                </a:solidFill>
                <a:effectLst/>
                <a:latin typeface="Google Sans Text"/>
              </a:rPr>
              <a:t> Governance often involves meeting </a:t>
            </a:r>
            <a:r>
              <a:rPr kumimoji="0" lang="en-US" altLang="en-US" sz="1800" b="1" i="0" u="none" strike="noStrike" cap="none" normalizeH="0" baseline="0" dirty="0">
                <a:ln>
                  <a:noFill/>
                </a:ln>
                <a:solidFill>
                  <a:srgbClr val="303030"/>
                </a:solidFill>
                <a:effectLst/>
                <a:latin typeface="Google Sans Text"/>
              </a:rPr>
              <a:t>legal and regulatory requirements</a:t>
            </a:r>
            <a:r>
              <a:rPr kumimoji="0" lang="en-US" altLang="en-US" sz="1800" b="0" i="0" u="none" strike="noStrike" cap="none" normalizeH="0" baseline="0" dirty="0">
                <a:ln>
                  <a:noFill/>
                </a:ln>
                <a:solidFill>
                  <a:srgbClr val="303030"/>
                </a:solidFill>
                <a:effectLst/>
                <a:latin typeface="Google Sans Text"/>
              </a:rPr>
              <a:t> that mandate certain workloads or data remain within specific geographic jurisdictions.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rgbClr val="30303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303030"/>
                </a:solidFill>
                <a:effectLst/>
                <a:latin typeface="Google Sans Text"/>
              </a:rPr>
              <a:t>Centralized Control and Guardrails:</a:t>
            </a:r>
            <a:r>
              <a:rPr kumimoji="0" lang="en-US" altLang="en-US" sz="1800" b="0" i="0" u="none" strike="noStrike" cap="none" normalizeH="0" baseline="0" dirty="0">
                <a:ln>
                  <a:noFill/>
                </a:ln>
                <a:solidFill>
                  <a:srgbClr val="303030"/>
                </a:solidFill>
                <a:effectLst/>
                <a:latin typeface="Google Sans Text"/>
              </a:rPr>
              <a:t> Services like </a:t>
            </a:r>
            <a:r>
              <a:rPr kumimoji="0" lang="en-US" altLang="en-US" sz="1800" b="1" i="0" u="none" strike="noStrike" cap="none" normalizeH="0" baseline="0" dirty="0">
                <a:ln>
                  <a:noFill/>
                </a:ln>
                <a:solidFill>
                  <a:srgbClr val="303030"/>
                </a:solidFill>
                <a:effectLst/>
                <a:latin typeface="Google Sans Text"/>
              </a:rPr>
              <a:t>AWS Organizations</a:t>
            </a:r>
            <a:r>
              <a:rPr kumimoji="0" lang="en-US" altLang="en-US" sz="1800" b="0" i="0" u="none" strike="noStrike" cap="none" normalizeH="0" baseline="0" dirty="0">
                <a:ln>
                  <a:noFill/>
                </a:ln>
                <a:solidFill>
                  <a:srgbClr val="303030"/>
                </a:solidFill>
                <a:effectLst/>
                <a:latin typeface="Google Sans Text"/>
              </a:rPr>
              <a:t> and </a:t>
            </a:r>
            <a:r>
              <a:rPr kumimoji="0" lang="en-US" altLang="en-US" sz="1800" b="1" i="0" u="none" strike="noStrike" cap="none" normalizeH="0" baseline="0" dirty="0">
                <a:ln>
                  <a:noFill/>
                </a:ln>
                <a:solidFill>
                  <a:srgbClr val="303030"/>
                </a:solidFill>
                <a:effectLst/>
                <a:latin typeface="Google Sans Text"/>
              </a:rPr>
              <a:t>Service Control Policies (SCPs)</a:t>
            </a:r>
            <a:r>
              <a:rPr kumimoji="0" lang="en-US" altLang="en-US" sz="1800" b="0" i="0" u="none" strike="noStrike" cap="none" normalizeH="0" baseline="0" dirty="0">
                <a:ln>
                  <a:noFill/>
                </a:ln>
                <a:solidFill>
                  <a:srgbClr val="303030"/>
                </a:solidFill>
                <a:effectLst/>
                <a:latin typeface="Google Sans Text"/>
              </a:rPr>
              <a:t> allow administrators to enforce guardrails across all accounts, setting maximum permission limits and ensuring alignment with compliance standards.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rgbClr val="30303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303030"/>
                </a:solidFill>
                <a:effectLst/>
                <a:latin typeface="Google Sans Text"/>
              </a:rPr>
              <a:t>Compliance Validation:</a:t>
            </a:r>
            <a:r>
              <a:rPr kumimoji="0" lang="en-US" altLang="en-US" sz="1800" b="0" i="0" u="none" strike="noStrike" cap="none" normalizeH="0" baseline="0" dirty="0">
                <a:ln>
                  <a:noFill/>
                </a:ln>
                <a:solidFill>
                  <a:srgbClr val="303030"/>
                </a:solidFill>
                <a:effectLst/>
                <a:latin typeface="Google Sans Text"/>
              </a:rPr>
              <a:t> Under the shared responsibility model, customers are responsible for ensuring their data handling meets industry-specific standards like </a:t>
            </a:r>
            <a:r>
              <a:rPr kumimoji="0" lang="en-US" altLang="en-US" sz="1800" b="1" i="0" u="none" strike="noStrike" cap="none" normalizeH="0" baseline="0" dirty="0">
                <a:ln>
                  <a:noFill/>
                </a:ln>
                <a:solidFill>
                  <a:srgbClr val="303030"/>
                </a:solidFill>
                <a:effectLst/>
                <a:latin typeface="Google Sans Text"/>
              </a:rPr>
              <a:t>HIPAA, GDPR, or ISO 27001</a:t>
            </a:r>
            <a:r>
              <a:rPr kumimoji="0" lang="en-US" altLang="en-US" sz="1800" b="0" i="0" u="none" strike="noStrike" cap="none" normalizeH="0" baseline="0" dirty="0">
                <a:ln>
                  <a:noFill/>
                </a:ln>
                <a:solidFill>
                  <a:srgbClr val="303030"/>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rgbClr val="30303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303030"/>
                </a:solidFill>
                <a:effectLst/>
                <a:latin typeface="Google Sans Text"/>
              </a:rPr>
              <a:t>Data Provenance:</a:t>
            </a:r>
            <a:r>
              <a:rPr kumimoji="0" lang="en-US" altLang="en-US" sz="1800" b="0" i="0" u="none" strike="noStrike" cap="none" normalizeH="0" baseline="0" dirty="0">
                <a:ln>
                  <a:noFill/>
                </a:ln>
                <a:solidFill>
                  <a:srgbClr val="303030"/>
                </a:solidFill>
                <a:effectLst/>
                <a:latin typeface="Google Sans Text"/>
              </a:rPr>
              <a:t> This involves tracking the </a:t>
            </a:r>
            <a:r>
              <a:rPr kumimoji="0" lang="en-US" altLang="en-US" sz="1800" b="1" i="0" u="none" strike="noStrike" cap="none" normalizeH="0" baseline="0" dirty="0">
                <a:ln>
                  <a:noFill/>
                </a:ln>
                <a:solidFill>
                  <a:srgbClr val="303030"/>
                </a:solidFill>
                <a:effectLst/>
                <a:latin typeface="Google Sans Text"/>
              </a:rPr>
              <a:t>origin and history of data</a:t>
            </a:r>
            <a:r>
              <a:rPr kumimoji="0" lang="en-US" altLang="en-US" sz="1800" b="0" i="0" u="none" strike="noStrike" cap="none" normalizeH="0" baseline="0" dirty="0">
                <a:ln>
                  <a:noFill/>
                </a:ln>
                <a:solidFill>
                  <a:srgbClr val="303030"/>
                </a:solidFill>
                <a:effectLst/>
                <a:latin typeface="Google Sans Text"/>
              </a:rPr>
              <a:t>, ensuring its integrity and reliability as it moves through the cloud environment.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6107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26D14-9F33-321F-4C71-6F47F8F2FE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4DD9D0-7A87-64B0-D870-CAA81E4DB6AB}"/>
              </a:ext>
            </a:extLst>
          </p:cNvPr>
          <p:cNvSpPr>
            <a:spLocks noGrp="1" noChangeArrowheads="1"/>
          </p:cNvSpPr>
          <p:nvPr>
            <p:ph idx="1"/>
          </p:nvPr>
        </p:nvSpPr>
        <p:spPr bwMode="auto">
          <a:xfrm>
            <a:off x="292151" y="566678"/>
            <a:ext cx="1167989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Monitoring and Accountability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Effective governance and confidentiality require continuous oversight.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1" i="0" u="none" strike="noStrike" cap="none" normalizeH="0" baseline="0" dirty="0">
                <a:ln>
                  <a:noFill/>
                </a:ln>
                <a:solidFill>
                  <a:schemeClr val="tx1"/>
                </a:solidFill>
                <a:effectLst/>
                <a:latin typeface="Arial" panose="020B0604020202020204" pitchFamily="34" charset="0"/>
              </a:rPr>
              <a:t>AWS CloudTrail</a:t>
            </a:r>
            <a:r>
              <a:rPr kumimoji="0" lang="en-US" altLang="en-US" sz="2000" b="0" i="0" u="none" strike="noStrike" cap="none" normalizeH="0" baseline="0" dirty="0">
                <a:ln>
                  <a:noFill/>
                </a:ln>
                <a:solidFill>
                  <a:schemeClr val="tx1"/>
                </a:solidFill>
                <a:effectLst/>
                <a:latin typeface="Arial" panose="020B0604020202020204" pitchFamily="34" charset="0"/>
              </a:rPr>
              <a:t> logs all API actions taken by users or services, providing a searchable history for auditing and identifying potential unauthorized access.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lang="en-US" altLang="en-US" sz="2000"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latin typeface="Arial" panose="020B0604020202020204" pitchFamily="34" charset="0"/>
              </a:rPr>
              <a:t>Additionally, </a:t>
            </a:r>
            <a:r>
              <a:rPr kumimoji="0" lang="en-US" altLang="en-US" sz="2000" b="1" i="0" u="none" strike="noStrike" cap="none" normalizeH="0" baseline="0" dirty="0">
                <a:ln>
                  <a:noFill/>
                </a:ln>
                <a:solidFill>
                  <a:schemeClr val="tx1"/>
                </a:solidFill>
                <a:effectLst/>
                <a:latin typeface="Arial" panose="020B0604020202020204" pitchFamily="34" charset="0"/>
              </a:rPr>
              <a:t>"human-in-the-loop"</a:t>
            </a:r>
            <a:r>
              <a:rPr kumimoji="0" lang="en-US" altLang="en-US" sz="2000" b="0" i="0" u="none" strike="noStrike" cap="none" normalizeH="0" baseline="0" dirty="0">
                <a:ln>
                  <a:noFill/>
                </a:ln>
                <a:solidFill>
                  <a:schemeClr val="tx1"/>
                </a:solidFill>
                <a:effectLst/>
                <a:latin typeface="Arial" panose="020B0604020202020204" pitchFamily="34" charset="0"/>
              </a:rPr>
              <a:t> systems are recommended for automated recovery processes to ensure human oversight and accountability in critical decision-making.</a:t>
            </a:r>
          </a:p>
        </p:txBody>
      </p:sp>
    </p:spTree>
    <p:extLst>
      <p:ext uri="{BB962C8B-B14F-4D97-AF65-F5344CB8AC3E}">
        <p14:creationId xmlns:p14="http://schemas.microsoft.com/office/powerpoint/2010/main" val="3108895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2279</Words>
  <Application>Microsoft Office PowerPoint</Application>
  <PresentationFormat>Widescreen</PresentationFormat>
  <Paragraphs>132</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Google Sans Code</vt:lpstr>
      <vt:lpstr>Google Sans Text</vt:lpstr>
      <vt:lpstr>Wingdings</vt:lpstr>
      <vt:lpstr>Office Theme</vt:lpstr>
      <vt:lpstr>Legal challenges involved in Cloud</vt:lpstr>
      <vt:lpstr>Legal challenges involved in Cloud- Data breaches</vt:lpstr>
      <vt:lpstr>Legal challenges involved in Cloud- Privacy violations</vt:lpstr>
      <vt:lpstr>Legal challenges involved in Cloud- Privacy violations</vt:lpstr>
      <vt:lpstr>Legal challenges involved in Cloud- Privacy violations</vt:lpstr>
      <vt:lpstr>Legal challenges involved in Cloud- Privacy violations</vt:lpstr>
      <vt:lpstr>Legal challenges involved in Cloud- Compliance</vt:lpstr>
      <vt:lpstr>Legal challenges involved in Cloud- Compliance</vt:lpstr>
      <vt:lpstr>Legal challenges involved in Cloud- Compliance</vt:lpstr>
      <vt:lpstr>Legal challenges involved in Cloud- Compliance</vt:lpstr>
      <vt:lpstr>Legal challenges involved in Cloud- Compliance</vt:lpstr>
      <vt:lpstr>Legal challenges involved in Cloud- Copyright issues</vt:lpstr>
      <vt:lpstr>Legal challenges involved in Cloud- Software Licensing</vt:lpstr>
      <vt:lpstr>Legal challenges involved in Cloud- Data confidentiality &amp; Data governance</vt:lpstr>
      <vt:lpstr>Legal challenges involved in Cloud- Data confidentiality &amp; Data governance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Sandeep Rana</dc:creator>
  <cp:lastModifiedBy>Sandeep Rana</cp:lastModifiedBy>
  <cp:revision>2</cp:revision>
  <dcterms:created xsi:type="dcterms:W3CDTF">2026-05-09T06:56:57Z</dcterms:created>
  <dcterms:modified xsi:type="dcterms:W3CDTF">2026-05-09T08:02:24Z</dcterms:modified>
</cp:coreProperties>
</file>