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09" r:id="rId2"/>
    <p:sldId id="321" r:id="rId3"/>
    <p:sldId id="310" r:id="rId4"/>
    <p:sldId id="317" r:id="rId5"/>
    <p:sldId id="311" r:id="rId6"/>
    <p:sldId id="312" r:id="rId7"/>
    <p:sldId id="318" r:id="rId8"/>
    <p:sldId id="313" r:id="rId9"/>
    <p:sldId id="314" r:id="rId10"/>
    <p:sldId id="319" r:id="rId11"/>
    <p:sldId id="3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8EFC"/>
    <a:srgbClr val="FE6400"/>
    <a:srgbClr val="B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 autoAdjust="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>
        <p:guide orient="horz" pos="2160"/>
        <p:guide pos="3840"/>
      </p:guideLst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01EA01-0F0C-4DE8-B813-35A3FC47D733}" type="datetimeFigureOut">
              <a:rPr lang="en-US" smtClean="0"/>
              <a:pPr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163DC-F9C0-4AEA-8660-BBA8B696315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570C-91D9-4947-A6D9-7FF06034DC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A57714-93CD-4F1F-87AD-8D5BD536B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1CF67-9FF0-4DFC-BE0D-8D333667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B7A56-F93E-4F84-81A6-4D75C4E9C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9BA34-E053-4950-ADF6-7B39A137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19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4005792" y="1338792"/>
            <a:ext cx="4180416" cy="4180416"/>
          </a:xfrm>
          <a:prstGeom prst="rect">
            <a:avLst/>
          </a:prstGeom>
          <a:blipFill dpi="0" rotWithShape="1">
            <a:blip r:embed="rId2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FCA5F5E-D9F5-4744-B543-9AF39C52DBE3}"/>
              </a:ext>
            </a:extLst>
          </p:cNvPr>
          <p:cNvSpPr/>
          <p:nvPr userDrawn="1"/>
        </p:nvSpPr>
        <p:spPr>
          <a:xfrm rot="10800000" flipH="1">
            <a:off x="5191124" y="6439955"/>
            <a:ext cx="6997050" cy="420957"/>
          </a:xfrm>
          <a:custGeom>
            <a:avLst/>
            <a:gdLst>
              <a:gd name="connsiteX0" fmla="*/ 274746 w 6997050"/>
              <a:gd name="connsiteY0" fmla="*/ 474402 h 474402"/>
              <a:gd name="connsiteX1" fmla="*/ 5454000 w 6997050"/>
              <a:gd name="connsiteY1" fmla="*/ 474402 h 474402"/>
              <a:gd name="connsiteX2" fmla="*/ 5454000 w 6997050"/>
              <a:gd name="connsiteY2" fmla="*/ 473606 h 474402"/>
              <a:gd name="connsiteX3" fmla="*/ 6997050 w 6997050"/>
              <a:gd name="connsiteY3" fmla="*/ 473606 h 474402"/>
              <a:gd name="connsiteX4" fmla="*/ 6997050 w 6997050"/>
              <a:gd name="connsiteY4" fmla="*/ 0 h 474402"/>
              <a:gd name="connsiteX5" fmla="*/ 5454000 w 6997050"/>
              <a:gd name="connsiteY5" fmla="*/ 0 h 474402"/>
              <a:gd name="connsiteX6" fmla="*/ 5454000 w 6997050"/>
              <a:gd name="connsiteY6" fmla="*/ 797 h 474402"/>
              <a:gd name="connsiteX7" fmla="*/ 0 w 6997050"/>
              <a:gd name="connsiteY7" fmla="*/ 797 h 4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97050" h="474402">
                <a:moveTo>
                  <a:pt x="274746" y="474402"/>
                </a:moveTo>
                <a:lnTo>
                  <a:pt x="5454000" y="474402"/>
                </a:lnTo>
                <a:lnTo>
                  <a:pt x="5454000" y="473606"/>
                </a:lnTo>
                <a:lnTo>
                  <a:pt x="6997050" y="473606"/>
                </a:lnTo>
                <a:lnTo>
                  <a:pt x="6997050" y="0"/>
                </a:lnTo>
                <a:lnTo>
                  <a:pt x="5454000" y="0"/>
                </a:lnTo>
                <a:lnTo>
                  <a:pt x="5454000" y="797"/>
                </a:lnTo>
                <a:lnTo>
                  <a:pt x="0" y="797"/>
                </a:lnTo>
                <a:close/>
              </a:path>
            </a:pathLst>
          </a:custGeom>
          <a:solidFill>
            <a:srgbClr val="108E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B9CDCC60-433C-4D80-B046-60440ADA613D}"/>
              </a:ext>
            </a:extLst>
          </p:cNvPr>
          <p:cNvSpPr/>
          <p:nvPr userDrawn="1"/>
        </p:nvSpPr>
        <p:spPr>
          <a:xfrm>
            <a:off x="1" y="6439956"/>
            <a:ext cx="5490211" cy="418044"/>
          </a:xfrm>
          <a:custGeom>
            <a:avLst/>
            <a:gdLst>
              <a:gd name="connsiteX0" fmla="*/ 0 w 5490211"/>
              <a:gd name="connsiteY0" fmla="*/ 0 h 473605"/>
              <a:gd name="connsiteX1" fmla="*/ 5490211 w 5490211"/>
              <a:gd name="connsiteY1" fmla="*/ 0 h 473605"/>
              <a:gd name="connsiteX2" fmla="*/ 5215520 w 5490211"/>
              <a:gd name="connsiteY2" fmla="*/ 473605 h 473605"/>
              <a:gd name="connsiteX3" fmla="*/ 0 w 5490211"/>
              <a:gd name="connsiteY3" fmla="*/ 473605 h 47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0211" h="473605">
                <a:moveTo>
                  <a:pt x="0" y="0"/>
                </a:moveTo>
                <a:lnTo>
                  <a:pt x="5490211" y="0"/>
                </a:lnTo>
                <a:lnTo>
                  <a:pt x="5215520" y="473605"/>
                </a:lnTo>
                <a:lnTo>
                  <a:pt x="0" y="473605"/>
                </a:lnTo>
                <a:close/>
              </a:path>
            </a:pathLst>
          </a:custGeom>
          <a:solidFill>
            <a:srgbClr val="FE6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EF4669-2972-4A62-937C-8770006AA351}"/>
              </a:ext>
            </a:extLst>
          </p:cNvPr>
          <p:cNvSpPr/>
          <p:nvPr userDrawn="1"/>
        </p:nvSpPr>
        <p:spPr>
          <a:xfrm>
            <a:off x="0" y="0"/>
            <a:ext cx="12192000" cy="1016000"/>
          </a:xfrm>
          <a:prstGeom prst="rect">
            <a:avLst/>
          </a:prstGeom>
          <a:gradFill flip="none" rotWithShape="1">
            <a:gsLst>
              <a:gs pos="0">
                <a:srgbClr val="FE6400"/>
              </a:gs>
              <a:gs pos="100000">
                <a:srgbClr val="108EFC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190500"/>
            <a:ext cx="11684000" cy="671250"/>
          </a:xfrm>
        </p:spPr>
        <p:txBody>
          <a:bodyPr>
            <a:normAutofit/>
          </a:bodyPr>
          <a:lstStyle>
            <a:lvl1pPr algn="ctr">
              <a:tabLst>
                <a:tab pos="1790700" algn="l"/>
              </a:tabLst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F38C1C8-344A-4ACE-B6A4-2BA3E602ECB5}"/>
              </a:ext>
            </a:extLst>
          </p:cNvPr>
          <p:cNvSpPr txBox="1">
            <a:spLocks/>
          </p:cNvSpPr>
          <p:nvPr userDrawn="1"/>
        </p:nvSpPr>
        <p:spPr>
          <a:xfrm>
            <a:off x="355600" y="5683515"/>
            <a:ext cx="1158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F9B3D1-7DD8-405D-A925-20FEB2EA51F2}"/>
              </a:ext>
            </a:extLst>
          </p:cNvPr>
          <p:cNvSpPr txBox="1"/>
          <p:nvPr userDrawn="1"/>
        </p:nvSpPr>
        <p:spPr>
          <a:xfrm>
            <a:off x="1118954" y="6464312"/>
            <a:ext cx="3394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Aptitude Classes by Anuj Sir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6DA40F-1448-4E04-A4CC-A0C240DC53FB}"/>
              </a:ext>
            </a:extLst>
          </p:cNvPr>
          <p:cNvSpPr txBox="1"/>
          <p:nvPr userDrawn="1"/>
        </p:nvSpPr>
        <p:spPr>
          <a:xfrm>
            <a:off x="6252259" y="6464312"/>
            <a:ext cx="5634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For more tutorials Visit now www.testurprep.com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C4A5B36-9C81-4DC5-AB3E-D53D3DF8AA5F}"/>
              </a:ext>
            </a:extLst>
          </p:cNvPr>
          <p:cNvSpPr/>
          <p:nvPr userDrawn="1"/>
        </p:nvSpPr>
        <p:spPr>
          <a:xfrm>
            <a:off x="158099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126FFB0-7B36-4783-8239-761E300FA624}"/>
              </a:ext>
            </a:extLst>
          </p:cNvPr>
          <p:cNvSpPr/>
          <p:nvPr userDrawn="1"/>
        </p:nvSpPr>
        <p:spPr>
          <a:xfrm>
            <a:off x="11311874" y="144860"/>
            <a:ext cx="727726" cy="727726"/>
          </a:xfrm>
          <a:prstGeom prst="ellipse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199620"/>
            <a:ext cx="11684000" cy="4991630"/>
          </a:xfrm>
        </p:spPr>
        <p:txBody>
          <a:bodyPr>
            <a:normAutofit/>
          </a:bodyPr>
          <a:lstStyle>
            <a:lvl1pPr>
              <a:defRPr lang="en-IN" sz="2400" dirty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21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EE3A-6F8B-4D77-A85B-BD09A8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0933"/>
            <a:ext cx="11582400" cy="745067"/>
          </a:xfrm>
        </p:spPr>
        <p:txBody>
          <a:bodyPr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EBD83-A703-4B6E-91EB-72896443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85333"/>
            <a:ext cx="11582400" cy="499163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2684C-423C-4765-A4B6-5C4E8DC754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4800" y="6380692"/>
            <a:ext cx="3276600" cy="365125"/>
          </a:xfrm>
        </p:spPr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794CF-57E8-4BE6-9B7F-7F59CE9F7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80691"/>
            <a:ext cx="4114800" cy="365125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311BD-0829-4E1F-8609-52006F00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276599" cy="365125"/>
          </a:xfrm>
        </p:spPr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8DE1E3-0244-4492-89B0-E666F4294E48}"/>
              </a:ext>
            </a:extLst>
          </p:cNvPr>
          <p:cNvSpPr/>
          <p:nvPr userDrawn="1"/>
        </p:nvSpPr>
        <p:spPr>
          <a:xfrm>
            <a:off x="3706812" y="981604"/>
            <a:ext cx="4879976" cy="4879976"/>
          </a:xfrm>
          <a:prstGeom prst="rect">
            <a:avLst/>
          </a:prstGeom>
          <a:blipFill dpi="0" rotWithShape="1">
            <a:blip r:embed="rId2">
              <a:alphaModFix amt="32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07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DAC04-157F-4E75-A1D1-608BB6A4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EF63E-A7CD-4490-94C6-AEB7AAD1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BACE1-7062-406F-BF0A-2C8447CF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2EBEB-1EEC-4E59-8235-46F33B9CE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F9D22-36EF-42CE-B503-C1BF182E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22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2340-6366-4615-8DFE-2032C089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E8ADD-6026-4405-9B1A-DC1A4E8E9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6CB263-B7A6-4EE6-AD11-928CE3CCD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81AA1-B6F3-49F8-9075-131D0D8F3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EF3FA6-1E5C-47CD-B247-F5157610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B52BF-3F99-4B16-A3D9-0678B7555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836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2DB32-2174-4376-9076-2632E8F8E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C407C-1D12-4D0A-A030-524BE0968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71F0A9-77EE-4263-A67C-C16BE1477C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871FB3-AC11-4741-B1C4-DE03A7E6AD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ECBBDE-9050-4133-9844-54AB48666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15ABDF-CF3A-439F-B397-95AC73FB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DB57C0-0EC2-4978-AEAD-7284450CD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E9A207-153C-4FB7-89E6-D60D56800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09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69E1-C2D7-469B-B685-5760A0E1E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07BAE-D44B-45AB-A0B4-DD09062F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7F0041-930D-486E-B87C-35013F3E0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610B2-BC3A-443A-B9FB-C8EA2F35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01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5BEFB7-3B9C-4B2B-95B4-92DD054C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AF9ABC-339A-4386-8967-389520926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5CBE5-69F1-4976-9D60-7F316C1ED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674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F17B-D2C9-40B9-8753-8BDCF691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07120-E547-4935-95D5-4A8C8B267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049DD-1391-4431-A734-4A3EEF73AF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A9439-D32A-4CA5-A1FB-743F9230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F7D6D9-F57C-438C-8949-80113A39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3E0FAB-A3DF-4A5C-B3B2-F612BBFE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9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95D0-D535-4848-A630-2D6860813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DB14DE-3C99-46E6-9D3B-253632069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3A90A1-9292-4924-8F81-7ED09C923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0C8E3-27F1-4EDF-9DCD-8F49CDA6B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BB2F1-10A7-4167-841D-D77F9C8E5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14DC5D-E540-47BE-BB01-FF0B11DD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69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47CE4-4879-4194-ACD4-2DFD05CEE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DE788-C14D-4BFA-A909-E56F7B950E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FB5C-888C-4B41-A7ED-BBAD29599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5CDCF-5C71-4C4C-98F9-79760A9BE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B6551-B2C3-4B96-9C9D-F996D5F0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392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379290-6C46-497B-AB1E-8A27B8100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4811A-877C-4411-B988-CA338C63CD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A6BC7-DD99-4593-AB1F-3E58214B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9487C-19BB-435C-9BEC-F0A10E78A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6C9521-C4F0-40F8-8192-C7A8261F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318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35F695-DEC3-4A3B-BC13-7CC4F5D1D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168CC-6B45-4123-88A6-EF2DF64057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7EFBD-4160-41DF-A314-BD6A64AB49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F7824F-FEE6-4FA6-87FA-56806D70CA3A}" type="datetimeFigureOut">
              <a:rPr lang="en-IN" smtClean="0"/>
              <a:pPr/>
              <a:t>13-12-2024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098CC-0E82-4F6E-B3C7-BBF562C23B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83DAE-AED6-4530-8BC5-C76C7338EB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3C1E7-9431-4A64-94FC-1D172EC0AB5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507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</a:p>
          <a:p>
            <a:pPr>
              <a:buNone/>
            </a:pP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endParaRPr lang="en-US" sz="4800" b="1" dirty="0">
              <a:solidFill>
                <a:schemeClr val="tx1">
                  <a:lumMod val="95000"/>
                  <a:lumOff val="5000"/>
                </a:schemeClr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      </a:t>
            </a:r>
            <a:r>
              <a:rPr lang="en-US" sz="4800" b="1" dirty="0">
                <a:solidFill>
                  <a:srgbClr val="FF0000"/>
                </a:solidFill>
                <a:latin typeface="Arial Black" panose="020B0A04020102020204" pitchFamily="34" charset="0"/>
              </a:rPr>
              <a:t>PUZZLE TEST(EXERCISE: C)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0154986-BCB8-C1AA-3E2D-A529BC15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E392D-84D1-C3C2-2FB1-4B8697104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C)</a:t>
            </a:r>
          </a:p>
          <a:p>
            <a:pPr>
              <a:buNone/>
            </a:pPr>
            <a:r>
              <a:rPr lang="en-US" sz="1800" b="1" dirty="0"/>
              <a:t>Questions (1 to 5): Read the following information carefully and answer the Questions given below it:</a:t>
            </a:r>
          </a:p>
          <a:p>
            <a:pPr>
              <a:buNone/>
            </a:pPr>
            <a:r>
              <a:rPr lang="en-US" sz="1500" b="1" dirty="0" err="1"/>
              <a:t>i</a:t>
            </a:r>
            <a:r>
              <a:rPr lang="en-US" sz="1500" b="1" dirty="0"/>
              <a:t>.	There is a family of six members A, B, C, D, E and F.</a:t>
            </a:r>
          </a:p>
          <a:p>
            <a:pPr>
              <a:buNone/>
            </a:pPr>
            <a:r>
              <a:rPr lang="en-US" sz="1500" b="1" dirty="0"/>
              <a:t>ii.	There are two married couples in the family and the family members represent three generations.</a:t>
            </a:r>
          </a:p>
          <a:p>
            <a:pPr>
              <a:buNone/>
            </a:pPr>
            <a:r>
              <a:rPr lang="en-US" sz="1500" b="1" dirty="0"/>
              <a:t>iii. Each member has a distinct choice of a </a:t>
            </a:r>
            <a:r>
              <a:rPr lang="en-US" sz="1500" b="1" dirty="0" err="1"/>
              <a:t>colour</a:t>
            </a:r>
            <a:r>
              <a:rPr lang="en-US" sz="1500" b="1" dirty="0"/>
              <a:t> amongst green, yellow, black, red, white and pink.</a:t>
            </a:r>
          </a:p>
          <a:p>
            <a:pPr>
              <a:buNone/>
            </a:pPr>
            <a:r>
              <a:rPr lang="en-US" sz="1500" b="1" dirty="0"/>
              <a:t>iv. No lady member likes either green or white.</a:t>
            </a:r>
          </a:p>
          <a:p>
            <a:pPr>
              <a:buNone/>
            </a:pPr>
            <a:r>
              <a:rPr lang="en-US" sz="1500" b="1" dirty="0"/>
              <a:t>v.	C, who likes black </a:t>
            </a:r>
            <a:r>
              <a:rPr lang="en-US" sz="1500" b="1" dirty="0" err="1"/>
              <a:t>colour</a:t>
            </a:r>
            <a:r>
              <a:rPr lang="en-US" sz="1500" b="1" dirty="0"/>
              <a:t> is the daughter-in-law of E.</a:t>
            </a:r>
          </a:p>
          <a:p>
            <a:pPr>
              <a:buNone/>
            </a:pPr>
            <a:r>
              <a:rPr lang="en-US" sz="1500" b="1" dirty="0"/>
              <a:t>vi. B is brother of F and son of D and likes pink.</a:t>
            </a:r>
          </a:p>
          <a:p>
            <a:pPr>
              <a:buNone/>
            </a:pPr>
            <a:r>
              <a:rPr lang="en-US" sz="1500" b="1" dirty="0"/>
              <a:t>vii. A is grandmother of F and F does not like red.</a:t>
            </a:r>
          </a:p>
          <a:p>
            <a:pPr>
              <a:buNone/>
            </a:pPr>
            <a:r>
              <a:rPr lang="en-US" sz="1500" b="1" dirty="0"/>
              <a:t>viii. The husband has a choice of green </a:t>
            </a:r>
            <a:r>
              <a:rPr lang="en-US" sz="1500" b="1" dirty="0" err="1"/>
              <a:t>colour</a:t>
            </a:r>
            <a:r>
              <a:rPr lang="en-US" sz="1500" b="1" dirty="0"/>
              <a:t>, his wife likes yellow.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dirty="0"/>
              <a:t> </a:t>
            </a:r>
            <a:endParaRPr lang="en-US" b="1" dirty="0"/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9333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9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PUZZLE TEST(EXERCISE: C)</a:t>
            </a:r>
          </a:p>
          <a:p>
            <a:pPr>
              <a:buNone/>
            </a:pPr>
            <a:r>
              <a:rPr lang="en-US" sz="7200" b="1" dirty="0"/>
              <a:t>Q 1. Which of the following is the </a:t>
            </a:r>
            <a:r>
              <a:rPr lang="en-US" sz="7200" b="1" dirty="0" err="1"/>
              <a:t>colour</a:t>
            </a:r>
            <a:r>
              <a:rPr lang="en-US" sz="7200" b="1" dirty="0"/>
              <a:t> preference of A?</a:t>
            </a:r>
          </a:p>
          <a:p>
            <a:pPr marL="457200" indent="-457200">
              <a:buNone/>
            </a:pPr>
            <a:r>
              <a:rPr lang="en-US" sz="7200" b="1" dirty="0"/>
              <a:t>A. Red			B. Yellow		C. Either Red or Yellow	D. Cannot be determined	</a:t>
            </a:r>
          </a:p>
          <a:p>
            <a:pPr marL="457200" indent="-457200">
              <a:buNone/>
            </a:pPr>
            <a:r>
              <a:rPr lang="en-US" sz="7200" b="1" dirty="0"/>
              <a:t>E. None of these</a:t>
            </a:r>
          </a:p>
          <a:p>
            <a:pPr>
              <a:buNone/>
            </a:pPr>
            <a:r>
              <a:rPr lang="en-US" sz="7200" b="1" dirty="0"/>
              <a:t>Q2. How many male members are there in the family?</a:t>
            </a:r>
          </a:p>
          <a:p>
            <a:pPr>
              <a:buNone/>
            </a:pPr>
            <a:r>
              <a:rPr lang="en-US" sz="7200" b="1" dirty="0"/>
              <a:t>A. Two			B. Three		C. one			D. Cannot be determined	</a:t>
            </a:r>
          </a:p>
          <a:p>
            <a:pPr>
              <a:buNone/>
            </a:pPr>
            <a:r>
              <a:rPr lang="en-US" sz="7200" b="1" dirty="0"/>
              <a:t>E. None of these</a:t>
            </a:r>
          </a:p>
          <a:p>
            <a:pPr>
              <a:buNone/>
            </a:pPr>
            <a:r>
              <a:rPr lang="en-US" sz="7200" b="1" dirty="0"/>
              <a:t>Q 3. Which of the following is true about F?</a:t>
            </a:r>
          </a:p>
          <a:p>
            <a:pPr>
              <a:buNone/>
            </a:pPr>
            <a:r>
              <a:rPr lang="en-US" sz="7200" b="1" dirty="0"/>
              <a:t>A. Brother of B		</a:t>
            </a:r>
            <a:r>
              <a:rPr lang="en-US" sz="7200" b="1" dirty="0" err="1"/>
              <a:t>B</a:t>
            </a:r>
            <a:r>
              <a:rPr lang="en-US" sz="7200" b="1" dirty="0"/>
              <a:t>. Sister of B		C. Daughter of C		D. Either sister or brother of B </a:t>
            </a:r>
          </a:p>
          <a:p>
            <a:pPr>
              <a:buNone/>
            </a:pPr>
            <a:r>
              <a:rPr lang="en-US" sz="7200" b="1" dirty="0"/>
              <a:t>E. None of these</a:t>
            </a:r>
          </a:p>
          <a:p>
            <a:pPr>
              <a:buNone/>
            </a:pPr>
            <a:r>
              <a:rPr lang="en-US" sz="7200" b="1" dirty="0"/>
              <a:t>Q 4. Which of the following is the </a:t>
            </a:r>
            <a:r>
              <a:rPr lang="en-US" sz="7200" b="1" dirty="0" err="1"/>
              <a:t>colour</a:t>
            </a:r>
            <a:r>
              <a:rPr lang="en-US" sz="7200" b="1" dirty="0"/>
              <a:t> combination of one of the couples?</a:t>
            </a:r>
          </a:p>
          <a:p>
            <a:pPr>
              <a:buNone/>
            </a:pPr>
            <a:r>
              <a:rPr lang="en-US" sz="7200" b="1" dirty="0"/>
              <a:t>A. Red – Yellow		B. Yellow – Red		C. Green - Black 	D. Yellow – Green	</a:t>
            </a:r>
          </a:p>
          <a:p>
            <a:pPr>
              <a:buNone/>
            </a:pPr>
            <a:r>
              <a:rPr lang="en-US" sz="7200" b="1" dirty="0"/>
              <a:t>E. None of these</a:t>
            </a:r>
          </a:p>
          <a:p>
            <a:pPr>
              <a:buNone/>
            </a:pPr>
            <a:r>
              <a:rPr lang="en-US" sz="7200" b="1" dirty="0"/>
              <a:t>Q5. Which of the following is one of the married couples?</a:t>
            </a:r>
          </a:p>
          <a:p>
            <a:pPr>
              <a:buNone/>
            </a:pPr>
            <a:r>
              <a:rPr lang="en-US" sz="7200" b="1" dirty="0"/>
              <a:t>A. AC			B. CD			C. DA			D. Cannot be determined	</a:t>
            </a:r>
          </a:p>
          <a:p>
            <a:pPr>
              <a:buNone/>
            </a:pPr>
            <a:r>
              <a:rPr lang="en-US" sz="7200" b="1" dirty="0"/>
              <a:t>E. None of these</a:t>
            </a:r>
          </a:p>
          <a:p>
            <a:r>
              <a:rPr lang="en-US" dirty="0"/>
              <a:t> </a:t>
            </a:r>
          </a:p>
          <a:p>
            <a:pPr marL="457200" indent="-457200"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dirty="0"/>
              <a:t> </a:t>
            </a:r>
            <a:endParaRPr lang="en-US" b="1" dirty="0"/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98AC994-6368-59DE-51E6-27D37F754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868B89-2724-DCFC-26BA-ED32D7AD2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</a:t>
            </a:r>
            <a:r>
              <a:rPr lang="en-US" sz="9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PUZZLE TEST(EXERCISE: C)</a:t>
            </a:r>
          </a:p>
          <a:p>
            <a:pPr>
              <a:buNone/>
            </a:pPr>
            <a:r>
              <a:rPr lang="en-US" sz="7200" b="1" dirty="0"/>
              <a:t>Q 1. Which of the following is the </a:t>
            </a:r>
            <a:r>
              <a:rPr lang="en-US" sz="7200" b="1" dirty="0" err="1"/>
              <a:t>colour</a:t>
            </a:r>
            <a:r>
              <a:rPr lang="en-US" sz="7200" b="1" dirty="0"/>
              <a:t> preference of A?</a:t>
            </a:r>
          </a:p>
          <a:p>
            <a:pPr marL="457200" indent="-457200">
              <a:buNone/>
            </a:pPr>
            <a:r>
              <a:rPr lang="en-US" sz="7200" b="1" dirty="0"/>
              <a:t>A. Red			</a:t>
            </a:r>
            <a:r>
              <a:rPr lang="en-US" sz="7200" b="1" dirty="0">
                <a:solidFill>
                  <a:srgbClr val="FF0000"/>
                </a:solidFill>
              </a:rPr>
              <a:t>B. Yellow</a:t>
            </a:r>
            <a:r>
              <a:rPr lang="en-US" sz="7200" b="1" dirty="0"/>
              <a:t>		C. Either Red or Yellow	D. Cannot be determined	</a:t>
            </a:r>
          </a:p>
          <a:p>
            <a:pPr marL="457200" indent="-457200">
              <a:buNone/>
            </a:pPr>
            <a:r>
              <a:rPr lang="en-US" sz="7200" b="1" dirty="0"/>
              <a:t>E. None of these</a:t>
            </a:r>
          </a:p>
          <a:p>
            <a:pPr>
              <a:buNone/>
            </a:pPr>
            <a:r>
              <a:rPr lang="en-US" sz="7200" b="1" dirty="0"/>
              <a:t>Q2. How many male members are there in the family?</a:t>
            </a:r>
          </a:p>
          <a:p>
            <a:pPr>
              <a:buNone/>
            </a:pPr>
            <a:r>
              <a:rPr lang="en-US" sz="7200" b="1" dirty="0"/>
              <a:t>A. Two			B. Three		C. one</a:t>
            </a:r>
            <a:r>
              <a:rPr lang="en-US" sz="7200" b="1" dirty="0">
                <a:solidFill>
                  <a:schemeClr val="accent2"/>
                </a:solidFill>
              </a:rPr>
              <a:t>	</a:t>
            </a:r>
            <a:r>
              <a:rPr lang="en-US" sz="7200" b="1" dirty="0"/>
              <a:t>		D. Cannot be determined	</a:t>
            </a:r>
          </a:p>
          <a:p>
            <a:pPr>
              <a:buNone/>
            </a:pPr>
            <a:r>
              <a:rPr lang="en-US" sz="7200" b="1" dirty="0">
                <a:solidFill>
                  <a:srgbClr val="FF0000"/>
                </a:solidFill>
              </a:rPr>
              <a:t>E. None of these</a:t>
            </a:r>
          </a:p>
          <a:p>
            <a:pPr>
              <a:buNone/>
            </a:pPr>
            <a:r>
              <a:rPr lang="en-US" sz="7200" b="1" dirty="0"/>
              <a:t>Q 3. Which of the following is true about F?</a:t>
            </a:r>
          </a:p>
          <a:p>
            <a:pPr>
              <a:buNone/>
            </a:pPr>
            <a:r>
              <a:rPr lang="en-US" sz="7200" b="1" dirty="0"/>
              <a:t>A. Brother of B		</a:t>
            </a:r>
            <a:r>
              <a:rPr lang="en-US" sz="7200" b="1" dirty="0" err="1"/>
              <a:t>B</a:t>
            </a:r>
            <a:r>
              <a:rPr lang="en-US" sz="7200" b="1" dirty="0"/>
              <a:t>. Sister of B		C. Daughter of C		</a:t>
            </a:r>
            <a:r>
              <a:rPr lang="en-US" sz="7200" b="1" dirty="0">
                <a:solidFill>
                  <a:srgbClr val="FF0000"/>
                </a:solidFill>
              </a:rPr>
              <a:t>D. Either sister or brother of B </a:t>
            </a:r>
          </a:p>
          <a:p>
            <a:pPr>
              <a:buNone/>
            </a:pPr>
            <a:r>
              <a:rPr lang="en-US" sz="7200" b="1" dirty="0"/>
              <a:t>E. None of these</a:t>
            </a:r>
          </a:p>
          <a:p>
            <a:pPr>
              <a:buNone/>
            </a:pPr>
            <a:r>
              <a:rPr lang="en-US" sz="7200" b="1" dirty="0"/>
              <a:t>Q 4. Which of the following is the </a:t>
            </a:r>
            <a:r>
              <a:rPr lang="en-US" sz="7200" b="1" dirty="0" err="1"/>
              <a:t>colour</a:t>
            </a:r>
            <a:r>
              <a:rPr lang="en-US" sz="7200" b="1" dirty="0"/>
              <a:t> combination of one of the couples?</a:t>
            </a:r>
          </a:p>
          <a:p>
            <a:pPr>
              <a:buNone/>
            </a:pPr>
            <a:r>
              <a:rPr lang="en-US" sz="7200" b="1" dirty="0"/>
              <a:t>A. Red – Yellow		B. Yellow – Red		C. Green - Black 	</a:t>
            </a:r>
            <a:r>
              <a:rPr lang="en-US" sz="7200" b="1" dirty="0">
                <a:solidFill>
                  <a:srgbClr val="FF0000"/>
                </a:solidFill>
              </a:rPr>
              <a:t>D. Yellow – Green</a:t>
            </a:r>
            <a:r>
              <a:rPr lang="en-US" sz="7200" b="1" dirty="0"/>
              <a:t>	</a:t>
            </a:r>
          </a:p>
          <a:p>
            <a:pPr>
              <a:buNone/>
            </a:pPr>
            <a:r>
              <a:rPr lang="en-US" sz="7200" b="1" dirty="0"/>
              <a:t>E. None of these</a:t>
            </a:r>
          </a:p>
          <a:p>
            <a:pPr>
              <a:buNone/>
            </a:pPr>
            <a:r>
              <a:rPr lang="en-US" sz="7200" b="1" dirty="0"/>
              <a:t>Q5. Which of the following is one of the married couples?</a:t>
            </a:r>
          </a:p>
          <a:p>
            <a:pPr>
              <a:buNone/>
            </a:pPr>
            <a:r>
              <a:rPr lang="en-US" sz="7200" b="1" dirty="0"/>
              <a:t>A. AC			</a:t>
            </a:r>
            <a:r>
              <a:rPr lang="en-US" sz="7200" b="1" dirty="0">
                <a:solidFill>
                  <a:srgbClr val="FF0000"/>
                </a:solidFill>
              </a:rPr>
              <a:t>B. CD</a:t>
            </a:r>
            <a:r>
              <a:rPr lang="en-US" sz="7200" b="1" dirty="0"/>
              <a:t>			C. DA			D. Cannot be determined	</a:t>
            </a:r>
          </a:p>
          <a:p>
            <a:pPr>
              <a:buNone/>
            </a:pPr>
            <a:r>
              <a:rPr lang="en-US" sz="7200" b="1" dirty="0"/>
              <a:t>E. None of these</a:t>
            </a:r>
          </a:p>
          <a:p>
            <a:r>
              <a:rPr lang="en-US" dirty="0"/>
              <a:t> </a:t>
            </a:r>
          </a:p>
          <a:p>
            <a:pPr marL="457200" indent="-457200"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dirty="0"/>
              <a:t> </a:t>
            </a:r>
            <a:endParaRPr lang="en-US" b="1" dirty="0"/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336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C)</a:t>
            </a:r>
          </a:p>
          <a:p>
            <a:pPr>
              <a:buNone/>
            </a:pPr>
            <a:r>
              <a:rPr lang="en-US" sz="1800" b="1" dirty="0"/>
              <a:t>Questions (6 – 10):  Study the information given below to answer these Questions.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There is a family of 5 persons A, B, C, D and E</a:t>
            </a:r>
          </a:p>
          <a:p>
            <a:pPr>
              <a:buNone/>
            </a:pPr>
            <a:r>
              <a:rPr lang="en-US" sz="1800" b="1" dirty="0"/>
              <a:t>ii.	They are working as a doctor, a teacher, a trader, a lawyer and a farmer</a:t>
            </a:r>
          </a:p>
          <a:p>
            <a:pPr>
              <a:buNone/>
            </a:pPr>
            <a:r>
              <a:rPr lang="en-US" sz="1800" b="1" dirty="0"/>
              <a:t>iii. B, an unmarried teacher, is the daughter of A</a:t>
            </a:r>
          </a:p>
          <a:p>
            <a:pPr>
              <a:buNone/>
            </a:pPr>
            <a:r>
              <a:rPr lang="en-US" sz="1800" b="1" dirty="0"/>
              <a:t>iv. E, a lawyer, is the brother of C</a:t>
            </a:r>
          </a:p>
          <a:p>
            <a:pPr>
              <a:buNone/>
            </a:pPr>
            <a:r>
              <a:rPr lang="en-US" sz="1800" b="1" dirty="0"/>
              <a:t>v.	C is the husband of the only married couple in the family</a:t>
            </a:r>
          </a:p>
          <a:p>
            <a:pPr>
              <a:buNone/>
            </a:pPr>
            <a:r>
              <a:rPr lang="en-US" sz="1800" b="1" dirty="0"/>
              <a:t>vi. A, a farmer, is a father of two sons and on unmarried daughter.</a:t>
            </a:r>
          </a:p>
          <a:p>
            <a:pPr>
              <a:buNone/>
            </a:pPr>
            <a:r>
              <a:rPr lang="en-US" sz="1800" b="1" dirty="0"/>
              <a:t>vii. Daughter in law of A is a doctor.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 </a:t>
            </a:r>
          </a:p>
          <a:p>
            <a:pPr>
              <a:buNone/>
            </a:pPr>
            <a:r>
              <a:rPr lang="en-US" b="1" dirty="0">
                <a:latin typeface="Arial Black" pitchFamily="34" charset="0"/>
              </a:rPr>
              <a:t> </a:t>
            </a:r>
            <a:r>
              <a:rPr lang="en-US" b="1" dirty="0"/>
              <a:t> 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TEST(EXERCISE:C)</a:t>
            </a:r>
          </a:p>
          <a:p>
            <a:pPr>
              <a:buNone/>
            </a:pPr>
            <a:r>
              <a:rPr lang="en-US" b="1" dirty="0"/>
              <a:t>Q 6. Which of the following is a group of female members in the family?</a:t>
            </a:r>
          </a:p>
          <a:p>
            <a:pPr marL="457200" indent="-457200">
              <a:buNone/>
            </a:pPr>
            <a:r>
              <a:rPr lang="en-US" b="1" dirty="0"/>
              <a:t>(a) B and D		(b) D and E		(c) A, C and E		(d) B and C</a:t>
            </a:r>
          </a:p>
          <a:p>
            <a:pPr marL="457200" indent="-45720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7. Which of the following is the married couple?</a:t>
            </a:r>
          </a:p>
          <a:p>
            <a:pPr>
              <a:buNone/>
            </a:pPr>
            <a:r>
              <a:rPr lang="en-US" b="1" dirty="0"/>
              <a:t>(a) A and B		(b) C and D		(c) A and D		(d) B and D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8. Which of the following is a group of male members in the family?</a:t>
            </a:r>
          </a:p>
          <a:p>
            <a:pPr>
              <a:buNone/>
            </a:pPr>
            <a:r>
              <a:rPr lang="en-US" b="1" dirty="0"/>
              <a:t>(a) A, B and C		(b) B and D		(c) A, C and E		(d) A, C and D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9. Who is the doctor in the family?</a:t>
            </a:r>
          </a:p>
          <a:p>
            <a:pPr>
              <a:buNone/>
            </a:pPr>
            <a:r>
              <a:rPr lang="en-US" b="1" dirty="0"/>
              <a:t>(a) A			(b) B			(c) C			(d) D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10. Who is the trader in the family?</a:t>
            </a:r>
          </a:p>
          <a:p>
            <a:pPr>
              <a:buNone/>
            </a:pPr>
            <a:r>
              <a:rPr lang="en-US" b="1" dirty="0"/>
              <a:t>(a) A			(b) B			(c) C			(d) D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421024-3FB5-DB5F-1CB5-F01A2CF4A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8033-CF33-9AAE-08D3-BD0BE0ACE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TEST(EXERCISE:C)</a:t>
            </a:r>
          </a:p>
          <a:p>
            <a:pPr>
              <a:buNone/>
            </a:pPr>
            <a:r>
              <a:rPr lang="en-US" b="1" dirty="0"/>
              <a:t>Q 6. Which of the following is a group of female members in the family?</a:t>
            </a:r>
          </a:p>
          <a:p>
            <a:pPr marL="457200" indent="-457200">
              <a:buNone/>
            </a:pPr>
            <a:r>
              <a:rPr lang="en-US" b="1" dirty="0">
                <a:solidFill>
                  <a:srgbClr val="FF0000"/>
                </a:solidFill>
              </a:rPr>
              <a:t>(a) B and D</a:t>
            </a:r>
            <a:r>
              <a:rPr lang="en-US" b="1" dirty="0"/>
              <a:t>		(b) D and E		(c) A, C and E		(d) B and C</a:t>
            </a:r>
          </a:p>
          <a:p>
            <a:pPr marL="457200" indent="-457200"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Q 7. Which of the following is the married couple?</a:t>
            </a:r>
          </a:p>
          <a:p>
            <a:pPr>
              <a:buNone/>
            </a:pPr>
            <a:r>
              <a:rPr lang="en-US" b="1" dirty="0"/>
              <a:t>(a) A and B		</a:t>
            </a:r>
            <a:r>
              <a:rPr lang="en-US" b="1" dirty="0">
                <a:solidFill>
                  <a:srgbClr val="FF0000"/>
                </a:solidFill>
              </a:rPr>
              <a:t>(b) C and D</a:t>
            </a:r>
            <a:r>
              <a:rPr lang="en-US" b="1" dirty="0"/>
              <a:t>		(c) A and D		(d) B and D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8. Which of the following is a group of male members in the family?</a:t>
            </a:r>
          </a:p>
          <a:p>
            <a:pPr>
              <a:buNone/>
            </a:pPr>
            <a:r>
              <a:rPr lang="en-US" b="1" dirty="0"/>
              <a:t>(a) A, B and C		(b) B and D		</a:t>
            </a:r>
            <a:r>
              <a:rPr lang="en-US" b="1" dirty="0">
                <a:solidFill>
                  <a:srgbClr val="FF0000"/>
                </a:solidFill>
              </a:rPr>
              <a:t>(c) A, C and E</a:t>
            </a:r>
            <a:r>
              <a:rPr lang="en-US" b="1" dirty="0"/>
              <a:t>		(d) A, C and D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9. Who is the doctor in the family?</a:t>
            </a:r>
          </a:p>
          <a:p>
            <a:pPr>
              <a:buNone/>
            </a:pPr>
            <a:r>
              <a:rPr lang="en-US" b="1" dirty="0"/>
              <a:t>(a) A			(b) B			(c) C			</a:t>
            </a:r>
            <a:r>
              <a:rPr lang="en-US" b="1" dirty="0">
                <a:solidFill>
                  <a:srgbClr val="FF0000"/>
                </a:solidFill>
              </a:rPr>
              <a:t>(d) D</a:t>
            </a:r>
          </a:p>
          <a:p>
            <a:pPr>
              <a:buNone/>
            </a:pPr>
            <a:r>
              <a:rPr lang="en-US" b="1" dirty="0"/>
              <a:t> </a:t>
            </a:r>
          </a:p>
          <a:p>
            <a:pPr>
              <a:buNone/>
            </a:pPr>
            <a:r>
              <a:rPr lang="en-US" b="1" dirty="0"/>
              <a:t>Q 10. Who is the trader in the family?</a:t>
            </a:r>
          </a:p>
          <a:p>
            <a:pPr>
              <a:buNone/>
            </a:pPr>
            <a:r>
              <a:rPr lang="en-US" b="1" dirty="0"/>
              <a:t>(a) A			(b) B			</a:t>
            </a:r>
            <a:r>
              <a:rPr lang="en-US" b="1" dirty="0">
                <a:solidFill>
                  <a:srgbClr val="FF0000"/>
                </a:solidFill>
              </a:rPr>
              <a:t>(c) C</a:t>
            </a:r>
            <a:r>
              <a:rPr lang="en-US" b="1" dirty="0"/>
              <a:t>			(d) D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3805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733048" cy="53445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C)</a:t>
            </a:r>
          </a:p>
          <a:p>
            <a:pPr>
              <a:buNone/>
            </a:pPr>
            <a:r>
              <a:rPr lang="en-US" sz="1800" b="1" dirty="0"/>
              <a:t>Questions (11 – 15): Study the information given below to answer these Questions.</a:t>
            </a:r>
          </a:p>
          <a:p>
            <a:pPr>
              <a:buNone/>
            </a:pPr>
            <a:r>
              <a:rPr lang="en-US" sz="1800" b="1" dirty="0"/>
              <a:t>In a family of 6, there are 3 men X, Y and Z and 3 women A, B and C. These six are Architect, Lawyer, Chartered Accountant (CA), Professor, Doctor and Engineer by profession but not in the same order. </a:t>
            </a:r>
          </a:p>
          <a:p>
            <a:pPr>
              <a:buNone/>
            </a:pPr>
            <a:r>
              <a:rPr lang="en-US" sz="1800" b="1" dirty="0" err="1"/>
              <a:t>i</a:t>
            </a:r>
            <a:r>
              <a:rPr lang="en-US" sz="1800" b="1" dirty="0"/>
              <a:t>.	There are two married couples and 2 unmarried persons. </a:t>
            </a:r>
          </a:p>
          <a:p>
            <a:pPr>
              <a:buNone/>
            </a:pPr>
            <a:r>
              <a:rPr lang="en-US" sz="1800" b="1" dirty="0"/>
              <a:t>ii.	Z is not A’s husband. </a:t>
            </a:r>
          </a:p>
          <a:p>
            <a:pPr>
              <a:buNone/>
            </a:pPr>
            <a:r>
              <a:rPr lang="en-US" sz="1800" b="1" dirty="0"/>
              <a:t>iii. The doctor is married to the lawyer. </a:t>
            </a:r>
          </a:p>
          <a:p>
            <a:pPr>
              <a:buNone/>
            </a:pPr>
            <a:r>
              <a:rPr lang="en-US" sz="1800" b="1" dirty="0"/>
              <a:t>iv. A’s father is a professor.</a:t>
            </a:r>
          </a:p>
          <a:p>
            <a:pPr>
              <a:buNone/>
            </a:pPr>
            <a:r>
              <a:rPr lang="en-US" sz="1800" b="1" dirty="0"/>
              <a:t>v.	Y is neither X’s son, nor he is an architect or professor. </a:t>
            </a:r>
          </a:p>
          <a:p>
            <a:pPr>
              <a:buNone/>
            </a:pPr>
            <a:r>
              <a:rPr lang="en-US" sz="1800" b="1" dirty="0"/>
              <a:t>vi. The lawyer is C’s daughter–in–law.</a:t>
            </a:r>
          </a:p>
          <a:p>
            <a:pPr>
              <a:buNone/>
            </a:pPr>
            <a:r>
              <a:rPr lang="en-US" sz="1800" b="1" dirty="0"/>
              <a:t>vii. X is married to the Chartered Accountant (CA).</a:t>
            </a:r>
          </a:p>
          <a:p>
            <a:pPr>
              <a:buNone/>
            </a:pPr>
            <a:r>
              <a:rPr lang="en-US" b="1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952" y="1072055"/>
            <a:ext cx="11987048" cy="534451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C)</a:t>
            </a:r>
          </a:p>
          <a:p>
            <a:pPr>
              <a:buNone/>
            </a:pPr>
            <a:r>
              <a:rPr lang="en-US" sz="2300" b="1" dirty="0"/>
              <a:t>Q 11. Who is the Architect?</a:t>
            </a:r>
          </a:p>
          <a:p>
            <a:pPr marL="457200" indent="-457200">
              <a:buAutoNum type="alphaLcParenR"/>
            </a:pPr>
            <a:r>
              <a:rPr lang="en-US" sz="2300" b="1" dirty="0"/>
              <a:t>A			b) B			c) X			d) Z</a:t>
            </a:r>
          </a:p>
          <a:p>
            <a:pPr marL="0" indent="0">
              <a:buNone/>
            </a:pPr>
            <a:endParaRPr lang="en-US" sz="2300" b="1" dirty="0"/>
          </a:p>
          <a:p>
            <a:pPr>
              <a:buNone/>
            </a:pPr>
            <a:r>
              <a:rPr lang="en-US" sz="2300" b="1" dirty="0"/>
              <a:t>Q 12. Which of the following is a married couple?</a:t>
            </a:r>
          </a:p>
          <a:p>
            <a:pPr>
              <a:buNone/>
            </a:pPr>
            <a:r>
              <a:rPr lang="en-US" sz="2300" b="1" dirty="0"/>
              <a:t>a)  X and B		</a:t>
            </a:r>
            <a:r>
              <a:rPr lang="en-US" sz="2300" b="1" dirty="0" err="1"/>
              <a:t>b</a:t>
            </a:r>
            <a:r>
              <a:rPr lang="en-US" sz="2300" b="1" dirty="0"/>
              <a:t>) X and C		</a:t>
            </a:r>
            <a:r>
              <a:rPr lang="en-US" sz="2300" b="1" dirty="0" err="1"/>
              <a:t>c</a:t>
            </a:r>
            <a:r>
              <a:rPr lang="en-US" sz="2300" b="1" dirty="0"/>
              <a:t>) Y and A		d) Z and A</a:t>
            </a:r>
          </a:p>
          <a:p>
            <a:pPr>
              <a:buNone/>
            </a:pPr>
            <a:r>
              <a:rPr lang="en-US" sz="2300" b="1" dirty="0"/>
              <a:t> </a:t>
            </a:r>
          </a:p>
          <a:p>
            <a:pPr>
              <a:buNone/>
            </a:pPr>
            <a:r>
              <a:rPr lang="en-US" sz="2300" b="1" dirty="0"/>
              <a:t>Q 13. Which of the following combinations of person and profession is correct?</a:t>
            </a:r>
          </a:p>
          <a:p>
            <a:pPr>
              <a:buNone/>
            </a:pPr>
            <a:r>
              <a:rPr lang="en-US" sz="2300" b="1" dirty="0"/>
              <a:t>a) B – Doctor		b) Y – Professor	c)Z – Lawyer		d) C - Chartered Accountant</a:t>
            </a:r>
          </a:p>
          <a:p>
            <a:pPr>
              <a:buNone/>
            </a:pPr>
            <a:r>
              <a:rPr lang="en-US" sz="2300" b="1" dirty="0"/>
              <a:t> </a:t>
            </a:r>
          </a:p>
          <a:p>
            <a:pPr>
              <a:buNone/>
            </a:pPr>
            <a:r>
              <a:rPr lang="en-US" sz="2300" b="1" dirty="0"/>
              <a:t>Q 14. Which of the given Statements is superfluous and can be dispensed with?</a:t>
            </a:r>
          </a:p>
          <a:p>
            <a:pPr>
              <a:buNone/>
            </a:pPr>
            <a:r>
              <a:rPr lang="en-US" sz="2300" b="1" dirty="0"/>
              <a:t>a).I			b) II			c)VI			d) VII</a:t>
            </a:r>
          </a:p>
          <a:p>
            <a:pPr>
              <a:buNone/>
            </a:pPr>
            <a:r>
              <a:rPr lang="en-US" sz="2300" b="1" dirty="0"/>
              <a:t> </a:t>
            </a:r>
          </a:p>
          <a:p>
            <a:pPr>
              <a:buNone/>
            </a:pPr>
            <a:r>
              <a:rPr lang="en-US" sz="2300" b="1" dirty="0"/>
              <a:t>Q 15. Who are the two unmarried persons?</a:t>
            </a:r>
          </a:p>
          <a:p>
            <a:pPr>
              <a:buNone/>
            </a:pPr>
            <a:r>
              <a:rPr lang="en-US" sz="2300" b="1" dirty="0"/>
              <a:t>A) None of these		b)Y and B		c) Z and A		d)Z and B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F867C1-6F0F-82BF-1282-D32B8B15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8DB1F6-FCAF-68F9-7B6F-066FE5AEC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52" y="1072055"/>
            <a:ext cx="11987048" cy="534451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Arial Black" pitchFamily="34" charset="0"/>
              </a:rPr>
              <a:t>			PUZZLE TEST(EXERCISE: C)</a:t>
            </a:r>
          </a:p>
          <a:p>
            <a:pPr>
              <a:buNone/>
            </a:pPr>
            <a:r>
              <a:rPr lang="en-US" sz="2300" b="1" dirty="0"/>
              <a:t>Q 11. Who is the Architect?</a:t>
            </a:r>
          </a:p>
          <a:p>
            <a:pPr marL="457200" indent="-457200">
              <a:buAutoNum type="alphaLcParenR"/>
            </a:pPr>
            <a:r>
              <a:rPr lang="en-US" sz="2300" b="1" dirty="0">
                <a:solidFill>
                  <a:srgbClr val="FF0000"/>
                </a:solidFill>
              </a:rPr>
              <a:t>A</a:t>
            </a:r>
            <a:r>
              <a:rPr lang="en-US" sz="2300" b="1" dirty="0"/>
              <a:t>			b) B			c) X			d) Z</a:t>
            </a:r>
          </a:p>
          <a:p>
            <a:pPr marL="457200" indent="-457200">
              <a:buAutoNum type="alphaLcParenR"/>
            </a:pPr>
            <a:endParaRPr lang="en-US" sz="2300" b="1" dirty="0"/>
          </a:p>
          <a:p>
            <a:pPr>
              <a:buNone/>
            </a:pPr>
            <a:r>
              <a:rPr lang="en-US" sz="2300" b="1" dirty="0"/>
              <a:t>Q 12. Which of the following is a married couple?</a:t>
            </a:r>
          </a:p>
          <a:p>
            <a:pPr>
              <a:buNone/>
            </a:pPr>
            <a:r>
              <a:rPr lang="en-US" sz="2300" b="1" dirty="0"/>
              <a:t>a)  X and B		</a:t>
            </a:r>
            <a:r>
              <a:rPr lang="en-US" sz="2300" b="1" dirty="0" err="1">
                <a:solidFill>
                  <a:srgbClr val="FF0000"/>
                </a:solidFill>
              </a:rPr>
              <a:t>b</a:t>
            </a:r>
            <a:r>
              <a:rPr lang="en-US" sz="2300" b="1" dirty="0">
                <a:solidFill>
                  <a:srgbClr val="FF0000"/>
                </a:solidFill>
              </a:rPr>
              <a:t>) X and C</a:t>
            </a:r>
            <a:r>
              <a:rPr lang="en-US" sz="2300" b="1" dirty="0"/>
              <a:t>		</a:t>
            </a:r>
            <a:r>
              <a:rPr lang="en-US" sz="2300" b="1" dirty="0" err="1"/>
              <a:t>c</a:t>
            </a:r>
            <a:r>
              <a:rPr lang="en-US" sz="2300" b="1" dirty="0"/>
              <a:t>) Y and A		d) Z and A</a:t>
            </a:r>
          </a:p>
          <a:p>
            <a:pPr>
              <a:buNone/>
            </a:pPr>
            <a:r>
              <a:rPr lang="en-US" sz="2300" b="1" dirty="0"/>
              <a:t> </a:t>
            </a:r>
          </a:p>
          <a:p>
            <a:pPr>
              <a:buNone/>
            </a:pPr>
            <a:r>
              <a:rPr lang="en-US" sz="2300" b="1" dirty="0"/>
              <a:t>Q 13. Which of the following combinations of person and profession is correct?</a:t>
            </a:r>
          </a:p>
          <a:p>
            <a:pPr>
              <a:buNone/>
            </a:pPr>
            <a:r>
              <a:rPr lang="en-US" sz="2300" b="1" dirty="0"/>
              <a:t>a) B – Doctor		b) Y – Professor	c)Z – Lawyer		</a:t>
            </a:r>
            <a:r>
              <a:rPr lang="en-US" sz="2300" b="1" dirty="0">
                <a:solidFill>
                  <a:srgbClr val="FF0000"/>
                </a:solidFill>
              </a:rPr>
              <a:t>d) C - Chartered Accountant</a:t>
            </a:r>
          </a:p>
          <a:p>
            <a:pPr>
              <a:buNone/>
            </a:pPr>
            <a:r>
              <a:rPr lang="en-US" sz="2300" b="1" dirty="0"/>
              <a:t> </a:t>
            </a:r>
          </a:p>
          <a:p>
            <a:pPr>
              <a:buNone/>
            </a:pPr>
            <a:r>
              <a:rPr lang="en-US" sz="2300" b="1" dirty="0"/>
              <a:t>Q 14. Which of the given Statements is superfluous and can be dispensed with?</a:t>
            </a:r>
          </a:p>
          <a:p>
            <a:pPr>
              <a:buNone/>
            </a:pPr>
            <a:r>
              <a:rPr lang="en-US" sz="2300" b="1" dirty="0"/>
              <a:t>a).I			</a:t>
            </a:r>
            <a:r>
              <a:rPr lang="en-US" sz="2300" b="1" dirty="0">
                <a:solidFill>
                  <a:srgbClr val="FF0000"/>
                </a:solidFill>
              </a:rPr>
              <a:t>b) II	</a:t>
            </a:r>
            <a:r>
              <a:rPr lang="en-US" sz="2300" b="1" dirty="0"/>
              <a:t>		c)VI			d) VII</a:t>
            </a:r>
          </a:p>
          <a:p>
            <a:pPr>
              <a:buNone/>
            </a:pPr>
            <a:r>
              <a:rPr lang="en-US" sz="2300" b="1" dirty="0"/>
              <a:t> </a:t>
            </a:r>
          </a:p>
          <a:p>
            <a:pPr>
              <a:buNone/>
            </a:pPr>
            <a:r>
              <a:rPr lang="en-US" sz="2300" b="1" dirty="0"/>
              <a:t>Q 15. Who are the two unmarried persons?</a:t>
            </a:r>
          </a:p>
          <a:p>
            <a:pPr>
              <a:buNone/>
            </a:pPr>
            <a:r>
              <a:rPr lang="en-US" sz="2300" b="1" dirty="0">
                <a:solidFill>
                  <a:srgbClr val="FF0000"/>
                </a:solidFill>
              </a:rPr>
              <a:t>A) None of these</a:t>
            </a:r>
            <a:r>
              <a:rPr lang="en-US" sz="2300" b="1" dirty="0"/>
              <a:t>		b)Y and B		c) Z and A		d)Z and B</a:t>
            </a:r>
          </a:p>
          <a:p>
            <a:pPr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7415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1AEBB5B-7DAF-FBDF-017E-6628A48D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6B478-C48C-8AC3-9D58-9B20772CB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52" y="1072055"/>
            <a:ext cx="11987048" cy="5344511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4800" b="1" dirty="0">
              <a:solidFill>
                <a:srgbClr val="FF0000"/>
              </a:solidFill>
              <a:latin typeface="Arial Black" pitchFamily="34" charset="0"/>
            </a:endParaRPr>
          </a:p>
          <a:p>
            <a:pPr>
              <a:buNone/>
            </a:pPr>
            <a:endParaRPr lang="en-US" sz="4800" b="1" dirty="0">
              <a:solidFill>
                <a:srgbClr val="FF0000"/>
              </a:solidFill>
              <a:latin typeface="Arial Black" pitchFamily="34" charset="0"/>
            </a:endParaRPr>
          </a:p>
          <a:p>
            <a:pPr>
              <a:buNone/>
            </a:pPr>
            <a:endParaRPr lang="en-US" sz="4800" b="1" dirty="0">
              <a:solidFill>
                <a:srgbClr val="FF0000"/>
              </a:solidFill>
              <a:latin typeface="Arial Black" pitchFamily="34" charset="0"/>
            </a:endParaRPr>
          </a:p>
          <a:p>
            <a:pPr>
              <a:buNone/>
            </a:pPr>
            <a:r>
              <a:rPr lang="en-US" sz="4800" b="1" dirty="0">
                <a:solidFill>
                  <a:srgbClr val="FF0000"/>
                </a:solidFill>
                <a:latin typeface="Arial Black" pitchFamily="34" charset="0"/>
              </a:rPr>
              <a:t>                  THANK YOU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430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urPrep-Template.potx" id="{C3B8A6E5-A804-4E60-8D1B-A5B40FD32CD2}" vid="{258A70D1-D6EF-4570-8CD5-A0E127F22F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TesturPrep-Template</Template>
  <TotalTime>1179</TotalTime>
  <Words>1786</Words>
  <Application>Microsoft Office PowerPoint</Application>
  <PresentationFormat>Widescreen</PresentationFormat>
  <Paragraphs>148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-10 (CBSE)</dc:title>
  <dc:creator>anuj gupta</dc:creator>
  <cp:lastModifiedBy>Suresh Sanwak</cp:lastModifiedBy>
  <cp:revision>185</cp:revision>
  <dcterms:created xsi:type="dcterms:W3CDTF">2020-02-23T06:37:57Z</dcterms:created>
  <dcterms:modified xsi:type="dcterms:W3CDTF">2024-12-13T04:43:27Z</dcterms:modified>
</cp:coreProperties>
</file>