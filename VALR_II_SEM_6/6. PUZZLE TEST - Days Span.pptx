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9" r:id="rId2"/>
    <p:sldId id="359" r:id="rId3"/>
    <p:sldId id="360" r:id="rId4"/>
    <p:sldId id="370" r:id="rId5"/>
    <p:sldId id="361" r:id="rId6"/>
    <p:sldId id="362" r:id="rId7"/>
    <p:sldId id="371" r:id="rId8"/>
    <p:sldId id="365" r:id="rId9"/>
    <p:sldId id="366" r:id="rId10"/>
    <p:sldId id="373" r:id="rId11"/>
    <p:sldId id="3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 autoAdjust="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FCA5F5E-D9F5-4744-B543-9AF39C52DBE3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CDCC60-433C-4D80-B046-60440ADA613D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F4669-2972-4A62-937C-8770006AA351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</p:spPr>
        <p:txBody>
          <a:bodyPr>
            <a:normAutofit/>
          </a:bodyPr>
          <a:lstStyle>
            <a:lvl1pPr algn="ctr">
              <a:tabLst>
                <a:tab pos="1790700" algn="l"/>
              </a:tabLst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F38C1C8-344A-4ACE-B6A4-2BA3E602ECB5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F9B3D1-7DD8-405D-A925-20FEB2EA51F2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DA40F-1448-4E04-A4CC-A0C240DC53FB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4A5B36-9C81-4DC5-AB3E-D53D3DF8AA5F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26FFB0-7B36-4783-8239-761E300FA624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99620"/>
            <a:ext cx="11684000" cy="4991630"/>
          </a:xfrm>
        </p:spPr>
        <p:txBody>
          <a:bodyPr>
            <a:normAutofit/>
          </a:bodyPr>
          <a:lstStyle>
            <a:lvl1pPr>
              <a:defRPr lang="en-IN" sz="2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9529"/>
            <a:ext cx="11987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8800" b="1" dirty="0">
                <a:solidFill>
                  <a:srgbClr val="FF0000"/>
                </a:solidFill>
                <a:latin typeface="Arial Black" pitchFamily="34" charset="0"/>
              </a:rPr>
              <a:t>			PUZZLE TEST</a:t>
            </a:r>
          </a:p>
          <a:p>
            <a:pPr>
              <a:buNone/>
            </a:pPr>
            <a:r>
              <a:rPr lang="en-US" sz="8800" b="1" dirty="0">
                <a:solidFill>
                  <a:srgbClr val="FF0000"/>
                </a:solidFill>
                <a:latin typeface="Arial Black" pitchFamily="34" charset="0"/>
              </a:rPr>
              <a:t>				DAY SPAN</a:t>
            </a:r>
          </a:p>
          <a:p>
            <a:pPr>
              <a:buNone/>
            </a:pPr>
            <a:r>
              <a:rPr lang="en-US" sz="7200" b="1" dirty="0">
                <a:solidFill>
                  <a:srgbClr val="FF0000"/>
                </a:solidFill>
              </a:rPr>
              <a:t> </a:t>
            </a:r>
            <a:endParaRPr lang="en-US" sz="7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987048" cy="57270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	 Direction(1 to 5):- Questions :Study the following information carefully and answer the Questions given below. </a:t>
            </a:r>
          </a:p>
          <a:p>
            <a:pPr>
              <a:buNone/>
            </a:pPr>
            <a:r>
              <a:rPr lang="en-US" sz="1800" b="1" dirty="0"/>
              <a:t>	The Director of the Institute has announced that six guest lectures on different areas link Leadership, Decision Making, Quality Circles, Motivation, Assessment Centre and Group Discussion are to be </a:t>
            </a:r>
            <a:r>
              <a:rPr lang="en-US" sz="1800" b="1" dirty="0" err="1"/>
              <a:t>organised</a:t>
            </a:r>
            <a:r>
              <a:rPr lang="en-US" sz="1800" b="1" dirty="0"/>
              <a:t> only one on each day from Monday to Sunday.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Motivation should be </a:t>
            </a:r>
            <a:r>
              <a:rPr lang="en-US" sz="1800" b="1" dirty="0" err="1"/>
              <a:t>organised</a:t>
            </a:r>
            <a:r>
              <a:rPr lang="en-US" sz="1800" b="1" dirty="0"/>
              <a:t> immediately after Assessment Centre.</a:t>
            </a:r>
          </a:p>
          <a:p>
            <a:pPr>
              <a:buNone/>
            </a:pPr>
            <a:r>
              <a:rPr lang="en-US" sz="1800" b="1" dirty="0"/>
              <a:t>ii.	Quality Circle should be </a:t>
            </a:r>
            <a:r>
              <a:rPr lang="en-US" sz="1800" b="1" dirty="0" err="1"/>
              <a:t>organised</a:t>
            </a:r>
            <a:r>
              <a:rPr lang="en-US" sz="1800" b="1" dirty="0"/>
              <a:t> on Wednesday and should not be followed by Group Discussion.</a:t>
            </a:r>
          </a:p>
          <a:p>
            <a:pPr>
              <a:buNone/>
            </a:pPr>
            <a:r>
              <a:rPr lang="en-US" sz="1800" b="1" dirty="0"/>
              <a:t>iii. Decision Making should be </a:t>
            </a:r>
            <a:r>
              <a:rPr lang="en-US" sz="1800" b="1" dirty="0" err="1"/>
              <a:t>organised</a:t>
            </a:r>
            <a:r>
              <a:rPr lang="en-US" sz="1800" b="1" dirty="0"/>
              <a:t> on Friday and there should be a gap of two days between Leadership and Group Discussion.</a:t>
            </a:r>
          </a:p>
          <a:p>
            <a:pPr>
              <a:buNone/>
            </a:pPr>
            <a:r>
              <a:rPr lang="en-US" sz="1800" b="1" dirty="0"/>
              <a:t>iv. One day there will be no lecture (Saturday is not that day), just before that day Group Discussion will be </a:t>
            </a:r>
            <a:r>
              <a:rPr lang="en-US" sz="1800" b="1" dirty="0" err="1"/>
              <a:t>organised</a:t>
            </a:r>
            <a:r>
              <a:rPr lang="en-US" sz="1800" b="1" dirty="0"/>
              <a:t>.</a:t>
            </a:r>
          </a:p>
          <a:p>
            <a:pPr>
              <a:buNone/>
            </a:pPr>
            <a:r>
              <a:rPr lang="en-US" sz="1800" dirty="0"/>
              <a:t> </a:t>
            </a:r>
            <a:endParaRPr lang="en-US"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1. </a:t>
            </a:r>
            <a:r>
              <a:rPr lang="en-US" b="1" dirty="0"/>
              <a:t>Which of the pairs of lectures were </a:t>
            </a:r>
            <a:r>
              <a:rPr lang="en-US" b="1" dirty="0" err="1"/>
              <a:t>organised</a:t>
            </a:r>
            <a:r>
              <a:rPr lang="en-US" b="1" dirty="0"/>
              <a:t> on first and last day?</a:t>
            </a:r>
          </a:p>
          <a:p>
            <a:pPr marL="457200" indent="-457200">
              <a:buNone/>
            </a:pPr>
            <a:r>
              <a:rPr lang="en-US" b="1" dirty="0"/>
              <a:t>A. Quality Circle &amp; Motivation       		B. Group Discussion &amp; Quality Circle       </a:t>
            </a:r>
          </a:p>
          <a:p>
            <a:pPr marL="457200" indent="-457200">
              <a:buNone/>
            </a:pPr>
            <a:r>
              <a:rPr lang="en-US" b="1" dirty="0"/>
              <a:t>C. Group Discussion &amp; Decision Making       	D. Leadership &amp; Assessment Centre       </a:t>
            </a:r>
          </a:p>
          <a:p>
            <a:pPr marL="457200" indent="-457200">
              <a:buNone/>
            </a:pPr>
            <a:r>
              <a:rPr lang="en-US" b="1" dirty="0"/>
              <a:t>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2. </a:t>
            </a:r>
            <a:r>
              <a:rPr lang="en-US" b="1" dirty="0"/>
              <a:t>How many lectures are </a:t>
            </a:r>
            <a:r>
              <a:rPr lang="en-US" b="1" dirty="0" err="1"/>
              <a:t>organised</a:t>
            </a:r>
            <a:r>
              <a:rPr lang="en-US" b="1" dirty="0"/>
              <a:t> between Motivation and Quality Circle?</a:t>
            </a:r>
          </a:p>
          <a:p>
            <a:pPr>
              <a:buNone/>
            </a:pPr>
            <a:r>
              <a:rPr lang="en-US" b="1" dirty="0"/>
              <a:t>A. One       	B. Two       	</a:t>
            </a:r>
            <a:r>
              <a:rPr lang="en-US" b="1" dirty="0" err="1"/>
              <a:t>C.Three</a:t>
            </a:r>
            <a:r>
              <a:rPr lang="en-US" b="1" dirty="0"/>
              <a:t>       	</a:t>
            </a:r>
            <a:r>
              <a:rPr lang="en-US" b="1" dirty="0" err="1"/>
              <a:t>D.Four</a:t>
            </a:r>
            <a:r>
              <a:rPr lang="en-US" b="1" dirty="0"/>
              <a:t>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3. </a:t>
            </a:r>
            <a:r>
              <a:rPr lang="en-US" b="1" dirty="0"/>
              <a:t>Which day will the lecture on Leadership be </a:t>
            </a:r>
            <a:r>
              <a:rPr lang="en-US" b="1" dirty="0" err="1"/>
              <a:t>organised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/>
              <a:t>A. Tuesday       B. Wednesday    C. Friday       	D. Saturday      	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4. </a:t>
            </a:r>
            <a:r>
              <a:rPr lang="en-US" b="1" dirty="0"/>
              <a:t>On which day there is no lecture?</a:t>
            </a:r>
          </a:p>
          <a:p>
            <a:pPr>
              <a:buNone/>
            </a:pPr>
            <a:r>
              <a:rPr lang="en-US" b="1" dirty="0"/>
              <a:t>A. Sunday       B. Monday            C. Tuesday       	D. Wednesday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5. </a:t>
            </a:r>
            <a:r>
              <a:rPr lang="en-US" b="1" dirty="0"/>
              <a:t>Which of the following information is not required for the above lecture arrangements?</a:t>
            </a:r>
          </a:p>
          <a:p>
            <a:pPr>
              <a:buNone/>
            </a:pPr>
            <a:r>
              <a:rPr lang="en-US" b="1" dirty="0"/>
              <a:t>A. Only 1         B. Only 2              </a:t>
            </a:r>
            <a:r>
              <a:rPr lang="en-US" b="1" dirty="0" err="1"/>
              <a:t>C.Only</a:t>
            </a:r>
            <a:r>
              <a:rPr lang="en-US" b="1" dirty="0"/>
              <a:t> 3       		</a:t>
            </a:r>
            <a:r>
              <a:rPr lang="en-US" b="1" dirty="0" err="1"/>
              <a:t>D.Only</a:t>
            </a:r>
            <a:r>
              <a:rPr lang="en-US" b="1" dirty="0"/>
              <a:t> </a:t>
            </a:r>
            <a:r>
              <a:rPr lang="en-US" dirty="0"/>
              <a:t>4       	</a:t>
            </a:r>
            <a:r>
              <a:rPr lang="en-US" b="1" dirty="0"/>
              <a:t>E. All are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1. </a:t>
            </a:r>
            <a:r>
              <a:rPr lang="en-US" b="1" dirty="0"/>
              <a:t>Which of the pairs of lectures were </a:t>
            </a:r>
            <a:r>
              <a:rPr lang="en-US" b="1" dirty="0" err="1"/>
              <a:t>organised</a:t>
            </a:r>
            <a:r>
              <a:rPr lang="en-US" b="1" dirty="0"/>
              <a:t> on first and last day?</a:t>
            </a:r>
          </a:p>
          <a:p>
            <a:pPr marL="457200" indent="-457200">
              <a:buNone/>
            </a:pPr>
            <a:r>
              <a:rPr lang="en-US" b="1" dirty="0"/>
              <a:t>A. Quality Circle &amp; Motivation       		B. Group Discussion &amp; Quality Circle       </a:t>
            </a:r>
          </a:p>
          <a:p>
            <a:pPr marL="457200" indent="-457200">
              <a:buNone/>
            </a:pPr>
            <a:r>
              <a:rPr lang="en-US" b="1" dirty="0"/>
              <a:t>C. Group Discussion &amp; Decision Making       	D. Leadership &amp; Assessment Centre       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2. </a:t>
            </a:r>
            <a:r>
              <a:rPr lang="en-US" b="1" dirty="0"/>
              <a:t>How many lectures are </a:t>
            </a:r>
            <a:r>
              <a:rPr lang="en-US" b="1" dirty="0" err="1"/>
              <a:t>organised</a:t>
            </a:r>
            <a:r>
              <a:rPr lang="en-US" b="1" dirty="0"/>
              <a:t> between Motivation and Quality Circle?</a:t>
            </a:r>
          </a:p>
          <a:p>
            <a:pPr>
              <a:buNone/>
            </a:pPr>
            <a:r>
              <a:rPr lang="en-US" b="1" dirty="0"/>
              <a:t>A. One       	B. Two       	</a:t>
            </a:r>
            <a:r>
              <a:rPr lang="en-US" b="1" dirty="0" err="1">
                <a:solidFill>
                  <a:srgbClr val="FF0000"/>
                </a:solidFill>
              </a:rPr>
              <a:t>C.Three</a:t>
            </a:r>
            <a:r>
              <a:rPr lang="en-US" b="1" dirty="0">
                <a:solidFill>
                  <a:srgbClr val="FF0000"/>
                </a:solidFill>
              </a:rPr>
              <a:t>       </a:t>
            </a:r>
            <a:r>
              <a:rPr lang="en-US" b="1" dirty="0"/>
              <a:t>	</a:t>
            </a:r>
            <a:r>
              <a:rPr lang="en-US" b="1" dirty="0" err="1"/>
              <a:t>D.Four</a:t>
            </a:r>
            <a:r>
              <a:rPr lang="en-US" b="1" dirty="0"/>
              <a:t>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3. </a:t>
            </a:r>
            <a:r>
              <a:rPr lang="en-US" b="1" dirty="0"/>
              <a:t>Which day will the lecture on Leadership be </a:t>
            </a:r>
            <a:r>
              <a:rPr lang="en-US" b="1" dirty="0" err="1"/>
              <a:t>organised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/>
              <a:t>A. Tuesday       B. Wednesday    C. Friday       	D. Saturday      	 </a:t>
            </a:r>
            <a:r>
              <a:rPr lang="en-US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4. </a:t>
            </a:r>
            <a:r>
              <a:rPr lang="en-US" b="1" dirty="0"/>
              <a:t>On which day there is no lecture?</a:t>
            </a:r>
          </a:p>
          <a:p>
            <a:pPr>
              <a:buNone/>
            </a:pPr>
            <a:r>
              <a:rPr lang="en-US" b="1" dirty="0"/>
              <a:t>A. Sunday       B. Monday            </a:t>
            </a:r>
            <a:r>
              <a:rPr lang="en-US" b="1" dirty="0">
                <a:solidFill>
                  <a:srgbClr val="FF0000"/>
                </a:solidFill>
              </a:rPr>
              <a:t>C. Tuesday       </a:t>
            </a:r>
            <a:r>
              <a:rPr lang="en-US" b="1" dirty="0"/>
              <a:t>	D. Wednesday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5. </a:t>
            </a:r>
            <a:r>
              <a:rPr lang="en-US" b="1" dirty="0"/>
              <a:t>Which of the following information is not required for the above lecture arrangements?</a:t>
            </a:r>
          </a:p>
          <a:p>
            <a:pPr>
              <a:buNone/>
            </a:pPr>
            <a:r>
              <a:rPr lang="en-US" b="1" dirty="0"/>
              <a:t>A. Only 1         B. Only 2              </a:t>
            </a:r>
            <a:r>
              <a:rPr lang="en-US" b="1" dirty="0" err="1"/>
              <a:t>C.Only</a:t>
            </a:r>
            <a:r>
              <a:rPr lang="en-US" b="1" dirty="0"/>
              <a:t> 3       		</a:t>
            </a:r>
            <a:r>
              <a:rPr lang="en-US" b="1" dirty="0" err="1"/>
              <a:t>D.Only</a:t>
            </a:r>
            <a:r>
              <a:rPr lang="en-US" b="1" dirty="0"/>
              <a:t> </a:t>
            </a:r>
            <a:r>
              <a:rPr lang="en-US" dirty="0"/>
              <a:t>4       	</a:t>
            </a:r>
            <a:r>
              <a:rPr lang="en-US" b="1" dirty="0">
                <a:solidFill>
                  <a:srgbClr val="FF0000"/>
                </a:solidFill>
              </a:rPr>
              <a:t>E. All are required</a:t>
            </a:r>
          </a:p>
        </p:txBody>
      </p:sp>
    </p:spTree>
    <p:extLst>
      <p:ext uri="{BB962C8B-B14F-4D97-AF65-F5344CB8AC3E}">
        <p14:creationId xmlns:p14="http://schemas.microsoft.com/office/powerpoint/2010/main" val="406699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Questions (6 to 10):Study the following information carefully and answer the Questions given below. </a:t>
            </a:r>
          </a:p>
          <a:p>
            <a:pPr>
              <a:buNone/>
            </a:pPr>
            <a:r>
              <a:rPr lang="en-US" sz="1800" b="1" dirty="0"/>
              <a:t>A training college has to conduct a refresher course for teachers of seven different subjects -- Mechanics, Psychology, Philosophy, Sociology, Economics, Science and Engineering from 22nd July to 29th July.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Course should start with Psychology.</a:t>
            </a:r>
          </a:p>
          <a:p>
            <a:pPr>
              <a:buNone/>
            </a:pPr>
            <a:r>
              <a:rPr lang="en-US" sz="1800" b="1" dirty="0"/>
              <a:t>ii.	23rd July, being Sunday, should be holiday.</a:t>
            </a:r>
          </a:p>
          <a:p>
            <a:pPr>
              <a:buNone/>
            </a:pPr>
            <a:r>
              <a:rPr lang="en-US" sz="1800" b="1" dirty="0"/>
              <a:t>iii. Science subject should be on the previous day of the Engineering subjects.</a:t>
            </a:r>
          </a:p>
          <a:p>
            <a:pPr>
              <a:buNone/>
            </a:pPr>
            <a:r>
              <a:rPr lang="en-US" sz="1800" b="1" dirty="0"/>
              <a:t>iv. Course should end with Mechanics subject.</a:t>
            </a:r>
          </a:p>
          <a:p>
            <a:pPr>
              <a:buNone/>
            </a:pPr>
            <a:r>
              <a:rPr lang="en-US" sz="1800" b="1" dirty="0"/>
              <a:t>v.	Philosophy should be immediately after the holiday.</a:t>
            </a:r>
          </a:p>
          <a:p>
            <a:pPr>
              <a:buNone/>
            </a:pPr>
            <a:r>
              <a:rPr lang="en-US" sz="1800" b="1" dirty="0"/>
              <a:t>vi. There should be a gap of two day between Economics and Engineering.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6.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refresher course will start with which one of the following subjects?</a:t>
            </a:r>
          </a:p>
          <a:p>
            <a:pPr marL="457200" indent="-457200">
              <a:buNone/>
            </a:pPr>
            <a:r>
              <a:rPr lang="en-US" b="1" dirty="0"/>
              <a:t>A. Psychology       	B. Mechanics	    C. Philosophy       D. Economics       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7. </a:t>
            </a:r>
            <a:r>
              <a:rPr lang="en-US" b="1" dirty="0"/>
              <a:t>Which subject will be on Tuesday?</a:t>
            </a:r>
          </a:p>
          <a:p>
            <a:pPr>
              <a:buNone/>
            </a:pPr>
            <a:r>
              <a:rPr lang="en-US" b="1" dirty="0"/>
              <a:t>A. Mechanics	B. Engineering       C. Economics       D. Psychology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8. </a:t>
            </a:r>
            <a:r>
              <a:rPr lang="en-US" b="1" dirty="0"/>
              <a:t>Which subject precedes Mechanics?</a:t>
            </a:r>
          </a:p>
          <a:p>
            <a:pPr>
              <a:buNone/>
            </a:pPr>
            <a:r>
              <a:rPr lang="en-US" b="1" dirty="0"/>
              <a:t>A. Economics   B. </a:t>
            </a:r>
            <a:r>
              <a:rPr lang="en-US" sz="2400" b="1" dirty="0"/>
              <a:t>Sociology</a:t>
            </a:r>
            <a:r>
              <a:rPr lang="en-US" b="1" dirty="0"/>
              <a:t>       C. Philosophy       D. Psychology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9. </a:t>
            </a:r>
            <a:r>
              <a:rPr lang="en-US" b="1" dirty="0"/>
              <a:t>How many days' gap is there between Science and Philosophy?</a:t>
            </a:r>
          </a:p>
          <a:p>
            <a:pPr>
              <a:buNone/>
            </a:pPr>
            <a:r>
              <a:rPr lang="en-US" b="1" dirty="0"/>
              <a:t>A. One       	B. Two       	     C. Three       	         D. No gap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10. </a:t>
            </a:r>
            <a:r>
              <a:rPr lang="en-US" b="1" dirty="0"/>
              <a:t>Which subject is followed by Science?</a:t>
            </a:r>
          </a:p>
          <a:p>
            <a:pPr>
              <a:buNone/>
            </a:pPr>
            <a:r>
              <a:rPr lang="en-US" b="1" dirty="0"/>
              <a:t>A. Engineering       B. Psychology       C. Philosophy       D. Economics       E. None of these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6.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refresher course will start with which one of the following subjects?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A. Psychology       </a:t>
            </a:r>
            <a:r>
              <a:rPr lang="en-US" b="1" dirty="0"/>
              <a:t>	B. Mechanics	    C. Philosophy       D. Economics       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7. </a:t>
            </a:r>
            <a:r>
              <a:rPr lang="en-US" b="1" dirty="0"/>
              <a:t>Which subject will be on Tuesday?</a:t>
            </a:r>
          </a:p>
          <a:p>
            <a:pPr>
              <a:buNone/>
            </a:pPr>
            <a:r>
              <a:rPr lang="en-US" b="1" dirty="0"/>
              <a:t>A. Mechanics	B. Engineering       </a:t>
            </a:r>
            <a:r>
              <a:rPr lang="en-US" b="1" dirty="0">
                <a:solidFill>
                  <a:srgbClr val="FF0000"/>
                </a:solidFill>
              </a:rPr>
              <a:t>C. Economics       </a:t>
            </a:r>
            <a:r>
              <a:rPr lang="en-US" b="1" dirty="0"/>
              <a:t>D. Psychology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8. </a:t>
            </a:r>
            <a:r>
              <a:rPr lang="en-US" b="1" dirty="0"/>
              <a:t>Which subject precedes Mechanics?</a:t>
            </a:r>
          </a:p>
          <a:p>
            <a:pPr>
              <a:buNone/>
            </a:pPr>
            <a:r>
              <a:rPr lang="en-US" b="1" dirty="0"/>
              <a:t>A. Economics   B. </a:t>
            </a:r>
            <a:r>
              <a:rPr lang="en-US" sz="2400" b="1" dirty="0"/>
              <a:t>Sociology</a:t>
            </a:r>
            <a:r>
              <a:rPr lang="en-US" b="1" dirty="0"/>
              <a:t>       C. Philosophy       D. Psychology      </a:t>
            </a:r>
            <a:r>
              <a:rPr lang="en-US" b="1" dirty="0">
                <a:solidFill>
                  <a:srgbClr val="FF0000"/>
                </a:solidFill>
              </a:rPr>
              <a:t> E. None of these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9. </a:t>
            </a:r>
            <a:r>
              <a:rPr lang="en-US" b="1" dirty="0"/>
              <a:t>How many days' gap is there between Science and Philosophy?</a:t>
            </a:r>
          </a:p>
          <a:p>
            <a:pPr>
              <a:buNone/>
            </a:pPr>
            <a:r>
              <a:rPr lang="en-US" b="1" dirty="0"/>
              <a:t>A. One       	</a:t>
            </a:r>
            <a:r>
              <a:rPr lang="en-US" b="1" dirty="0">
                <a:solidFill>
                  <a:srgbClr val="FF0000"/>
                </a:solidFill>
              </a:rPr>
              <a:t>B. Two</a:t>
            </a:r>
            <a:r>
              <a:rPr lang="en-US" b="1" dirty="0"/>
              <a:t>       	     C. Three       	         D. No gap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10. </a:t>
            </a:r>
            <a:r>
              <a:rPr lang="en-US" b="1" dirty="0"/>
              <a:t>Which subject is followed by Science?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A. Engineering </a:t>
            </a:r>
            <a:r>
              <a:rPr lang="en-US" b="1" dirty="0"/>
              <a:t>      B. Psychology       C. Philosophy       D. Economics       E. None of these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510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Direction(11 to 15):- Study the following information carefully and answer the Questions given below.</a:t>
            </a:r>
          </a:p>
          <a:p>
            <a:pPr>
              <a:buNone/>
            </a:pPr>
            <a:r>
              <a:rPr lang="en-US" sz="1800" b="1" dirty="0"/>
              <a:t>Seven specialist doctors B, M, K, P, D, F and H visit a polyclinic on four days – Tuesday, Wednesday, Friday and Saturday – in a week. At least one doctor but not more than two doctors visit the polyclinic on each of these days. Each of them is a specialist in different </a:t>
            </a:r>
            <a:r>
              <a:rPr lang="en-US" sz="1800" b="1" dirty="0" err="1"/>
              <a:t>ﬁelds</a:t>
            </a:r>
            <a:r>
              <a:rPr lang="en-US" sz="1800" b="1" dirty="0"/>
              <a:t> – ENT, </a:t>
            </a:r>
            <a:r>
              <a:rPr lang="en-US" sz="1800" b="1" dirty="0" err="1"/>
              <a:t>Orthopaedics</a:t>
            </a:r>
            <a:r>
              <a:rPr lang="en-US" sz="1800" b="1" dirty="0"/>
              <a:t>, </a:t>
            </a:r>
            <a:r>
              <a:rPr lang="en-US" sz="1800" b="1" dirty="0" err="1"/>
              <a:t>Paediatrics</a:t>
            </a:r>
            <a:r>
              <a:rPr lang="en-US" sz="1800" b="1" dirty="0"/>
              <a:t>, Neurology, Ophthalmology, Radiology and Oncology. 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P visits on Friday with Radiologist. </a:t>
            </a:r>
          </a:p>
          <a:p>
            <a:pPr>
              <a:buNone/>
            </a:pPr>
            <a:r>
              <a:rPr lang="en-US" sz="1800" b="1" dirty="0"/>
              <a:t>ii.	The </a:t>
            </a:r>
            <a:r>
              <a:rPr lang="en-US" sz="1800" b="1" dirty="0" err="1"/>
              <a:t>Paediatrician</a:t>
            </a:r>
            <a:r>
              <a:rPr lang="en-US" sz="1800" b="1" dirty="0"/>
              <a:t> does not visit on Saturday nor with D and H. </a:t>
            </a:r>
          </a:p>
          <a:p>
            <a:pPr>
              <a:buNone/>
            </a:pPr>
            <a:r>
              <a:rPr lang="en-US" sz="1800" b="1" dirty="0"/>
              <a:t>iii. The Oncologist F visits alone on Tuesday. </a:t>
            </a:r>
          </a:p>
          <a:p>
            <a:pPr>
              <a:buNone/>
            </a:pPr>
            <a:r>
              <a:rPr lang="en-US" sz="1800" b="1" dirty="0"/>
              <a:t>iv. M Visits on Wednesday and he is not </a:t>
            </a:r>
            <a:r>
              <a:rPr lang="en-US" sz="1800" b="1" dirty="0" err="1"/>
              <a:t>Paediatrician</a:t>
            </a:r>
            <a:r>
              <a:rPr lang="en-US" sz="1800" b="1" dirty="0"/>
              <a:t>. </a:t>
            </a:r>
          </a:p>
          <a:p>
            <a:pPr>
              <a:buNone/>
            </a:pPr>
            <a:r>
              <a:rPr lang="en-US" sz="1800" b="1" dirty="0"/>
              <a:t>v.	K visits on Wednesday. H is not Radiologist. </a:t>
            </a:r>
          </a:p>
          <a:p>
            <a:pPr>
              <a:buNone/>
            </a:pPr>
            <a:r>
              <a:rPr lang="en-US" sz="1800" b="1" dirty="0"/>
              <a:t>vi. The </a:t>
            </a:r>
            <a:r>
              <a:rPr lang="en-US" sz="1800" b="1" dirty="0" err="1"/>
              <a:t>Paediatrician</a:t>
            </a:r>
            <a:r>
              <a:rPr lang="en-US" sz="1800" b="1" dirty="0"/>
              <a:t> visits with the ENT specialist. </a:t>
            </a:r>
          </a:p>
          <a:p>
            <a:pPr>
              <a:buNone/>
            </a:pPr>
            <a:r>
              <a:rPr lang="en-US" sz="1800" b="1" dirty="0"/>
              <a:t>vii. The Neurologist visits on Friday. </a:t>
            </a:r>
          </a:p>
          <a:p>
            <a:pPr>
              <a:buNone/>
            </a:pPr>
            <a:r>
              <a:rPr lang="en-US" sz="1800" b="1" dirty="0"/>
              <a:t>viii. B is neither </a:t>
            </a:r>
            <a:r>
              <a:rPr lang="en-US" sz="1800" b="1" dirty="0" err="1"/>
              <a:t>Orthopaedicianor</a:t>
            </a:r>
            <a:r>
              <a:rPr lang="en-US" sz="1800" b="1" dirty="0"/>
              <a:t> Radiologist </a:t>
            </a:r>
          </a:p>
          <a:p>
            <a:pPr>
              <a:buNone/>
            </a:pPr>
            <a:r>
              <a:rPr lang="en-US" sz="1800" b="1" dirty="0"/>
              <a:t> 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733048" cy="5786979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2900" b="1" dirty="0"/>
              <a:t>Q 11. What is the </a:t>
            </a:r>
            <a:r>
              <a:rPr lang="en-US" sz="2900" b="1" dirty="0" err="1"/>
              <a:t>speciality</a:t>
            </a:r>
            <a:r>
              <a:rPr lang="en-US" sz="2900" b="1" dirty="0"/>
              <a:t> of B? </a:t>
            </a:r>
          </a:p>
          <a:p>
            <a:pPr>
              <a:buNone/>
            </a:pPr>
            <a:r>
              <a:rPr lang="en-US" sz="2900" b="1" dirty="0"/>
              <a:t>A. </a:t>
            </a:r>
            <a:r>
              <a:rPr lang="en-US" sz="3200" b="1" dirty="0"/>
              <a:t>Radiology </a:t>
            </a:r>
            <a:r>
              <a:rPr lang="en-US" sz="2900" b="1" dirty="0"/>
              <a:t>	               B.ENT		C. </a:t>
            </a:r>
            <a:r>
              <a:rPr lang="en-US" sz="2900" b="1" dirty="0" err="1"/>
              <a:t>Paediatrics</a:t>
            </a:r>
            <a:r>
              <a:rPr lang="en-US" sz="2900" b="1" dirty="0"/>
              <a:t>		D. Data inadequate	</a:t>
            </a:r>
          </a:p>
          <a:p>
            <a:pPr>
              <a:buNone/>
            </a:pPr>
            <a:r>
              <a:rPr lang="en-US" sz="2900" b="1" dirty="0"/>
              <a:t>E. None of these</a:t>
            </a:r>
          </a:p>
          <a:p>
            <a:pPr>
              <a:buNone/>
            </a:pPr>
            <a:endParaRPr lang="en-US" sz="2900" b="1" dirty="0"/>
          </a:p>
          <a:p>
            <a:pPr>
              <a:buNone/>
            </a:pPr>
            <a:r>
              <a:rPr lang="en-US" sz="2900" b="1" dirty="0"/>
              <a:t>Q 12. On which day of the week does D visit?</a:t>
            </a:r>
          </a:p>
          <a:p>
            <a:pPr>
              <a:buNone/>
            </a:pPr>
            <a:r>
              <a:rPr lang="en-US" sz="2900" b="1" dirty="0"/>
              <a:t>A. Wednesday	B. Saturday	C. Wednesday or Saturday	D. Friday		E. None of these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13. Who among them visits the polyclinic along with B? </a:t>
            </a:r>
          </a:p>
          <a:p>
            <a:pPr>
              <a:buNone/>
            </a:pPr>
            <a:r>
              <a:rPr lang="en-US" sz="2900" b="1" dirty="0"/>
              <a:t>A.	None 		B. H 		C. D 			</a:t>
            </a:r>
            <a:r>
              <a:rPr lang="en-US" sz="2900" b="1" dirty="0" err="1"/>
              <a:t>D</a:t>
            </a:r>
            <a:r>
              <a:rPr lang="en-US" sz="2900" b="1" dirty="0"/>
              <a:t>. P 		E. Either H or P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14. On which of the following days do the specialists in </a:t>
            </a:r>
            <a:r>
              <a:rPr lang="en-US" sz="2900" b="1" dirty="0" err="1"/>
              <a:t>Orthopaedics</a:t>
            </a:r>
            <a:r>
              <a:rPr lang="en-US" sz="2900" b="1" dirty="0"/>
              <a:t> and Ophthalmology visit?</a:t>
            </a:r>
          </a:p>
          <a:p>
            <a:pPr marL="457200" indent="-457200">
              <a:buAutoNum type="alphaUcPeriod"/>
            </a:pPr>
            <a:r>
              <a:rPr lang="en-US" sz="2900" b="1" dirty="0"/>
              <a:t>Wednesday	B. Friday		C. Saturday	D. Data inadequate		</a:t>
            </a:r>
          </a:p>
          <a:p>
            <a:pPr marL="0" indent="0">
              <a:buNone/>
            </a:pPr>
            <a:r>
              <a:rPr lang="en-US" sz="2900" b="1" dirty="0" err="1"/>
              <a:t>E.None</a:t>
            </a:r>
            <a:r>
              <a:rPr lang="en-US" sz="2900" b="1" dirty="0"/>
              <a:t> of these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15. What is P’s profession?</a:t>
            </a:r>
          </a:p>
          <a:p>
            <a:pPr>
              <a:buNone/>
            </a:pPr>
            <a:r>
              <a:rPr lang="en-US" sz="2900" b="1" dirty="0"/>
              <a:t>A. </a:t>
            </a:r>
            <a:r>
              <a:rPr lang="en-US" sz="2900" b="1" dirty="0" err="1"/>
              <a:t>Paediatrics</a:t>
            </a:r>
            <a:r>
              <a:rPr lang="en-US" sz="2900" b="1" dirty="0"/>
              <a:t>	B.ENT		C. Ophthalmologist		D. Data inadequate</a:t>
            </a:r>
          </a:p>
          <a:p>
            <a:pPr>
              <a:buNone/>
            </a:pPr>
            <a:r>
              <a:rPr lang="en-US" sz="2900" b="1" dirty="0"/>
              <a:t>E.  None of these</a:t>
            </a:r>
          </a:p>
          <a:p>
            <a:pPr>
              <a:buNone/>
            </a:pPr>
            <a:r>
              <a:rPr lang="en-US" sz="2900" b="1" dirty="0"/>
              <a:t>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3300" b="1" dirty="0"/>
              <a:t>Q 11. What is the </a:t>
            </a:r>
            <a:r>
              <a:rPr lang="en-US" sz="3300" b="1" dirty="0" err="1"/>
              <a:t>speciality</a:t>
            </a:r>
            <a:r>
              <a:rPr lang="en-US" sz="3300" b="1" dirty="0"/>
              <a:t> of B? </a:t>
            </a:r>
          </a:p>
          <a:p>
            <a:pPr>
              <a:buNone/>
            </a:pPr>
            <a:r>
              <a:rPr lang="en-US" sz="3300" b="1" dirty="0"/>
              <a:t>A. </a:t>
            </a:r>
            <a:r>
              <a:rPr lang="en-US" sz="3600" b="1" dirty="0"/>
              <a:t>Radiology </a:t>
            </a:r>
            <a:r>
              <a:rPr lang="en-US" sz="3300" b="1" dirty="0"/>
              <a:t>	     B. ENT		C. </a:t>
            </a:r>
            <a:r>
              <a:rPr lang="en-US" sz="3300" b="1" dirty="0" err="1"/>
              <a:t>Paediatrics</a:t>
            </a:r>
            <a:r>
              <a:rPr lang="en-US" sz="3300" b="1" dirty="0"/>
              <a:t>		D. Data inadequate	</a:t>
            </a:r>
          </a:p>
          <a:p>
            <a:pPr>
              <a:buNone/>
            </a:pPr>
            <a:r>
              <a:rPr lang="en-US" sz="3300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endParaRPr lang="en-US" sz="3300" b="1" dirty="0"/>
          </a:p>
          <a:p>
            <a:pPr>
              <a:buNone/>
            </a:pPr>
            <a:r>
              <a:rPr lang="en-US" sz="3300" b="1" dirty="0"/>
              <a:t>Q 12. On which day of the week does D visit?</a:t>
            </a:r>
          </a:p>
          <a:p>
            <a:pPr>
              <a:buNone/>
            </a:pPr>
            <a:r>
              <a:rPr lang="en-US" sz="3300" b="1" dirty="0"/>
              <a:t>A. Wednesday	B. Saturday	C. Wednesday or Saturday	           </a:t>
            </a:r>
            <a:r>
              <a:rPr lang="en-US" sz="3300" b="1" dirty="0">
                <a:solidFill>
                  <a:srgbClr val="FF0000"/>
                </a:solidFill>
              </a:rPr>
              <a:t>D. Friday</a:t>
            </a:r>
            <a:r>
              <a:rPr lang="en-US" sz="3300" b="1" dirty="0"/>
              <a:t>		E. None of these</a:t>
            </a:r>
          </a:p>
          <a:p>
            <a:pPr>
              <a:buNone/>
            </a:pPr>
            <a:r>
              <a:rPr lang="en-US" sz="3300" b="1" dirty="0"/>
              <a:t> </a:t>
            </a:r>
          </a:p>
          <a:p>
            <a:pPr>
              <a:buNone/>
            </a:pPr>
            <a:r>
              <a:rPr lang="en-US" sz="3300" b="1" dirty="0"/>
              <a:t>Q 13. Who among them visits the polyclinic along with B? </a:t>
            </a:r>
          </a:p>
          <a:p>
            <a:pPr>
              <a:buNone/>
            </a:pPr>
            <a:r>
              <a:rPr lang="en-US" sz="3300" b="1" dirty="0"/>
              <a:t>A.	None 		</a:t>
            </a:r>
            <a:r>
              <a:rPr lang="en-US" sz="3300" b="1" dirty="0">
                <a:solidFill>
                  <a:srgbClr val="FF0000"/>
                </a:solidFill>
              </a:rPr>
              <a:t>B. H </a:t>
            </a:r>
            <a:r>
              <a:rPr lang="en-US" sz="3300" b="1" dirty="0"/>
              <a:t>		C. D 			</a:t>
            </a:r>
            <a:r>
              <a:rPr lang="en-US" sz="3300" b="1" dirty="0" err="1"/>
              <a:t>D</a:t>
            </a:r>
            <a:r>
              <a:rPr lang="en-US" sz="3300" b="1" dirty="0"/>
              <a:t>. P 		E. Either H or P</a:t>
            </a:r>
          </a:p>
          <a:p>
            <a:pPr>
              <a:buNone/>
            </a:pPr>
            <a:r>
              <a:rPr lang="en-US" sz="3300" b="1" dirty="0"/>
              <a:t> </a:t>
            </a:r>
          </a:p>
          <a:p>
            <a:pPr>
              <a:buNone/>
            </a:pPr>
            <a:r>
              <a:rPr lang="en-US" sz="3300" b="1" dirty="0"/>
              <a:t>Q 14. On which of the following days do the specialists in </a:t>
            </a:r>
            <a:r>
              <a:rPr lang="en-US" sz="3300" b="1" dirty="0" err="1"/>
              <a:t>Orthopaedics</a:t>
            </a:r>
            <a:r>
              <a:rPr lang="en-US" sz="3300" b="1" dirty="0"/>
              <a:t> and Ophthalmology visit?</a:t>
            </a:r>
          </a:p>
          <a:p>
            <a:pPr marL="457200" indent="-457200">
              <a:buAutoNum type="alphaUcPeriod"/>
            </a:pPr>
            <a:r>
              <a:rPr lang="en-US" sz="3300" b="1" dirty="0"/>
              <a:t>Wednesday	B. Friday		</a:t>
            </a:r>
            <a:r>
              <a:rPr lang="en-US" sz="3300" b="1" dirty="0">
                <a:solidFill>
                  <a:srgbClr val="FF0000"/>
                </a:solidFill>
              </a:rPr>
              <a:t>C. Saturday</a:t>
            </a:r>
            <a:r>
              <a:rPr lang="en-US" sz="3300" b="1" dirty="0"/>
              <a:t>	D. Data inadequate		</a:t>
            </a:r>
          </a:p>
          <a:p>
            <a:pPr marL="0" indent="0">
              <a:buNone/>
            </a:pPr>
            <a:r>
              <a:rPr lang="en-US" sz="3300" b="1" dirty="0"/>
              <a:t>E. None of these</a:t>
            </a:r>
          </a:p>
          <a:p>
            <a:pPr>
              <a:buNone/>
            </a:pPr>
            <a:r>
              <a:rPr lang="en-US" sz="3300" b="1" dirty="0"/>
              <a:t> </a:t>
            </a:r>
          </a:p>
          <a:p>
            <a:pPr>
              <a:buNone/>
            </a:pPr>
            <a:r>
              <a:rPr lang="en-US" sz="3300" b="1" dirty="0"/>
              <a:t>Q 15. What is P’s profession?</a:t>
            </a:r>
          </a:p>
          <a:p>
            <a:pPr>
              <a:buNone/>
            </a:pPr>
            <a:r>
              <a:rPr lang="en-US" sz="3300" b="1" dirty="0"/>
              <a:t>A. </a:t>
            </a:r>
            <a:r>
              <a:rPr lang="en-US" sz="3300" b="1" dirty="0" err="1"/>
              <a:t>Paediatrics</a:t>
            </a:r>
            <a:r>
              <a:rPr lang="en-US" sz="3300" b="1" dirty="0"/>
              <a:t>	B. ENT		C. Ophthalmologist		D. Data inadequate</a:t>
            </a:r>
          </a:p>
          <a:p>
            <a:pPr>
              <a:buNone/>
            </a:pPr>
            <a:r>
              <a:rPr lang="en-US" sz="3300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90473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76" y="2944696"/>
            <a:ext cx="11987048" cy="534451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8800" b="1" dirty="0">
                <a:solidFill>
                  <a:srgbClr val="FF0000"/>
                </a:solidFill>
                <a:latin typeface="Arial Black" pitchFamily="34" charset="0"/>
              </a:rPr>
              <a:t>THANK YOU</a:t>
            </a:r>
            <a:endParaRPr lang="en-US" sz="7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05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1215</TotalTime>
  <Words>1605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Suresh Sanwak</cp:lastModifiedBy>
  <cp:revision>195</cp:revision>
  <dcterms:created xsi:type="dcterms:W3CDTF">2020-02-23T06:37:57Z</dcterms:created>
  <dcterms:modified xsi:type="dcterms:W3CDTF">2024-12-13T04:47:13Z</dcterms:modified>
</cp:coreProperties>
</file>